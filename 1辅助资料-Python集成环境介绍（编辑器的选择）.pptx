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8" r:id="rId3"/>
    <p:sldId id="266" r:id="rId4"/>
    <p:sldId id="261" r:id="rId5"/>
    <p:sldId id="262" r:id="rId6"/>
    <p:sldId id="263" r:id="rId7"/>
    <p:sldId id="257" r:id="rId8"/>
    <p:sldId id="258" r:id="rId9"/>
    <p:sldId id="259" r:id="rId10"/>
    <p:sldId id="265" r:id="rId11"/>
    <p:sldId id="269" r:id="rId12"/>
    <p:sldId id="260" r:id="rId13"/>
    <p:sldId id="270" r:id="rId14"/>
    <p:sldId id="271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7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521-204C-4533-866B-F483B4C2C9A0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4FBE-4535-49DE-9701-C956E6649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521-204C-4533-866B-F483B4C2C9A0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4FBE-4535-49DE-9701-C956E6649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521-204C-4533-866B-F483B4C2C9A0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4FBE-4535-49DE-9701-C956E6649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521-204C-4533-866B-F483B4C2C9A0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4FBE-4535-49DE-9701-C956E6649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521-204C-4533-866B-F483B4C2C9A0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4FBE-4535-49DE-9701-C956E6649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521-204C-4533-866B-F483B4C2C9A0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4FBE-4535-49DE-9701-C956E6649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521-204C-4533-866B-F483B4C2C9A0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4FBE-4535-49DE-9701-C956E6649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521-204C-4533-866B-F483B4C2C9A0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4FBE-4535-49DE-9701-C956E6649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单圆角矩形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直角三角形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521-204C-4533-866B-F483B4C2C9A0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A724FBE-4535-49DE-9701-C956E66491E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 smtClean="0"/>
              <a:t>单击图标添加图片</a:t>
            </a:r>
            <a:endParaRPr kumimoji="0" lang="en-US" dirty="0"/>
          </a:p>
        </p:txBody>
      </p:sp>
      <p:sp>
        <p:nvSpPr>
          <p:cNvPr id="10" name="任意多边形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任意多边形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521-204C-4533-866B-F483B4C2C9A0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4FBE-4535-49DE-9701-C956E6649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090521-204C-4533-866B-F483B4C2C9A0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24FBE-4535-49DE-9701-C956E66491E6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80000"/>
                <a:satMod val="400000"/>
              </a:schemeClr>
            </a:gs>
            <a:gs pos="25000">
              <a:schemeClr val="bg2">
                <a:tint val="83000"/>
                <a:satMod val="320000"/>
              </a:schemeClr>
            </a:gs>
            <a:gs pos="100000">
              <a:schemeClr val="bg2">
                <a:shade val="15000"/>
                <a:satMod val="320000"/>
              </a:schemeClr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D7090521-204C-4533-866B-F483B4C2C9A0}" type="datetimeFigureOut">
              <a:rPr lang="zh-CN" altLang="en-US" smtClean="0"/>
              <a:pPr/>
              <a:t>2020/9/16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A724FBE-4535-49DE-9701-C956E66491E6}" type="slidenum">
              <a:rPr lang="zh-CN" altLang="en-US" smtClean="0"/>
              <a:pPr/>
              <a:t>‹#›</a:t>
            </a:fld>
            <a:endParaRPr lang="zh-CN" altLang="en-US"/>
          </a:p>
        </p:txBody>
      </p:sp>
      <p:grpSp>
        <p:nvGrpSpPr>
          <p:cNvPr id="2" name="组合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任意多边形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任意多边形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uejin.im/entry/5add45df518825673277d344" TargetMode="External"/><Relationship Id="rId2" Type="http://schemas.openxmlformats.org/officeDocument/2006/relationships/hyperlink" Target="https://realpython.com/python-ides-code-editors-guide/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zhihu.com/?target=http://www.sublimetext.com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zhihu.com/?target=https://github.com/spyder-ide/spyder" TargetMode="Externa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.zhihu.com/?target=http://www.pydev.org" TargetMode="External"/><Relationship Id="rId2" Type="http://schemas.openxmlformats.org/officeDocument/2006/relationships/hyperlink" Target="https://link.zhihu.com/?target=http://www.eclipse.org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zhihu.com/?target=https://www.visualstudio.com/vs/" TargetMode="Externa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anaconda.com/products/individual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ilibili.com/video/BV1c4411k7Zf?p=3" TargetMode="Externa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3568" y="2060848"/>
            <a:ext cx="7851648" cy="1828800"/>
          </a:xfrm>
        </p:spPr>
        <p:txBody>
          <a:bodyPr>
            <a:normAutofit/>
          </a:bodyPr>
          <a:lstStyle/>
          <a:p>
            <a:pPr algn="ctr"/>
            <a:r>
              <a:rPr lang="en-US" altLang="zh-CN" sz="6000" dirty="0" smtClean="0"/>
              <a:t>Python</a:t>
            </a:r>
            <a:r>
              <a:rPr lang="zh-CN" altLang="en-US" sz="6000" dirty="0" smtClean="0"/>
              <a:t>程序编程序工具</a:t>
            </a:r>
            <a:r>
              <a:rPr lang="en-US" altLang="zh-CN" sz="6000" dirty="0" smtClean="0"/>
              <a:t/>
            </a:r>
            <a:br>
              <a:rPr lang="en-US" altLang="zh-CN" sz="6000" dirty="0" smtClean="0"/>
            </a:br>
            <a:r>
              <a:rPr lang="zh-CN" altLang="en-US" sz="6000" dirty="0" smtClean="0"/>
              <a:t>介绍</a:t>
            </a:r>
            <a:endParaRPr lang="zh-CN" altLang="en-US" sz="6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学习参考链接：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395536" y="2060848"/>
            <a:ext cx="8208912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 smtClean="0"/>
              <a:t>1</a:t>
            </a:r>
            <a:r>
              <a:rPr lang="zh-CN" altLang="en-US" sz="2400" b="1" dirty="0" smtClean="0"/>
              <a:t>、</a:t>
            </a:r>
            <a:r>
              <a:rPr lang="en-US" altLang="zh-CN" sz="2400" b="1" dirty="0" smtClean="0"/>
              <a:t>Python </a:t>
            </a:r>
            <a:r>
              <a:rPr lang="en-US" altLang="zh-CN" sz="2400" b="1" dirty="0"/>
              <a:t>IDEs and Code Editors (Guide</a:t>
            </a:r>
            <a:r>
              <a:rPr lang="en-US" altLang="zh-CN" sz="2400" b="1" dirty="0" smtClean="0"/>
              <a:t>)</a:t>
            </a:r>
            <a:endParaRPr lang="en-US" altLang="zh-CN" sz="2400" dirty="0" smtClean="0">
              <a:hlinkClick r:id="rId2"/>
            </a:endParaRPr>
          </a:p>
          <a:p>
            <a:r>
              <a:rPr lang="en-US" altLang="zh-CN" sz="2400" dirty="0" smtClean="0">
                <a:hlinkClick r:id="rId2"/>
              </a:rPr>
              <a:t>https://realpython.com/python-ides-code-editors-guide/</a:t>
            </a:r>
            <a:endParaRPr lang="en-US" altLang="zh-CN" sz="2400" b="1" dirty="0" smtClean="0"/>
          </a:p>
          <a:p>
            <a:r>
              <a:rPr lang="en-US" altLang="zh-CN" sz="2400" b="1" dirty="0" smtClean="0"/>
              <a:t>2</a:t>
            </a:r>
            <a:r>
              <a:rPr lang="zh-CN" altLang="en-US" sz="2400" b="1" dirty="0" smtClean="0"/>
              <a:t>、</a:t>
            </a:r>
            <a:r>
              <a:rPr lang="en-US" altLang="zh-CN" sz="2400" b="1" dirty="0" smtClean="0"/>
              <a:t>Python</a:t>
            </a:r>
            <a:r>
              <a:rPr lang="zh-CN" altLang="en-US" sz="2400" b="1" dirty="0"/>
              <a:t>的</a:t>
            </a:r>
            <a:r>
              <a:rPr lang="en-US" altLang="zh-CN" sz="2400" b="1" dirty="0"/>
              <a:t>10</a:t>
            </a:r>
            <a:r>
              <a:rPr lang="zh-CN" altLang="en-US" sz="2400" b="1" dirty="0"/>
              <a:t>大集成开发环境和代码编辑器（指南</a:t>
            </a:r>
            <a:r>
              <a:rPr lang="zh-CN" altLang="en-US" sz="2400" b="1" dirty="0" smtClean="0"/>
              <a:t>）</a:t>
            </a:r>
            <a:endParaRPr lang="en-US" altLang="zh-CN" sz="2400" dirty="0" smtClean="0">
              <a:hlinkClick r:id="rId3"/>
            </a:endParaRPr>
          </a:p>
          <a:p>
            <a:r>
              <a:rPr lang="en-US" altLang="zh-CN" sz="2400" dirty="0" smtClean="0">
                <a:hlinkClick r:id="rId3"/>
              </a:rPr>
              <a:t>https://juejin.im/entry/5add45df518825673277d344</a:t>
            </a:r>
            <a:endParaRPr lang="en-US" altLang="zh-CN" sz="2400" dirty="0" smtClean="0"/>
          </a:p>
          <a:p>
            <a:r>
              <a:rPr lang="en-US" altLang="zh-CN" sz="2400" dirty="0" smtClean="0"/>
              <a:t>4</a:t>
            </a:r>
            <a:r>
              <a:rPr lang="zh-CN" altLang="en-US" sz="2400" dirty="0" smtClean="0"/>
              <a:t>、</a:t>
            </a:r>
            <a:r>
              <a:rPr lang="en-US" altLang="zh-CN" sz="2400" dirty="0" err="1" smtClean="0"/>
              <a:t>Python+Anaconda+PyCharm</a:t>
            </a:r>
            <a:r>
              <a:rPr lang="zh-CN" altLang="en-US" sz="2400" dirty="0" smtClean="0"/>
              <a:t>的安装和基本使用</a:t>
            </a:r>
            <a:r>
              <a:rPr lang="en-US" altLang="zh-CN" sz="2400" dirty="0" smtClean="0"/>
              <a:t>【</a:t>
            </a:r>
            <a:r>
              <a:rPr lang="zh-CN" altLang="en-US" sz="2400" dirty="0" smtClean="0"/>
              <a:t>适合完全零基础</a:t>
            </a:r>
            <a:r>
              <a:rPr lang="en-US" altLang="zh-CN" sz="2400" dirty="0" smtClean="0"/>
              <a:t>】</a:t>
            </a:r>
          </a:p>
          <a:p>
            <a:r>
              <a:rPr lang="en-US" altLang="zh-CN" sz="2400" u="sng" dirty="0" smtClean="0"/>
              <a:t>https://www.bilibili.com/video/BV1K7411c7EL/?spm_id_from=333.788.videocard.8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332656"/>
            <a:ext cx="9144000" cy="708688"/>
          </a:xfrm>
        </p:spPr>
        <p:txBody>
          <a:bodyPr>
            <a:normAutofit/>
          </a:bodyPr>
          <a:lstStyle/>
          <a:p>
            <a:r>
              <a:rPr lang="zh-CN" altLang="en-US" sz="4000" dirty="0" smtClean="0"/>
              <a:t>集成开发环境与代码编辑器（文本工具）</a:t>
            </a:r>
            <a:endParaRPr lang="zh-CN" altLang="en-US" sz="4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0" y="1412776"/>
            <a:ext cx="9144000" cy="4389120"/>
          </a:xfrm>
        </p:spPr>
        <p:txBody>
          <a:bodyPr>
            <a:noAutofit/>
          </a:bodyPr>
          <a:lstStyle/>
          <a:p>
            <a:r>
              <a:rPr lang="zh-CN" altLang="en-US" sz="2800" b="1" dirty="0" smtClean="0"/>
              <a:t>集成开发环境</a:t>
            </a:r>
            <a:r>
              <a:rPr lang="zh-CN" altLang="en-US" sz="2800" dirty="0" smtClean="0"/>
              <a:t>（</a:t>
            </a:r>
            <a:r>
              <a:rPr lang="en-US" altLang="zh-CN" sz="2800" dirty="0" smtClean="0"/>
              <a:t>IDE</a:t>
            </a:r>
            <a:r>
              <a:rPr lang="zh-CN" altLang="en-US" sz="2800" dirty="0" smtClean="0"/>
              <a:t>，</a:t>
            </a:r>
            <a:r>
              <a:rPr lang="en-US" altLang="zh-CN" sz="2800" dirty="0" smtClean="0"/>
              <a:t>Integrated Development Environment</a:t>
            </a:r>
            <a:r>
              <a:rPr lang="zh-CN" altLang="en-US" sz="2800" dirty="0" smtClean="0"/>
              <a:t>）是专用于软件开发的程序。顾名思义，</a:t>
            </a:r>
            <a:r>
              <a:rPr lang="en-US" altLang="zh-CN" sz="2800" b="1" dirty="0" smtClean="0"/>
              <a:t>IDE</a:t>
            </a:r>
            <a:r>
              <a:rPr lang="zh-CN" altLang="en-US" sz="2800" b="1" dirty="0" smtClean="0"/>
              <a:t>集成了几款专门为软件开发而设计的工具。</a:t>
            </a:r>
            <a:r>
              <a:rPr lang="zh-CN" altLang="en-US" sz="2800" dirty="0" smtClean="0"/>
              <a:t>这些工具通常包括一个专门为了处理代码的编辑器（例如语法高亮和自动补全）；构建、执行、调试工具和某种形式的源代码控制。</a:t>
            </a:r>
          </a:p>
          <a:p>
            <a:r>
              <a:rPr lang="zh-CN" altLang="en-US" sz="2800" dirty="0" smtClean="0"/>
              <a:t>大部分的</a:t>
            </a:r>
            <a:r>
              <a:rPr lang="zh-CN" altLang="en-US" sz="2800" b="1" dirty="0" smtClean="0"/>
              <a:t>集成开发环境</a:t>
            </a:r>
            <a:r>
              <a:rPr lang="zh-CN" altLang="en-US" sz="2800" dirty="0" smtClean="0"/>
              <a:t>兼容多种编程语言并且包含更多功能，因此一般来说</a:t>
            </a:r>
            <a:r>
              <a:rPr lang="zh-CN" altLang="en-US" sz="2800" b="1" dirty="0" smtClean="0"/>
              <a:t>体积较大，需要时间去下载和安装并且为了正确使用需要进行配置。</a:t>
            </a:r>
          </a:p>
          <a:p>
            <a:r>
              <a:rPr lang="zh-CN" altLang="en-US" sz="2800" dirty="0" smtClean="0"/>
              <a:t>与集成开发环境相比，出色的专用</a:t>
            </a:r>
            <a:r>
              <a:rPr lang="zh-CN" altLang="en-US" sz="2800" b="1" dirty="0" smtClean="0"/>
              <a:t>代码编辑器</a:t>
            </a:r>
            <a:r>
              <a:rPr lang="zh-CN" altLang="en-US" sz="2800" dirty="0" smtClean="0"/>
              <a:t>往往</a:t>
            </a:r>
            <a:r>
              <a:rPr lang="zh-CN" altLang="en-US" sz="2800" b="1" dirty="0" smtClean="0"/>
              <a:t>体积更小更迅捷</a:t>
            </a:r>
            <a:r>
              <a:rPr lang="zh-CN" altLang="en-US" sz="2800" dirty="0" smtClean="0"/>
              <a:t>，也具有语法高亮和代码格式化功能，</a:t>
            </a:r>
            <a:r>
              <a:rPr lang="zh-CN" altLang="en-US" sz="2800" b="1" dirty="0" smtClean="0"/>
              <a:t>只是其他的功能较少</a:t>
            </a:r>
            <a:r>
              <a:rPr lang="zh-CN" altLang="en-US" sz="2800" dirty="0" smtClean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180528" y="404664"/>
            <a:ext cx="9324528" cy="1143000"/>
          </a:xfrm>
        </p:spPr>
        <p:txBody>
          <a:bodyPr>
            <a:normAutofit fontScale="90000"/>
          </a:bodyPr>
          <a:lstStyle/>
          <a:p>
            <a:pPr algn="ctr"/>
            <a:r>
              <a:rPr lang="zh-CN" altLang="en-US" dirty="0" smtClean="0"/>
              <a:t>一、常用</a:t>
            </a:r>
            <a:r>
              <a:rPr lang="en-US" altLang="zh-CN" dirty="0" smtClean="0"/>
              <a:t>Python </a:t>
            </a:r>
            <a:r>
              <a:rPr lang="zh-CN" altLang="en-US" dirty="0" smtClean="0"/>
              <a:t>开发</a:t>
            </a:r>
            <a:r>
              <a:rPr lang="zh-CN" altLang="en-US" dirty="0" smtClean="0"/>
              <a:t>工具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dirty="0" smtClean="0"/>
              <a:t>（分以下二类）</a:t>
            </a:r>
            <a:endParaRPr lang="zh-CN" altLang="en-US" dirty="0"/>
          </a:p>
        </p:txBody>
      </p:sp>
      <p:pic>
        <p:nvPicPr>
          <p:cNvPr id="16388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3068960"/>
            <a:ext cx="8106475" cy="27138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39552" y="1772816"/>
            <a:ext cx="33297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/>
              <a:t>  </a:t>
            </a:r>
            <a:r>
              <a:rPr lang="en-US" altLang="zh-CN" sz="3600" dirty="0" smtClean="0"/>
              <a:t>1</a:t>
            </a:r>
            <a:r>
              <a:rPr lang="zh-CN" altLang="en-US" sz="3600" dirty="0" smtClean="0"/>
              <a:t>、代码</a:t>
            </a:r>
            <a:r>
              <a:rPr lang="zh-CN" altLang="en-US" sz="3600" dirty="0" smtClean="0"/>
              <a:t>编辑器</a:t>
            </a:r>
            <a:endParaRPr lang="en-US" altLang="zh-CN" sz="3600" dirty="0" smtClean="0"/>
          </a:p>
          <a:p>
            <a:r>
              <a:rPr lang="zh-CN" altLang="en-US" sz="3600" dirty="0" smtClean="0"/>
              <a:t>（文本工具）</a:t>
            </a:r>
            <a:endParaRPr lang="zh-CN" alt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4860032" y="2132856"/>
            <a:ext cx="364074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600" dirty="0" smtClean="0"/>
              <a:t>2</a:t>
            </a:r>
            <a:r>
              <a:rPr lang="zh-CN" altLang="en-US" sz="3600" dirty="0" smtClean="0"/>
              <a:t>、集成</a:t>
            </a:r>
            <a:r>
              <a:rPr lang="zh-CN" altLang="en-US" sz="3600" dirty="0" smtClean="0"/>
              <a:t>开发环境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269776"/>
            <a:ext cx="8305800" cy="638944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二、代码编辑器（文本工具）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323528" y="1004535"/>
            <a:ext cx="741420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600" dirty="0" smtClean="0"/>
              <a:t>1</a:t>
            </a:r>
            <a:r>
              <a:rPr lang="zh-CN" altLang="en-US" sz="3600" dirty="0" smtClean="0"/>
              <a:t>、</a:t>
            </a:r>
            <a:r>
              <a:rPr lang="en-US" altLang="zh-CN" sz="3600" dirty="0" smtClean="0"/>
              <a:t>IDLE</a:t>
            </a:r>
            <a:r>
              <a:rPr lang="zh-CN" altLang="en-US" sz="3600" dirty="0" smtClean="0"/>
              <a:t>：</a:t>
            </a:r>
            <a:r>
              <a:rPr lang="en-US" altLang="zh-CN" sz="3600" dirty="0" smtClean="0"/>
              <a:t>Python</a:t>
            </a:r>
            <a:r>
              <a:rPr lang="zh-CN" altLang="en-US" sz="3600" dirty="0" smtClean="0"/>
              <a:t>自带的编辑工具</a:t>
            </a:r>
            <a:endParaRPr lang="en-US" altLang="zh-CN" sz="3600" dirty="0" smtClean="0"/>
          </a:p>
          <a:p>
            <a:r>
              <a:rPr lang="zh-CN" altLang="en-US" sz="3600" dirty="0" smtClean="0"/>
              <a:t>       包括交互式和文件式两个形式。</a:t>
            </a:r>
            <a:endParaRPr lang="zh-CN" altLang="en-US" sz="3600" dirty="0"/>
          </a:p>
        </p:txBody>
      </p:sp>
      <p:sp>
        <p:nvSpPr>
          <p:cNvPr id="7" name="TextBox 6"/>
          <p:cNvSpPr txBox="1"/>
          <p:nvPr/>
        </p:nvSpPr>
        <p:spPr>
          <a:xfrm>
            <a:off x="6444208" y="2982431"/>
            <a:ext cx="273630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 smtClean="0"/>
              <a:t>适用于：</a:t>
            </a:r>
            <a:endParaRPr lang="en-US" altLang="zh-CN" sz="2800" dirty="0" smtClean="0"/>
          </a:p>
          <a:p>
            <a:pPr>
              <a:buFont typeface="Arial" pitchFamily="34" charset="0"/>
              <a:buChar char="•"/>
            </a:pPr>
            <a:r>
              <a:rPr lang="en-US" altLang="zh-CN" sz="2800" dirty="0" smtClean="0"/>
              <a:t>    Python</a:t>
            </a:r>
            <a:r>
              <a:rPr lang="zh-CN" altLang="en-US" sz="2800" dirty="0" smtClean="0"/>
              <a:t>入门</a:t>
            </a:r>
            <a:endParaRPr lang="en-US" altLang="zh-CN" sz="2800" dirty="0" smtClean="0"/>
          </a:p>
          <a:p>
            <a:pPr>
              <a:buFont typeface="Arial" pitchFamily="34" charset="0"/>
              <a:buChar char="•"/>
            </a:pPr>
            <a:r>
              <a:rPr lang="zh-CN" altLang="en-US" sz="2800" dirty="0" smtClean="0"/>
              <a:t>   功能简单直接</a:t>
            </a:r>
            <a:endParaRPr lang="en-US" altLang="zh-CN" sz="2800" dirty="0" smtClean="0"/>
          </a:p>
          <a:p>
            <a:pPr>
              <a:buFont typeface="Arial" pitchFamily="34" charset="0"/>
              <a:buChar char="•"/>
            </a:pPr>
            <a:r>
              <a:rPr lang="en-US" altLang="zh-CN" sz="2800" dirty="0" smtClean="0"/>
              <a:t>   </a:t>
            </a:r>
            <a:r>
              <a:rPr lang="zh-CN" altLang="en-US" sz="2800" dirty="0" smtClean="0"/>
              <a:t>较短的代码行</a:t>
            </a:r>
            <a:endParaRPr lang="zh-CN" altLang="en-US" sz="2800" dirty="0"/>
          </a:p>
        </p:txBody>
      </p:sp>
      <p:pic>
        <p:nvPicPr>
          <p:cNvPr id="17413" name="Picture 5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47864" y="2492896"/>
            <a:ext cx="3024336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414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492896"/>
            <a:ext cx="3168352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圆角矩形标注 10"/>
          <p:cNvSpPr/>
          <p:nvPr/>
        </p:nvSpPr>
        <p:spPr>
          <a:xfrm>
            <a:off x="827584" y="6165304"/>
            <a:ext cx="1368152" cy="576064"/>
          </a:xfrm>
          <a:prstGeom prst="wedgeRoundRectCallout">
            <a:avLst>
              <a:gd name="adj1" fmla="val -19965"/>
              <a:gd name="adj2" fmla="val -21579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/>
              <a:t>交互式</a:t>
            </a:r>
            <a:endParaRPr lang="zh-CN" altLang="en-US" sz="2800" dirty="0"/>
          </a:p>
        </p:txBody>
      </p:sp>
      <p:sp>
        <p:nvSpPr>
          <p:cNvPr id="12" name="圆角矩形标注 11"/>
          <p:cNvSpPr/>
          <p:nvPr/>
        </p:nvSpPr>
        <p:spPr>
          <a:xfrm>
            <a:off x="4211960" y="6093296"/>
            <a:ext cx="1368152" cy="576064"/>
          </a:xfrm>
          <a:prstGeom prst="wedgeRoundRectCallout">
            <a:avLst>
              <a:gd name="adj1" fmla="val -19965"/>
              <a:gd name="adj2" fmla="val -21579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800" dirty="0" smtClean="0"/>
              <a:t>文件式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512" y="1628800"/>
            <a:ext cx="8305800" cy="576064"/>
          </a:xfrm>
        </p:spPr>
        <p:txBody>
          <a:bodyPr>
            <a:normAutofit fontScale="90000"/>
          </a:bodyPr>
          <a:lstStyle/>
          <a:p>
            <a:r>
              <a:rPr lang="en-US" altLang="zh-CN" dirty="0" smtClean="0"/>
              <a:t>2</a:t>
            </a:r>
            <a:r>
              <a:rPr lang="zh-CN" altLang="en-US" dirty="0" smtClean="0"/>
              <a:t>、</a:t>
            </a:r>
            <a:r>
              <a:rPr lang="en-US" altLang="zh-CN" dirty="0" smtClean="0"/>
              <a:t>Sublime Text</a:t>
            </a:r>
            <a:br>
              <a:rPr lang="en-US" altLang="zh-CN" dirty="0" smtClean="0"/>
            </a:br>
            <a:r>
              <a:rPr lang="zh-CN" altLang="en-US" sz="3600" b="1" dirty="0" smtClean="0"/>
              <a:t>网址：</a:t>
            </a:r>
            <a:r>
              <a:rPr lang="en-US" altLang="zh-CN" sz="3600" dirty="0" smtClean="0">
                <a:hlinkClick r:id="rId2"/>
              </a:rPr>
              <a:t>www.sublimetext.com</a:t>
            </a:r>
            <a:r>
              <a:rPr lang="en-US" altLang="zh-CN" dirty="0" smtClean="0"/>
              <a:t/>
            </a:r>
            <a:br>
              <a:rPr lang="en-US" altLang="zh-CN" dirty="0" smtClean="0"/>
            </a:br>
            <a:r>
              <a:rPr lang="zh-CN" altLang="en-US" sz="3100" dirty="0" smtClean="0"/>
              <a:t>特点：语法高亮、自动补齐、不同顔色标注。</a:t>
            </a:r>
            <a:endParaRPr lang="zh-CN" altLang="en-US" sz="3100" dirty="0"/>
          </a:p>
        </p:txBody>
      </p:sp>
      <p:sp>
        <p:nvSpPr>
          <p:cNvPr id="6" name="矩形 5"/>
          <p:cNvSpPr/>
          <p:nvPr/>
        </p:nvSpPr>
        <p:spPr>
          <a:xfrm>
            <a:off x="899592" y="2348880"/>
            <a:ext cx="7344816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zh-CN" altLang="en-US" sz="3200" dirty="0" smtClean="0"/>
              <a:t>专为程序员开发的第三方专用编程工具</a:t>
            </a:r>
            <a:endParaRPr lang="en-US" altLang="zh-CN" sz="3200" dirty="0" smtClean="0"/>
          </a:p>
          <a:p>
            <a:pPr>
              <a:buFont typeface="Arial" pitchFamily="34" charset="0"/>
              <a:buChar char="•"/>
            </a:pPr>
            <a:r>
              <a:rPr lang="zh-CN" altLang="en-US" sz="3200" dirty="0" smtClean="0"/>
              <a:t>专业编程体验</a:t>
            </a:r>
            <a:endParaRPr lang="en-US" altLang="zh-CN" sz="3200" dirty="0" smtClean="0"/>
          </a:p>
          <a:p>
            <a:pPr>
              <a:buFont typeface="Arial" pitchFamily="34" charset="0"/>
              <a:buChar char="•"/>
            </a:pPr>
            <a:r>
              <a:rPr lang="zh-CN" altLang="en-US" sz="3200" dirty="0" smtClean="0"/>
              <a:t>多种编程风格</a:t>
            </a:r>
            <a:endParaRPr lang="en-US" altLang="zh-CN" sz="3200" dirty="0" smtClean="0"/>
          </a:p>
          <a:p>
            <a:pPr>
              <a:buFont typeface="Arial" pitchFamily="34" charset="0"/>
              <a:buChar char="•"/>
            </a:pPr>
            <a:r>
              <a:rPr lang="zh-CN" altLang="en-US" sz="3200" dirty="0" smtClean="0"/>
              <a:t>工具非注册免费使用</a:t>
            </a:r>
            <a:endParaRPr lang="zh-CN" altLang="en-US" sz="3200" dirty="0"/>
          </a:p>
        </p:txBody>
      </p:sp>
      <p:sp>
        <p:nvSpPr>
          <p:cNvPr id="7" name="矩形 6"/>
          <p:cNvSpPr/>
          <p:nvPr/>
        </p:nvSpPr>
        <p:spPr>
          <a:xfrm>
            <a:off x="323528" y="4523636"/>
            <a:ext cx="8676456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/>
              <a:t>优点：</a:t>
            </a:r>
            <a:r>
              <a:rPr lang="en-US" altLang="zh-CN" sz="2800" dirty="0"/>
              <a:t>Sublime </a:t>
            </a:r>
            <a:r>
              <a:rPr lang="en-US" altLang="zh-CN" sz="2800" dirty="0" smtClean="0"/>
              <a:t>Text</a:t>
            </a:r>
            <a:r>
              <a:rPr lang="zh-CN" altLang="en-US" sz="2800" dirty="0" smtClean="0"/>
              <a:t>很受专业编程人员的喜爱。从</a:t>
            </a:r>
            <a:r>
              <a:rPr lang="zh-CN" altLang="en-US" sz="2800" dirty="0"/>
              <a:t>代码编辑器的角度来看，</a:t>
            </a:r>
            <a:r>
              <a:rPr lang="en-US" altLang="zh-CN" sz="2800" dirty="0"/>
              <a:t>Sublime Text</a:t>
            </a:r>
            <a:r>
              <a:rPr lang="zh-CN" altLang="en-US" sz="2800" dirty="0"/>
              <a:t>迅捷小巧并且具有良好的兼容性。</a:t>
            </a:r>
          </a:p>
          <a:p>
            <a:r>
              <a:rPr lang="zh-CN" altLang="en-US" sz="2800" b="1" dirty="0"/>
              <a:t>缺点</a:t>
            </a:r>
            <a:r>
              <a:rPr lang="zh-CN" altLang="en-US" sz="2800" b="1" dirty="0" smtClean="0"/>
              <a:t>：</a:t>
            </a:r>
            <a:r>
              <a:rPr lang="zh-CN" altLang="en-US" sz="2800" dirty="0" smtClean="0"/>
              <a:t>在</a:t>
            </a:r>
            <a:r>
              <a:rPr lang="en-US" altLang="zh-CN" sz="2800" dirty="0"/>
              <a:t>Sublime Text</a:t>
            </a:r>
            <a:r>
              <a:rPr lang="zh-CN" altLang="en-US" sz="2800" dirty="0"/>
              <a:t>中安装扩展插件可能会比较棘手，</a:t>
            </a:r>
            <a:r>
              <a:rPr lang="zh-CN" altLang="en-US" sz="2800" dirty="0" smtClean="0"/>
              <a:t>另外不</a:t>
            </a:r>
            <a:r>
              <a:rPr lang="zh-CN" altLang="en-US" sz="2800" dirty="0"/>
              <a:t>支持直接在编辑器内部执行或调试代码</a:t>
            </a:r>
            <a:r>
              <a:rPr lang="zh-CN" altLang="en-US" sz="2800" dirty="0" smtClean="0"/>
              <a:t>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04664"/>
            <a:ext cx="8305800" cy="114300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三、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集成开发工具</a:t>
            </a:r>
            <a:br>
              <a:rPr lang="zh-CN" altLang="en-US" dirty="0" smtClean="0"/>
            </a:b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179512" y="1052736"/>
            <a:ext cx="896448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 smtClean="0"/>
              <a:t>1</a:t>
            </a:r>
            <a:r>
              <a:rPr lang="zh-CN" altLang="en-US" sz="2800" dirty="0" smtClean="0"/>
              <a:t>、</a:t>
            </a:r>
            <a:r>
              <a:rPr lang="en-US" altLang="zh-CN" sz="2800" dirty="0" err="1" smtClean="0"/>
              <a:t>PyCharm</a:t>
            </a:r>
            <a:endParaRPr lang="en-US" altLang="zh-CN" sz="2800" dirty="0" smtClean="0"/>
          </a:p>
          <a:p>
            <a:r>
              <a:rPr lang="zh-CN" altLang="en-US" sz="2800" dirty="0" smtClean="0"/>
              <a:t>类别：集成开发环境</a:t>
            </a:r>
          </a:p>
          <a:p>
            <a:r>
              <a:rPr lang="zh-CN" altLang="en-US" sz="2800" dirty="0" smtClean="0"/>
              <a:t>网址：</a:t>
            </a:r>
            <a:r>
              <a:rPr lang="en-US" altLang="zh-CN" sz="2800" dirty="0" smtClean="0"/>
              <a:t>www.jetbrains.com/pycharm/</a:t>
            </a:r>
          </a:p>
          <a:p>
            <a:pPr indent="712788"/>
            <a:r>
              <a:rPr lang="en-US" altLang="zh-CN" sz="2800" dirty="0" err="1" smtClean="0"/>
              <a:t>PyCharm</a:t>
            </a:r>
            <a:r>
              <a:rPr lang="zh-CN" altLang="en-US" sz="2800" dirty="0" smtClean="0"/>
              <a:t>是最好的一个（也是唯一一个）专门面向于</a:t>
            </a:r>
            <a:r>
              <a:rPr lang="en-US" altLang="zh-CN" sz="2800" dirty="0" smtClean="0"/>
              <a:t>Python</a:t>
            </a:r>
            <a:r>
              <a:rPr lang="zh-CN" altLang="en-US" sz="2800" dirty="0" smtClean="0"/>
              <a:t>的全功能集成开发环境。同样拥有付费版（专业版）和免费开源版（社区版），</a:t>
            </a:r>
            <a:r>
              <a:rPr lang="en-US" altLang="zh-CN" sz="2800" dirty="0" err="1" smtClean="0"/>
              <a:t>PyCharm</a:t>
            </a:r>
            <a:r>
              <a:rPr lang="zh-CN" altLang="en-US" sz="2800" dirty="0" smtClean="0"/>
              <a:t>不论是在</a:t>
            </a:r>
            <a:r>
              <a:rPr lang="en-US" altLang="zh-CN" sz="2800" dirty="0" smtClean="0"/>
              <a:t>Windows, Mac OS X</a:t>
            </a:r>
            <a:r>
              <a:rPr lang="zh-CN" altLang="en-US" sz="2800" dirty="0" smtClean="0"/>
              <a:t>系统中</a:t>
            </a:r>
            <a:r>
              <a:rPr lang="en-US" altLang="zh-CN" sz="2800" dirty="0" smtClean="0"/>
              <a:t>, </a:t>
            </a:r>
            <a:r>
              <a:rPr lang="zh-CN" altLang="en-US" sz="2800" dirty="0" smtClean="0"/>
              <a:t>还是在</a:t>
            </a:r>
            <a:r>
              <a:rPr lang="en-US" altLang="zh-CN" sz="2800" dirty="0" smtClean="0"/>
              <a:t>Linux</a:t>
            </a:r>
            <a:r>
              <a:rPr lang="zh-CN" altLang="en-US" sz="2800" dirty="0" smtClean="0"/>
              <a:t>系统中都支持快速安装和使用。</a:t>
            </a:r>
          </a:p>
          <a:p>
            <a:endParaRPr lang="en-US" altLang="zh-CN" sz="2800" dirty="0"/>
          </a:p>
          <a:p>
            <a:r>
              <a:rPr lang="zh-CN" altLang="en-US" sz="2800" dirty="0" smtClean="0"/>
              <a:t>开箱即用，</a:t>
            </a:r>
            <a:r>
              <a:rPr lang="en-US" altLang="zh-CN" sz="2800" dirty="0" err="1" smtClean="0"/>
              <a:t>PyCharm</a:t>
            </a:r>
            <a:r>
              <a:rPr lang="zh-CN" altLang="en-US" sz="2800" dirty="0" smtClean="0"/>
              <a:t>直接支持</a:t>
            </a:r>
            <a:r>
              <a:rPr lang="en-US" altLang="zh-CN" sz="2800" dirty="0" smtClean="0"/>
              <a:t>Python</a:t>
            </a:r>
            <a:r>
              <a:rPr lang="zh-CN" altLang="en-US" sz="2800" dirty="0" smtClean="0"/>
              <a:t>开发环境，打开一个新的文件然后就可以开始编写代码。你也可以在</a:t>
            </a:r>
            <a:r>
              <a:rPr lang="en-US" altLang="zh-CN" sz="2800" dirty="0" err="1" smtClean="0"/>
              <a:t>PyCharm</a:t>
            </a:r>
            <a:r>
              <a:rPr lang="zh-CN" altLang="en-US" sz="2800" dirty="0" smtClean="0"/>
              <a:t>中直接运行和调试</a:t>
            </a:r>
            <a:r>
              <a:rPr lang="en-US" altLang="zh-CN" sz="2800" dirty="0" smtClean="0"/>
              <a:t>Python</a:t>
            </a:r>
            <a:r>
              <a:rPr lang="zh-CN" altLang="en-US" sz="2800" dirty="0" smtClean="0"/>
              <a:t>程序，并且支持源码和项目的管理。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/>
          <p:cNvSpPr txBox="1">
            <a:spLocks/>
          </p:cNvSpPr>
          <p:nvPr/>
        </p:nvSpPr>
        <p:spPr>
          <a:xfrm>
            <a:off x="0" y="980728"/>
            <a:ext cx="2483768" cy="23762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4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PyCharm</a:t>
            </a:r>
            <a:r>
              <a:rPr lang="zh-CN" altLang="en-US" sz="4400" dirty="0" smtClean="0">
                <a:latin typeface="+mj-lt"/>
                <a:ea typeface="+mj-ea"/>
                <a:cs typeface="+mj-cs"/>
              </a:rPr>
              <a:t>运行界面</a:t>
            </a:r>
            <a:endParaRPr kumimoji="0" lang="zh-CN" altLang="en-US" sz="44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1026" name="Picture 2" descr="https://user-gold-cdn.xitu.io/2018/4/23/162f05909ad04f76?imageslim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83768" y="260648"/>
            <a:ext cx="6480720" cy="4968553"/>
          </a:xfrm>
          <a:prstGeom prst="rect">
            <a:avLst/>
          </a:prstGeom>
          <a:noFill/>
        </p:spPr>
      </p:pic>
      <p:sp>
        <p:nvSpPr>
          <p:cNvPr id="6" name="矩形 5"/>
          <p:cNvSpPr/>
          <p:nvPr/>
        </p:nvSpPr>
        <p:spPr>
          <a:xfrm>
            <a:off x="323528" y="5301208"/>
            <a:ext cx="864096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优点：真正的</a:t>
            </a:r>
            <a:r>
              <a:rPr lang="en-US" altLang="zh-CN" sz="2400" dirty="0" smtClean="0"/>
              <a:t>Python</a:t>
            </a:r>
            <a:r>
              <a:rPr lang="zh-CN" altLang="en-US" sz="2400" dirty="0" smtClean="0"/>
              <a:t>集成开发环境，拥有众多便利和支持社区。它的编辑、运行和调试功能统统开箱即用。</a:t>
            </a:r>
          </a:p>
          <a:p>
            <a:r>
              <a:rPr lang="zh-CN" altLang="en-US" sz="2400" dirty="0" smtClean="0"/>
              <a:t>缺点：</a:t>
            </a:r>
            <a:r>
              <a:rPr lang="en-US" altLang="zh-CN" sz="2400" dirty="0" err="1" smtClean="0"/>
              <a:t>PyCharm</a:t>
            </a:r>
            <a:r>
              <a:rPr lang="zh-CN" altLang="en-US" sz="2400" dirty="0" smtClean="0"/>
              <a:t>存在加载较慢的问题，另外对于已有的项目，默认设置可能需要调整。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79512" y="116632"/>
            <a:ext cx="8496944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600" b="1" dirty="0" smtClean="0"/>
              <a:t>2</a:t>
            </a:r>
            <a:r>
              <a:rPr lang="zh-CN" altLang="en-US" sz="3600" b="1" dirty="0" smtClean="0"/>
              <a:t>、</a:t>
            </a:r>
            <a:r>
              <a:rPr lang="en-US" altLang="zh-CN" sz="3600" b="1" dirty="0" err="1" smtClean="0"/>
              <a:t>Spyder</a:t>
            </a:r>
            <a:endParaRPr lang="en-US" altLang="zh-CN" sz="3600" b="1" dirty="0"/>
          </a:p>
          <a:p>
            <a:endParaRPr lang="en-US" altLang="zh-CN" sz="2800" b="1" dirty="0"/>
          </a:p>
          <a:p>
            <a:r>
              <a:rPr lang="zh-CN" altLang="en-US" sz="2800" b="1" dirty="0" smtClean="0"/>
              <a:t>类别</a:t>
            </a:r>
            <a:r>
              <a:rPr lang="zh-CN" altLang="en-US" sz="2800" b="1" dirty="0"/>
              <a:t>：</a:t>
            </a:r>
            <a:r>
              <a:rPr lang="zh-CN" altLang="en-US" sz="2800" dirty="0"/>
              <a:t>集成开发环境</a:t>
            </a:r>
          </a:p>
          <a:p>
            <a:r>
              <a:rPr lang="zh-CN" altLang="en-US" sz="2800" b="1" dirty="0"/>
              <a:t>网址：</a:t>
            </a:r>
            <a:r>
              <a:rPr lang="en-US" altLang="zh-CN" sz="2800" dirty="0">
                <a:hlinkClick r:id="rId2"/>
              </a:rPr>
              <a:t>github.com/</a:t>
            </a:r>
            <a:r>
              <a:rPr lang="en-US" altLang="zh-CN" sz="2800" dirty="0" err="1">
                <a:hlinkClick r:id="rId2"/>
              </a:rPr>
              <a:t>spyder-ide</a:t>
            </a:r>
            <a:r>
              <a:rPr lang="en-US" altLang="zh-CN" sz="2800" dirty="0" smtClean="0">
                <a:hlinkClick r:id="rId2"/>
              </a:rPr>
              <a:t>/…</a:t>
            </a:r>
            <a:endParaRPr lang="en-US" altLang="zh-CN" sz="2800" dirty="0" smtClean="0"/>
          </a:p>
          <a:p>
            <a:pPr indent="628650"/>
            <a:r>
              <a:rPr lang="en-US" altLang="zh-CN" sz="2800" dirty="0" err="1" smtClean="0"/>
              <a:t>Spyder</a:t>
            </a:r>
            <a:r>
              <a:rPr lang="zh-CN" altLang="en-US" sz="2800" dirty="0"/>
              <a:t>是一款为了数据科学</a:t>
            </a:r>
            <a:r>
              <a:rPr lang="zh-CN" altLang="en-US" sz="2800" dirty="0" smtClean="0"/>
              <a:t>工作者做</a:t>
            </a:r>
            <a:r>
              <a:rPr lang="zh-CN" altLang="en-US" sz="2800" dirty="0"/>
              <a:t>了优化的开源</a:t>
            </a:r>
            <a:r>
              <a:rPr lang="en-US" altLang="zh-CN" sz="2800" dirty="0"/>
              <a:t>Python</a:t>
            </a:r>
            <a:r>
              <a:rPr lang="zh-CN" altLang="en-US" sz="2800" dirty="0"/>
              <a:t>集成开发环境。它是附在</a:t>
            </a:r>
            <a:r>
              <a:rPr lang="en-US" altLang="zh-CN" sz="2800" dirty="0"/>
              <a:t>Anaconda</a:t>
            </a:r>
            <a:r>
              <a:rPr lang="zh-CN" altLang="en-US" sz="2800" dirty="0"/>
              <a:t>软件包管理器发行</a:t>
            </a:r>
            <a:r>
              <a:rPr lang="zh-CN" altLang="en-US" sz="2800" dirty="0" smtClean="0"/>
              <a:t>版中。</a:t>
            </a:r>
            <a:endParaRPr lang="zh-CN" altLang="en-US" sz="2800" dirty="0"/>
          </a:p>
          <a:p>
            <a:pPr indent="628650"/>
            <a:r>
              <a:rPr lang="en-US" altLang="zh-CN" sz="2800" b="1" dirty="0" err="1" smtClean="0">
                <a:solidFill>
                  <a:srgbClr val="FFFF00"/>
                </a:solidFill>
              </a:rPr>
              <a:t>Spyder</a:t>
            </a:r>
            <a:r>
              <a:rPr lang="zh-CN" altLang="en-US" sz="2800" b="1" dirty="0" smtClean="0">
                <a:solidFill>
                  <a:srgbClr val="FFFF00"/>
                </a:solidFill>
              </a:rPr>
              <a:t>集成了诸如</a:t>
            </a:r>
            <a:r>
              <a:rPr lang="en-US" altLang="zh-CN" sz="2800" b="1" dirty="0" err="1">
                <a:solidFill>
                  <a:srgbClr val="FFFF00"/>
                </a:solidFill>
              </a:rPr>
              <a:t>SciPy</a:t>
            </a:r>
            <a:r>
              <a:rPr lang="zh-CN" altLang="en-US" sz="2800" b="1" dirty="0">
                <a:solidFill>
                  <a:srgbClr val="FFFF00"/>
                </a:solidFill>
              </a:rPr>
              <a:t>、</a:t>
            </a:r>
            <a:r>
              <a:rPr lang="en-US" altLang="zh-CN" sz="2800" b="1" dirty="0" err="1">
                <a:solidFill>
                  <a:srgbClr val="FFFF00"/>
                </a:solidFill>
              </a:rPr>
              <a:t>NumPy</a:t>
            </a:r>
            <a:r>
              <a:rPr lang="zh-CN" altLang="en-US" sz="2800" b="1" dirty="0">
                <a:solidFill>
                  <a:srgbClr val="FFFF00"/>
                </a:solidFill>
              </a:rPr>
              <a:t>和</a:t>
            </a:r>
            <a:r>
              <a:rPr lang="en-US" altLang="zh-CN" sz="2800" b="1" dirty="0" err="1" smtClean="0">
                <a:solidFill>
                  <a:srgbClr val="FFFF00"/>
                </a:solidFill>
              </a:rPr>
              <a:t>Matplotlib</a:t>
            </a:r>
            <a:r>
              <a:rPr lang="zh-CN" altLang="en-US" sz="2800" b="1" dirty="0">
                <a:solidFill>
                  <a:srgbClr val="FFFF00"/>
                </a:solidFill>
              </a:rPr>
              <a:t>等</a:t>
            </a:r>
            <a:r>
              <a:rPr lang="zh-CN" altLang="en-US" sz="2800" b="1" dirty="0" smtClean="0">
                <a:solidFill>
                  <a:srgbClr val="FFFF00"/>
                </a:solidFill>
              </a:rPr>
              <a:t>公共</a:t>
            </a:r>
            <a:r>
              <a:rPr lang="en-US" altLang="zh-CN" sz="2800" b="1" dirty="0">
                <a:solidFill>
                  <a:srgbClr val="FFFF00"/>
                </a:solidFill>
              </a:rPr>
              <a:t>Python</a:t>
            </a:r>
            <a:r>
              <a:rPr lang="zh-CN" altLang="en-US" sz="2800" b="1" dirty="0">
                <a:solidFill>
                  <a:srgbClr val="FFFF00"/>
                </a:solidFill>
              </a:rPr>
              <a:t>数据科学库。</a:t>
            </a:r>
          </a:p>
        </p:txBody>
      </p:sp>
      <p:sp>
        <p:nvSpPr>
          <p:cNvPr id="7" name="矩形 6"/>
          <p:cNvSpPr/>
          <p:nvPr/>
        </p:nvSpPr>
        <p:spPr>
          <a:xfrm>
            <a:off x="395536" y="4221088"/>
            <a:ext cx="83529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628650"/>
            <a:r>
              <a:rPr lang="en-US" altLang="zh-CN" sz="2800" dirty="0" err="1" smtClean="0"/>
              <a:t>Spyder</a:t>
            </a:r>
            <a:r>
              <a:rPr lang="zh-CN" altLang="en-US" sz="2800" dirty="0" smtClean="0"/>
              <a:t>拥有大部分集成开发环境该具备的功能，例如具备强大语法高亮功能的代码编辑器，</a:t>
            </a:r>
            <a:r>
              <a:rPr lang="en-US" altLang="zh-CN" sz="2800" dirty="0" smtClean="0"/>
              <a:t>Python</a:t>
            </a:r>
            <a:r>
              <a:rPr lang="zh-CN" altLang="en-US" sz="2800" dirty="0" smtClean="0"/>
              <a:t>代码补全，甚至是集成文件浏览器。</a:t>
            </a:r>
          </a:p>
          <a:p>
            <a:endParaRPr lang="zh-CN" altLang="en-US" sz="2800" dirty="0" smtClean="0"/>
          </a:p>
          <a:p>
            <a:pPr indent="628650"/>
            <a:r>
              <a:rPr lang="en-US" altLang="zh-CN" sz="2800" dirty="0" err="1" smtClean="0"/>
              <a:t>Spyder</a:t>
            </a:r>
            <a:r>
              <a:rPr lang="zh-CN" altLang="en-US" sz="2800" dirty="0" smtClean="0"/>
              <a:t>兼容</a:t>
            </a:r>
            <a:r>
              <a:rPr lang="en-US" altLang="zh-CN" sz="2800" dirty="0" smtClean="0"/>
              <a:t>Windows</a:t>
            </a:r>
            <a:r>
              <a:rPr lang="zh-CN" altLang="en-US" sz="2800" dirty="0" smtClean="0"/>
              <a:t>、</a:t>
            </a:r>
            <a:r>
              <a:rPr lang="en-US" altLang="zh-CN" sz="2800" dirty="0" err="1" smtClean="0"/>
              <a:t>macOS</a:t>
            </a:r>
            <a:r>
              <a:rPr lang="zh-CN" altLang="en-US" sz="2800" dirty="0" smtClean="0"/>
              <a:t>和 </a:t>
            </a:r>
            <a:r>
              <a:rPr lang="en-US" altLang="zh-CN" sz="2800" dirty="0" smtClean="0"/>
              <a:t>Linux</a:t>
            </a:r>
            <a:r>
              <a:rPr lang="zh-CN" altLang="en-US" sz="2800" dirty="0" smtClean="0"/>
              <a:t>系统并且是一个完全开源软件。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05800" cy="792088"/>
          </a:xfrm>
        </p:spPr>
        <p:txBody>
          <a:bodyPr>
            <a:normAutofit fontScale="90000"/>
          </a:bodyPr>
          <a:lstStyle/>
          <a:p>
            <a:r>
              <a:rPr lang="en-US" altLang="zh-CN" b="1" dirty="0" smtClean="0"/>
              <a:t>3</a:t>
            </a:r>
            <a:r>
              <a:rPr lang="zh-CN" altLang="en-US" b="1" dirty="0" smtClean="0"/>
              <a:t>、</a:t>
            </a:r>
            <a:r>
              <a:rPr lang="en-US" altLang="zh-CN" b="1" dirty="0" smtClean="0"/>
              <a:t>Eclipse + </a:t>
            </a:r>
            <a:r>
              <a:rPr lang="en-US" altLang="zh-CN" b="1" dirty="0" err="1" smtClean="0"/>
              <a:t>PyDev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51520" y="1556792"/>
            <a:ext cx="889248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 smtClean="0"/>
              <a:t>类别</a:t>
            </a:r>
            <a:r>
              <a:rPr lang="zh-CN" altLang="en-US" sz="2800" b="1" dirty="0"/>
              <a:t>：</a:t>
            </a:r>
            <a:r>
              <a:rPr lang="zh-CN" altLang="en-US" sz="2800" dirty="0"/>
              <a:t>集成开发环境</a:t>
            </a:r>
          </a:p>
          <a:p>
            <a:r>
              <a:rPr lang="zh-CN" altLang="en-US" sz="2800" b="1" dirty="0"/>
              <a:t>网址：</a:t>
            </a:r>
            <a:r>
              <a:rPr lang="en-US" altLang="zh-CN" sz="2800" dirty="0">
                <a:hlinkClick r:id="rId2"/>
              </a:rPr>
              <a:t>www.eclipse.org</a:t>
            </a:r>
            <a:endParaRPr lang="zh-CN" altLang="en-US" sz="2800" dirty="0"/>
          </a:p>
          <a:p>
            <a:r>
              <a:rPr lang="en-US" altLang="zh-CN" sz="2800" b="1" dirty="0"/>
              <a:t>Python</a:t>
            </a:r>
            <a:r>
              <a:rPr lang="zh-CN" altLang="en-US" sz="2800" b="1" dirty="0"/>
              <a:t>工具：</a:t>
            </a:r>
            <a:r>
              <a:rPr lang="en-US" altLang="zh-CN" sz="2800" dirty="0" err="1"/>
              <a:t>PyDev</a:t>
            </a:r>
            <a:r>
              <a:rPr lang="en-US" altLang="zh-CN" sz="2800" dirty="0"/>
              <a:t>, </a:t>
            </a:r>
            <a:r>
              <a:rPr lang="en-US" altLang="zh-CN" sz="2800" dirty="0">
                <a:hlinkClick r:id="rId3"/>
              </a:rPr>
              <a:t>www.pydev.org</a:t>
            </a:r>
            <a:endParaRPr lang="zh-CN" altLang="en-US" sz="2800" dirty="0"/>
          </a:p>
          <a:p>
            <a:pPr indent="712788"/>
            <a:r>
              <a:rPr lang="en-US" altLang="zh-CN" sz="2800" dirty="0" smtClean="0"/>
              <a:t>Eclipse</a:t>
            </a:r>
            <a:r>
              <a:rPr lang="zh-CN" altLang="en-US" sz="2800" dirty="0" smtClean="0"/>
              <a:t>是</a:t>
            </a:r>
            <a:r>
              <a:rPr lang="zh-CN" altLang="en-US" sz="2800" dirty="0"/>
              <a:t>一款面向</a:t>
            </a:r>
            <a:r>
              <a:rPr lang="en-US" altLang="zh-CN" sz="2800" dirty="0"/>
              <a:t>Java</a:t>
            </a:r>
            <a:r>
              <a:rPr lang="zh-CN" altLang="en-US" sz="2800" dirty="0"/>
              <a:t>开发的兼容</a:t>
            </a:r>
            <a:r>
              <a:rPr lang="en-US" altLang="zh-CN" sz="2800" dirty="0"/>
              <a:t>Linux, Windows</a:t>
            </a:r>
            <a:r>
              <a:rPr lang="zh-CN" altLang="en-US" sz="2800" dirty="0"/>
              <a:t>和</a:t>
            </a:r>
            <a:r>
              <a:rPr lang="en-US" altLang="zh-CN" sz="2800" dirty="0"/>
              <a:t>OS X</a:t>
            </a:r>
            <a:r>
              <a:rPr lang="zh-CN" altLang="en-US" sz="2800" dirty="0"/>
              <a:t>的集成开发环境。它拥有丰富的插件和扩展功能市场，这使得</a:t>
            </a:r>
            <a:r>
              <a:rPr lang="en-US" altLang="zh-CN" sz="2800" dirty="0"/>
              <a:t>Eclipse</a:t>
            </a:r>
            <a:r>
              <a:rPr lang="zh-CN" altLang="en-US" sz="2800" dirty="0"/>
              <a:t>适用于各种各样的开发项目</a:t>
            </a:r>
            <a:r>
              <a:rPr lang="zh-CN" altLang="en-US" sz="2800" dirty="0" smtClean="0"/>
              <a:t>。</a:t>
            </a:r>
            <a:endParaRPr lang="en-US" altLang="zh-CN" sz="2800" dirty="0" smtClean="0"/>
          </a:p>
          <a:p>
            <a:pPr indent="712788"/>
            <a:r>
              <a:rPr lang="zh-CN" altLang="en-US" sz="2800" dirty="0" smtClean="0"/>
              <a:t>其中</a:t>
            </a:r>
            <a:r>
              <a:rPr lang="zh-CN" altLang="en-US" sz="2800" dirty="0"/>
              <a:t>一个插件就是</a:t>
            </a:r>
            <a:r>
              <a:rPr lang="en-US" altLang="zh-CN" sz="2800" dirty="0" err="1"/>
              <a:t>PyDev</a:t>
            </a:r>
            <a:r>
              <a:rPr lang="zh-CN" altLang="en-US" sz="2800" dirty="0"/>
              <a:t>，它支持</a:t>
            </a:r>
            <a:r>
              <a:rPr lang="en-US" altLang="zh-CN" sz="2800" dirty="0"/>
              <a:t>Python</a:t>
            </a:r>
            <a:r>
              <a:rPr lang="zh-CN" altLang="en-US" sz="2800" dirty="0"/>
              <a:t>调试、代码补全和交互式</a:t>
            </a:r>
            <a:r>
              <a:rPr lang="en-US" altLang="zh-CN" sz="2800" dirty="0"/>
              <a:t>Python</a:t>
            </a:r>
            <a:r>
              <a:rPr lang="zh-CN" altLang="en-US" sz="2800" dirty="0" smtClean="0"/>
              <a:t>控制台，是开源的</a:t>
            </a:r>
            <a:r>
              <a:rPr lang="en-US" altLang="zh-CN" sz="2800" dirty="0" smtClean="0"/>
              <a:t>IDE</a:t>
            </a:r>
            <a:r>
              <a:rPr lang="zh-CN" altLang="en-US" sz="2800" dirty="0" smtClean="0"/>
              <a:t>开发工具。在</a:t>
            </a:r>
            <a:r>
              <a:rPr lang="en-US" altLang="zh-CN" sz="2800" dirty="0"/>
              <a:t>Eclipse</a:t>
            </a:r>
            <a:r>
              <a:rPr lang="zh-CN" altLang="en-US" sz="2800" dirty="0"/>
              <a:t>中安装</a:t>
            </a:r>
            <a:r>
              <a:rPr lang="en-US" altLang="zh-CN" sz="2800" dirty="0" err="1" smtClean="0"/>
              <a:t>PyDev</a:t>
            </a:r>
            <a:r>
              <a:rPr lang="zh-CN" altLang="en-US" sz="2800" dirty="0" smtClean="0"/>
              <a:t>的安装方法：只需</a:t>
            </a:r>
            <a:r>
              <a:rPr lang="zh-CN" altLang="en-US" sz="2800" dirty="0"/>
              <a:t>从</a:t>
            </a:r>
            <a:r>
              <a:rPr lang="en-US" altLang="zh-CN" sz="2800" dirty="0"/>
              <a:t>Eclipse</a:t>
            </a:r>
            <a:r>
              <a:rPr lang="zh-CN" altLang="en-US" sz="2800" dirty="0"/>
              <a:t>中选择“</a:t>
            </a:r>
            <a:r>
              <a:rPr lang="en-US" altLang="zh-CN" sz="2800" dirty="0"/>
              <a:t>Help”</a:t>
            </a:r>
            <a:r>
              <a:rPr lang="zh-CN" altLang="en-US" sz="2800" dirty="0"/>
              <a:t>点击“</a:t>
            </a:r>
            <a:r>
              <a:rPr lang="en-US" altLang="zh-CN" sz="2800" dirty="0"/>
              <a:t>Eclipse Marketplace”</a:t>
            </a:r>
            <a:r>
              <a:rPr lang="zh-CN" altLang="en-US" sz="2800" dirty="0"/>
              <a:t>然后搜索</a:t>
            </a:r>
            <a:r>
              <a:rPr lang="en-US" altLang="zh-CN" sz="2800" dirty="0" err="1"/>
              <a:t>PyDev</a:t>
            </a:r>
            <a:r>
              <a:rPr lang="zh-CN" altLang="en-US" sz="2800" dirty="0"/>
              <a:t>。点击安装，必要的时候重启</a:t>
            </a:r>
            <a:r>
              <a:rPr lang="en-US" altLang="zh-CN" sz="2800" dirty="0"/>
              <a:t>Eclipse</a:t>
            </a:r>
            <a:r>
              <a:rPr lang="zh-CN" altLang="en-US" sz="2800" dirty="0"/>
              <a:t>即</a:t>
            </a:r>
            <a:r>
              <a:rPr lang="zh-CN" altLang="en-US" sz="2800" dirty="0" smtClean="0"/>
              <a:t>可。但要能够熟练使用，需要一定的开发经验。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188640"/>
            <a:ext cx="8305800" cy="720080"/>
          </a:xfrm>
        </p:spPr>
        <p:txBody>
          <a:bodyPr>
            <a:normAutofit fontScale="90000"/>
          </a:bodyPr>
          <a:lstStyle/>
          <a:p>
            <a:r>
              <a:rPr lang="en-US" altLang="zh-CN" b="1" dirty="0" smtClean="0"/>
              <a:t>4</a:t>
            </a:r>
            <a:r>
              <a:rPr lang="zh-CN" altLang="en-US" b="1" dirty="0" smtClean="0"/>
              <a:t>、</a:t>
            </a:r>
            <a:r>
              <a:rPr lang="en-US" altLang="zh-CN" b="1" dirty="0" smtClean="0"/>
              <a:t>Visual Studio</a:t>
            </a:r>
            <a:endParaRPr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0" y="1127641"/>
            <a:ext cx="896448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 smtClean="0"/>
              <a:t>类型：</a:t>
            </a:r>
            <a:r>
              <a:rPr lang="zh-CN" altLang="en-US" sz="2400" dirty="0"/>
              <a:t>集成开发平台</a:t>
            </a:r>
          </a:p>
          <a:p>
            <a:r>
              <a:rPr lang="zh-CN" altLang="en-US" sz="2400" b="1" dirty="0"/>
              <a:t>网址：</a:t>
            </a:r>
            <a:r>
              <a:rPr lang="en-US" altLang="zh-CN" sz="2400" dirty="0">
                <a:hlinkClick r:id="rId2"/>
              </a:rPr>
              <a:t>www.visualstudio.com/vs/</a:t>
            </a:r>
            <a:endParaRPr lang="en-US" altLang="zh-CN" sz="2400" dirty="0"/>
          </a:p>
          <a:p>
            <a:r>
              <a:rPr lang="en-US" altLang="zh-CN" sz="2400" b="1" dirty="0"/>
              <a:t>Python</a:t>
            </a:r>
            <a:r>
              <a:rPr lang="zh-CN" altLang="en-US" sz="2400" b="1" dirty="0"/>
              <a:t>工具：</a:t>
            </a:r>
            <a:r>
              <a:rPr lang="en-US" altLang="zh-CN" sz="2400" dirty="0"/>
              <a:t>Python Tools for Visual Studio, </a:t>
            </a:r>
            <a:r>
              <a:rPr lang="zh-CN" altLang="en-US" sz="2400" dirty="0"/>
              <a:t>也称</a:t>
            </a:r>
            <a:r>
              <a:rPr lang="en-US" altLang="zh-CN" sz="2400" dirty="0"/>
              <a:t>PTVS</a:t>
            </a:r>
          </a:p>
          <a:p>
            <a:pPr indent="628650"/>
            <a:r>
              <a:rPr lang="zh-CN" altLang="en-US" sz="2400" dirty="0"/>
              <a:t>与</a:t>
            </a:r>
            <a:r>
              <a:rPr lang="en-US" altLang="zh-CN" sz="2400" dirty="0"/>
              <a:t>Eclipse</a:t>
            </a:r>
            <a:r>
              <a:rPr lang="zh-CN" altLang="en-US" sz="2400" dirty="0"/>
              <a:t>进行多方面比较，由</a:t>
            </a:r>
            <a:r>
              <a:rPr lang="en-US" altLang="zh-CN" sz="2400" dirty="0"/>
              <a:t>Microsoft</a:t>
            </a:r>
            <a:r>
              <a:rPr lang="zh-CN" altLang="en-US" sz="2400" dirty="0"/>
              <a:t>建立的</a:t>
            </a:r>
            <a:r>
              <a:rPr lang="en-US" altLang="zh-CN" sz="2400" dirty="0"/>
              <a:t>Visual Studio</a:t>
            </a:r>
            <a:r>
              <a:rPr lang="zh-CN" altLang="en-US" sz="2400" dirty="0"/>
              <a:t>是一款全功能集成开发平台。</a:t>
            </a:r>
            <a:r>
              <a:rPr lang="en-US" altLang="zh-CN" sz="2400" dirty="0"/>
              <a:t>VS</a:t>
            </a:r>
            <a:r>
              <a:rPr lang="zh-CN" altLang="en-US" sz="2400" dirty="0"/>
              <a:t>仅兼容</a:t>
            </a:r>
            <a:r>
              <a:rPr lang="en-US" altLang="zh-CN" sz="2400" dirty="0"/>
              <a:t>Windows</a:t>
            </a:r>
            <a:r>
              <a:rPr lang="zh-CN" altLang="en-US" sz="2400" dirty="0"/>
              <a:t>和</a:t>
            </a:r>
            <a:r>
              <a:rPr lang="en-US" altLang="zh-CN" sz="2400" dirty="0"/>
              <a:t>Mac OS</a:t>
            </a:r>
            <a:r>
              <a:rPr lang="zh-CN" altLang="en-US" sz="2400" dirty="0"/>
              <a:t>系统，它既提供了免费版（社区版）也提供了付费版（专业版和企业版）。</a:t>
            </a:r>
            <a:r>
              <a:rPr lang="en-US" altLang="zh-CN" sz="2400" dirty="0"/>
              <a:t>VS</a:t>
            </a:r>
            <a:r>
              <a:rPr lang="zh-CN" altLang="en-US" sz="2400" dirty="0"/>
              <a:t>支持各种平台的开发，并且附带了自己的扩展插件市场。</a:t>
            </a:r>
          </a:p>
          <a:p>
            <a:pPr indent="628650"/>
            <a:r>
              <a:rPr lang="en-US" altLang="zh-CN" sz="2400" dirty="0"/>
              <a:t>Python Tools for Visual Studio (</a:t>
            </a:r>
            <a:r>
              <a:rPr lang="zh-CN" altLang="en-US" sz="2400" dirty="0"/>
              <a:t>又名</a:t>
            </a:r>
            <a:r>
              <a:rPr lang="en-US" altLang="zh-CN" sz="2400" dirty="0"/>
              <a:t>PTVS)</a:t>
            </a:r>
            <a:r>
              <a:rPr lang="zh-CN" altLang="en-US" sz="2400" dirty="0"/>
              <a:t>实现了在</a:t>
            </a:r>
            <a:r>
              <a:rPr lang="en-US" altLang="zh-CN" sz="2400" dirty="0"/>
              <a:t>VS</a:t>
            </a:r>
            <a:r>
              <a:rPr lang="zh-CN" altLang="en-US" sz="2400" dirty="0"/>
              <a:t>中进行</a:t>
            </a:r>
            <a:r>
              <a:rPr lang="en-US" altLang="zh-CN" sz="2400" dirty="0"/>
              <a:t>Python</a:t>
            </a:r>
            <a:r>
              <a:rPr lang="zh-CN" altLang="en-US" sz="2400" dirty="0"/>
              <a:t>编程并且支持</a:t>
            </a:r>
            <a:r>
              <a:rPr lang="en-US" altLang="zh-CN" sz="2400" dirty="0"/>
              <a:t>Python</a:t>
            </a:r>
            <a:r>
              <a:rPr lang="zh-CN" altLang="en-US" sz="2400" dirty="0"/>
              <a:t>智能感知、调试和其他工具</a:t>
            </a:r>
            <a:r>
              <a:rPr lang="zh-CN" altLang="en-US" sz="2400" dirty="0" smtClean="0"/>
              <a:t>。</a:t>
            </a:r>
            <a:endParaRPr lang="en-US" altLang="zh-CN" sz="2400" dirty="0" smtClean="0"/>
          </a:p>
          <a:p>
            <a:pPr indent="628650"/>
            <a:endParaRPr lang="zh-CN" altLang="en-US" sz="2400" dirty="0"/>
          </a:p>
          <a:p>
            <a:r>
              <a:rPr lang="zh-CN" altLang="en-US" sz="2400" b="1" dirty="0"/>
              <a:t>优点：</a:t>
            </a:r>
            <a:r>
              <a:rPr lang="zh-CN" altLang="en-US" sz="2400" dirty="0"/>
              <a:t>就像</a:t>
            </a:r>
            <a:r>
              <a:rPr lang="en-US" altLang="zh-CN" sz="2400" dirty="0"/>
              <a:t>Eclipse</a:t>
            </a:r>
            <a:r>
              <a:rPr lang="zh-CN" altLang="en-US" sz="2400" dirty="0"/>
              <a:t>一样，</a:t>
            </a:r>
            <a:r>
              <a:rPr lang="zh-CN" altLang="en-US" sz="2400" dirty="0" smtClean="0"/>
              <a:t>如果已经安装</a:t>
            </a:r>
            <a:r>
              <a:rPr lang="zh-CN" altLang="en-US" sz="2400" dirty="0"/>
              <a:t>了</a:t>
            </a:r>
            <a:r>
              <a:rPr lang="en-US" altLang="zh-CN" sz="2400" dirty="0"/>
              <a:t>VS</a:t>
            </a:r>
            <a:r>
              <a:rPr lang="zh-CN" altLang="en-US" sz="2400" dirty="0"/>
              <a:t>那么添加</a:t>
            </a:r>
            <a:r>
              <a:rPr lang="en-US" altLang="zh-CN" sz="2400" dirty="0"/>
              <a:t>PTVS</a:t>
            </a:r>
            <a:r>
              <a:rPr lang="zh-CN" altLang="en-US" sz="2400" dirty="0"/>
              <a:t>时非常</a:t>
            </a:r>
            <a:r>
              <a:rPr lang="zh-CN" altLang="en-US" sz="2400" dirty="0" smtClean="0"/>
              <a:t>便捷。</a:t>
            </a:r>
            <a:endParaRPr lang="zh-CN" altLang="en-US" sz="2400" dirty="0"/>
          </a:p>
          <a:p>
            <a:r>
              <a:rPr lang="zh-CN" altLang="en-US" sz="2400" b="1" dirty="0"/>
              <a:t>缺点：</a:t>
            </a:r>
            <a:r>
              <a:rPr lang="zh-CN" altLang="en-US" sz="2400" dirty="0"/>
              <a:t>和</a:t>
            </a:r>
            <a:r>
              <a:rPr lang="en-US" altLang="zh-CN" sz="2400" dirty="0"/>
              <a:t>Eclipse</a:t>
            </a:r>
            <a:r>
              <a:rPr lang="zh-CN" altLang="en-US" sz="2400" dirty="0"/>
              <a:t>相同如果仅仅为了</a:t>
            </a:r>
            <a:r>
              <a:rPr lang="en-US" altLang="zh-CN" sz="2400" dirty="0"/>
              <a:t>Python</a:t>
            </a:r>
            <a:r>
              <a:rPr lang="zh-CN" altLang="en-US" sz="2400" dirty="0"/>
              <a:t>，那么</a:t>
            </a:r>
            <a:r>
              <a:rPr lang="en-US" altLang="zh-CN" sz="2400" dirty="0"/>
              <a:t>VS</a:t>
            </a:r>
            <a:r>
              <a:rPr lang="zh-CN" altLang="en-US" sz="2400" dirty="0"/>
              <a:t>是一个大型下载任务。</a:t>
            </a:r>
            <a:r>
              <a:rPr lang="zh-CN" altLang="en-US" sz="2400" dirty="0" smtClean="0"/>
              <a:t>另外因为</a:t>
            </a:r>
            <a:r>
              <a:rPr lang="en-US" altLang="zh-CN" sz="2400" dirty="0"/>
              <a:t>VS</a:t>
            </a:r>
            <a:r>
              <a:rPr lang="zh-CN" altLang="en-US" sz="2400" dirty="0"/>
              <a:t>并不支持</a:t>
            </a:r>
            <a:r>
              <a:rPr lang="en-US" altLang="zh-CN" sz="2400" dirty="0" smtClean="0"/>
              <a:t>Linux</a:t>
            </a:r>
            <a:r>
              <a:rPr lang="zh-CN" altLang="en-US" sz="2400" dirty="0" smtClean="0"/>
              <a:t>系统</a:t>
            </a:r>
            <a:endParaRPr lang="zh-CN" altLang="en-US" sz="2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7544" y="908720"/>
            <a:ext cx="8305800" cy="1143000"/>
          </a:xfrm>
        </p:spPr>
        <p:txBody>
          <a:bodyPr>
            <a:normAutofit/>
          </a:bodyPr>
          <a:lstStyle/>
          <a:p>
            <a:r>
              <a:rPr lang="en-US" altLang="zh-CN" sz="3600" dirty="0" smtClean="0">
                <a:latin typeface="+mn-ea"/>
                <a:ea typeface="+mn-ea"/>
              </a:rPr>
              <a:t>5</a:t>
            </a:r>
            <a:r>
              <a:rPr lang="zh-CN" altLang="en-US" sz="3600" dirty="0" smtClean="0">
                <a:latin typeface="+mn-ea"/>
                <a:ea typeface="+mn-ea"/>
              </a:rPr>
              <a:t>、</a:t>
            </a:r>
            <a:r>
              <a:rPr lang="en-US" altLang="zh-CN" sz="3600" dirty="0" smtClean="0">
                <a:latin typeface="+mn-ea"/>
                <a:ea typeface="+mn-ea"/>
              </a:rPr>
              <a:t>Wing</a:t>
            </a:r>
            <a:br>
              <a:rPr lang="en-US" altLang="zh-CN" sz="3600" dirty="0" smtClean="0">
                <a:latin typeface="+mn-ea"/>
                <a:ea typeface="+mn-ea"/>
              </a:rPr>
            </a:br>
            <a:r>
              <a:rPr lang="zh-CN" altLang="en-US" sz="3600" b="1" dirty="0" smtClean="0">
                <a:latin typeface="+mn-ea"/>
                <a:ea typeface="+mn-ea"/>
              </a:rPr>
              <a:t>类别：</a:t>
            </a:r>
            <a:r>
              <a:rPr lang="zh-CN" altLang="en-US" sz="3600" dirty="0" smtClean="0">
                <a:latin typeface="+mn-ea"/>
                <a:ea typeface="+mn-ea"/>
              </a:rPr>
              <a:t>集成开发环境</a:t>
            </a:r>
            <a:endParaRPr lang="zh-CN" altLang="en-US" sz="3600" dirty="0">
              <a:latin typeface="+mn-ea"/>
              <a:ea typeface="+mn-e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552" y="2510894"/>
            <a:ext cx="803296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3600" dirty="0" smtClean="0"/>
              <a:t>特点：</a:t>
            </a:r>
            <a:endParaRPr lang="en-US" altLang="zh-CN" sz="3600" dirty="0" smtClean="0"/>
          </a:p>
          <a:p>
            <a:r>
              <a:rPr lang="zh-CN" altLang="en-US" sz="3600" dirty="0" smtClean="0"/>
              <a:t>公司维护，工具收费</a:t>
            </a:r>
            <a:endParaRPr lang="en-US" altLang="zh-CN" sz="3600" dirty="0" smtClean="0"/>
          </a:p>
          <a:p>
            <a:r>
              <a:rPr lang="zh-CN" altLang="en-US" sz="3600" dirty="0" smtClean="0"/>
              <a:t>调试功能丰富 </a:t>
            </a:r>
            <a:endParaRPr lang="en-US" altLang="zh-CN" sz="3600" dirty="0" smtClean="0"/>
          </a:p>
          <a:p>
            <a:r>
              <a:rPr lang="zh-CN" altLang="en-US" sz="3600" dirty="0" smtClean="0"/>
              <a:t>版本控制，版版本同步</a:t>
            </a:r>
            <a:endParaRPr lang="en-US" altLang="zh-CN" sz="3600" dirty="0" smtClean="0"/>
          </a:p>
          <a:p>
            <a:r>
              <a:rPr lang="zh-CN" altLang="en-US" sz="3600" dirty="0" smtClean="0"/>
              <a:t>适合共同开发合作，调试上万行的程序</a:t>
            </a:r>
            <a:endParaRPr lang="zh-CN" altLang="en-US" sz="3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8449816" cy="2538536"/>
          </a:xfrm>
        </p:spPr>
        <p:txBody>
          <a:bodyPr>
            <a:normAutofit/>
          </a:bodyPr>
          <a:lstStyle/>
          <a:p>
            <a:r>
              <a:rPr lang="zh-CN" altLang="en-US" sz="3200" dirty="0" smtClean="0"/>
              <a:t>四、针对科学计算和数据分析的</a:t>
            </a:r>
            <a:r>
              <a:rPr lang="en-US" altLang="zh-CN" sz="3200" dirty="0" smtClean="0"/>
              <a:t>IDE</a:t>
            </a:r>
            <a:br>
              <a:rPr lang="en-US" altLang="zh-CN" sz="3200" dirty="0" smtClean="0"/>
            </a:br>
            <a:r>
              <a:rPr lang="en-US" altLang="zh-CN" sz="3200" dirty="0" smtClean="0"/>
              <a:t>1</a:t>
            </a:r>
            <a:r>
              <a:rPr lang="zh-CN" altLang="en-US" sz="3200" dirty="0" smtClean="0"/>
              <a:t>、</a:t>
            </a:r>
            <a:r>
              <a:rPr lang="en-US" altLang="zh-CN" sz="3200" dirty="0" smtClean="0"/>
              <a:t> Anaconda </a:t>
            </a:r>
            <a:r>
              <a:rPr lang="zh-CN" altLang="en-US" sz="3200" dirty="0" smtClean="0"/>
              <a:t>开源、免费，支持近</a:t>
            </a:r>
            <a:r>
              <a:rPr lang="en-US" altLang="zh-CN" sz="3200" dirty="0" smtClean="0"/>
              <a:t>800</a:t>
            </a:r>
            <a:r>
              <a:rPr lang="zh-CN" altLang="en-US" sz="3200" dirty="0" smtClean="0"/>
              <a:t>个第三方库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r>
              <a:rPr lang="en-US" altLang="zh-CN" sz="3200" dirty="0" smtClean="0">
                <a:hlinkClick r:id="rId2"/>
              </a:rPr>
              <a:t>https://www.anaconda.com/products/individual</a:t>
            </a:r>
            <a:r>
              <a:rPr lang="en-US" altLang="zh-CN" sz="3200" dirty="0" smtClean="0"/>
              <a:t/>
            </a:r>
            <a:br>
              <a:rPr lang="en-US" altLang="zh-CN" sz="3200" dirty="0" smtClean="0"/>
            </a:br>
            <a:r>
              <a:rPr lang="en-US" altLang="zh-CN" sz="3200" dirty="0" smtClean="0"/>
              <a:t> </a:t>
            </a:r>
            <a:endParaRPr lang="zh-CN" altLang="en-US" sz="32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504" y="2781428"/>
            <a:ext cx="5220072" cy="29872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99584" y="3140968"/>
            <a:ext cx="3744416" cy="1659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28184" y="5013176"/>
            <a:ext cx="1266825" cy="1628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0" y="1700808"/>
            <a:ext cx="8449816" cy="854968"/>
          </a:xfrm>
          <a:prstGeom prst="rect">
            <a:avLst/>
          </a:prstGeom>
        </p:spPr>
        <p:txBody>
          <a:bodyPr>
            <a:normAutofit fontScale="400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/>
            </a:r>
            <a:br>
              <a:rPr kumimoji="0" lang="en-US" altLang="zh-CN" sz="5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zh-CN" sz="9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2</a:t>
            </a:r>
            <a:r>
              <a:rPr kumimoji="0" lang="zh-CN" altLang="en-US" sz="9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、</a:t>
            </a:r>
            <a:r>
              <a:rPr kumimoji="0" lang="en-US" altLang="zh-CN" sz="93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Spyder</a:t>
            </a:r>
            <a:r>
              <a:rPr kumimoji="0" lang="zh-CN" altLang="en-US" sz="93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的安装和使用</a:t>
            </a:r>
            <a:endParaRPr kumimoji="0" lang="zh-CN" altLang="en-US" sz="93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39552" y="3068960"/>
            <a:ext cx="828092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3200" dirty="0" smtClean="0"/>
          </a:p>
          <a:p>
            <a:r>
              <a:rPr lang="en-US" altLang="zh-CN" sz="3200" dirty="0" smtClean="0"/>
              <a:t>Anaconda IDE </a:t>
            </a:r>
            <a:r>
              <a:rPr lang="zh-CN" altLang="zh-CN" sz="3200" dirty="0" smtClean="0"/>
              <a:t>的基本使用（</a:t>
            </a:r>
            <a:r>
              <a:rPr lang="en-US" altLang="zh-CN" sz="3200" dirty="0" smtClean="0"/>
              <a:t>16:24</a:t>
            </a:r>
            <a:r>
              <a:rPr lang="zh-CN" altLang="zh-CN" sz="3200" dirty="0" smtClean="0"/>
              <a:t>）</a:t>
            </a:r>
            <a:endParaRPr lang="en-US" altLang="zh-CN" sz="3200" u="sng" dirty="0" smtClean="0">
              <a:hlinkClick r:id="rId2"/>
            </a:endParaRPr>
          </a:p>
          <a:p>
            <a:r>
              <a:rPr lang="en-US" altLang="zh-CN" sz="2800" u="sng" dirty="0" smtClean="0">
                <a:hlinkClick r:id="rId2"/>
              </a:rPr>
              <a:t>https://www.bilibili.com/video/BV1c4411k7Zf?p=3</a:t>
            </a:r>
            <a:endParaRPr lang="zh-CN" altLang="en-US" sz="2800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流畅">
  <a:themeElements>
    <a:clrScheme name="流畅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流畅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流畅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7604</TotalTime>
  <Words>880</Words>
  <Application>Microsoft Office PowerPoint</Application>
  <PresentationFormat>全屏显示(4:3)</PresentationFormat>
  <Paragraphs>77</Paragraphs>
  <Slides>14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流畅</vt:lpstr>
      <vt:lpstr>Python程序编程序工具 介绍</vt:lpstr>
      <vt:lpstr>学习参考链接：</vt:lpstr>
      <vt:lpstr>集成开发环境与代码编辑器（文本工具）</vt:lpstr>
      <vt:lpstr>一、常用Python 开发工具 （分以下二类）</vt:lpstr>
      <vt:lpstr>二、代码编辑器（文本工具）</vt:lpstr>
      <vt:lpstr>2、Sublime Text 网址：www.sublimetext.com 特点：语法高亮、自动补齐、不同顔色标注。</vt:lpstr>
      <vt:lpstr>三、Python集成开发工具 </vt:lpstr>
      <vt:lpstr>幻灯片 8</vt:lpstr>
      <vt:lpstr>幻灯片 9</vt:lpstr>
      <vt:lpstr>3、Eclipse + PyDev</vt:lpstr>
      <vt:lpstr>4、Visual Studio</vt:lpstr>
      <vt:lpstr>5、Wing 类别：集成开发环境</vt:lpstr>
      <vt:lpstr>四、针对科学计算和数据分析的IDE 1、 Anaconda 开源、免费，支持近800个第三方库 https://www.anaconda.com/products/individual  </vt:lpstr>
      <vt:lpstr>幻灯片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谢勍</dc:creator>
  <cp:lastModifiedBy>谢勍</cp:lastModifiedBy>
  <cp:revision>146</cp:revision>
  <dcterms:created xsi:type="dcterms:W3CDTF">2020-06-06T18:04:07Z</dcterms:created>
  <dcterms:modified xsi:type="dcterms:W3CDTF">2020-09-15T23:49:39Z</dcterms:modified>
</cp:coreProperties>
</file>