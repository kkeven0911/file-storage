
<file path=[Content_Types].xml><?xml version="1.0" encoding="utf-8"?>
<Types xmlns="http://schemas.openxmlformats.org/package/2006/content-types">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74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C1B1BD61-AAE0-45E6-BA51-9F112CA066B6}" type="datetimeFigureOut">
              <a:rPr lang="zh-CN" altLang="en-US" smtClean="0"/>
              <a:pPr/>
              <a:t>2020/9/16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62E8B8E-C189-416C-8046-6E477B171265}"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8488C4"/>
            </a:gs>
            <a:gs pos="53000">
              <a:srgbClr val="D4DEFF"/>
            </a:gs>
            <a:gs pos="83000">
              <a:srgbClr val="D4DEFF"/>
            </a:gs>
            <a:gs pos="100000">
              <a:srgbClr val="96AB94"/>
            </a:gs>
          </a:gsLst>
          <a:lin ang="5400000" scaled="0"/>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B1BD61-AAE0-45E6-BA51-9F112CA066B6}" type="datetimeFigureOut">
              <a:rPr lang="zh-CN" altLang="en-US" smtClean="0"/>
              <a:pPr/>
              <a:t>2020/9/16</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2E8B8E-C189-416C-8046-6E477B171265}"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smtClean="0"/>
              <a:t>《Python</a:t>
            </a:r>
            <a:r>
              <a:rPr lang="zh-CN" altLang="en-US" dirty="0" smtClean="0"/>
              <a:t>语言</a:t>
            </a:r>
            <a:r>
              <a:rPr lang="en-US" altLang="zh-CN" dirty="0" smtClean="0"/>
              <a:t>》</a:t>
            </a:r>
            <a:r>
              <a:rPr lang="zh-CN" altLang="en-US" dirty="0" smtClean="0"/>
              <a:t>教学内容等 </a:t>
            </a:r>
            <a:r>
              <a:rPr lang="en-US" altLang="zh-CN" dirty="0" smtClean="0"/>
              <a:t/>
            </a:r>
            <a:br>
              <a:rPr lang="en-US" altLang="zh-CN" dirty="0" smtClean="0"/>
            </a:br>
            <a:r>
              <a:rPr lang="zh-CN" altLang="en-US" dirty="0" smtClean="0"/>
              <a:t>（</a:t>
            </a:r>
            <a:r>
              <a:rPr lang="en-US" altLang="zh-CN" dirty="0" smtClean="0"/>
              <a:t>32</a:t>
            </a:r>
            <a:r>
              <a:rPr lang="zh-CN" altLang="en-US" dirty="0" smtClean="0"/>
              <a:t>课时）</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ChangeArrowheads="1"/>
          </p:cNvSpPr>
          <p:nvPr/>
        </p:nvSpPr>
        <p:spPr bwMode="auto">
          <a:xfrm>
            <a:off x="216024" y="2758276"/>
            <a:ext cx="8316416"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3556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课程名称：</a:t>
            </a:r>
            <a:r>
              <a:rPr kumimoji="0" lang="en-US" altLang="zh-CN"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Python</a:t>
            </a:r>
            <a:r>
              <a:rPr kumimoji="0" lang="zh-CN" altLang="en-US"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语言 </a:t>
            </a:r>
            <a:endParaRPr kumimoji="0" lang="zh-CN" altLang="en-US"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3556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学分</a:t>
            </a:r>
            <a:r>
              <a:rPr kumimoji="0" lang="zh-CN" altLang="en-US" sz="24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  </a:t>
            </a:r>
            <a:r>
              <a:rPr kumimoji="0" lang="en-US" altLang="zh-CN"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3</a:t>
            </a:r>
            <a:endParaRPr kumimoji="0" lang="en-US" alt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3556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学时：  </a:t>
            </a:r>
            <a:r>
              <a:rPr kumimoji="0" lang="en-US" altLang="zh-CN"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32</a:t>
            </a:r>
            <a:r>
              <a:rPr kumimoji="0" lang="zh-CN" altLang="en-US"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课时</a:t>
            </a:r>
            <a:endParaRPr kumimoji="0" lang="zh-CN" altLang="en-US"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3556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考核形式：</a:t>
            </a:r>
            <a:r>
              <a:rPr kumimoji="0" lang="zh-CN" altLang="en-US"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考查</a:t>
            </a:r>
            <a:endParaRPr kumimoji="0" lang="zh-CN" altLang="en-US"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ChangeArrowheads="1"/>
          </p:cNvSpPr>
          <p:nvPr/>
        </p:nvSpPr>
        <p:spPr bwMode="auto">
          <a:xfrm>
            <a:off x="827584" y="857038"/>
            <a:ext cx="7848872"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306388" algn="l" defTabSz="914400" rtl="0" eaLnBrk="1" fontAlgn="base" latinLnBrk="0" hangingPunct="1">
              <a:lnSpc>
                <a:spcPct val="100000"/>
              </a:lnSpc>
              <a:spcBef>
                <a:spcPct val="0"/>
              </a:spcBef>
              <a:spcAft>
                <a:spcPct val="0"/>
              </a:spcAft>
              <a:buClrTx/>
              <a:buSzTx/>
              <a:buFontTx/>
              <a:buNone/>
              <a:tabLst/>
            </a:pPr>
            <a:r>
              <a:rPr kumimoji="0" lang="zh-CN" sz="2400" b="1"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（一）课程教学目标</a:t>
            </a:r>
            <a:endParaRPr kumimoji="0" lang="zh-CN"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lvl="0" indent="304800" eaLnBrk="0" fontAlgn="base" hangingPunct="0">
              <a:spcBef>
                <a:spcPct val="0"/>
              </a:spcBef>
              <a:spcAft>
                <a:spcPct val="0"/>
              </a:spcAft>
            </a:pPr>
            <a:r>
              <a:rPr kumimoji="0" lang="zh-CN"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通过本课程的学习，使学生掌握</a:t>
            </a:r>
            <a:r>
              <a:rPr kumimoji="0" lang="en-US" altLang="zh-CN"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Python</a:t>
            </a:r>
            <a:r>
              <a:rPr kumimoji="0" lang="zh-CN" altLang="en-US"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语言基础语法，掌握函数、模块、类及面向对象语法，熟悉常用</a:t>
            </a:r>
            <a:r>
              <a:rPr kumimoji="0" lang="en-US" altLang="zh-CN"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Python</a:t>
            </a:r>
            <a:r>
              <a:rPr kumimoji="0" lang="zh-CN" altLang="en-US" sz="2400" b="0" i="0" u="none" strike="noStrike" cap="none" normalizeH="0" baseline="0" dirty="0" smtClean="0">
                <a:ln>
                  <a:noFill/>
                </a:ln>
                <a:solidFill>
                  <a:schemeClr val="tx1"/>
                </a:solidFill>
                <a:effectLst/>
                <a:latin typeface="宋体" pitchFamily="2" charset="-122"/>
                <a:ea typeface="宋体" pitchFamily="2" charset="-122"/>
                <a:cs typeface="Times New Roman" pitchFamily="18" charset="0"/>
              </a:rPr>
              <a:t>模块的使用，初步了解算法设计的概念。课程是入门级课程，基本不考虑学生背景的差异，旨在破除学生对计算机编程的陌生感和畏惧感，培养学生掌握基本的创新方法、具有追求创新的态度和意识，能够独立思考，分析问题，以及利用计算机编程解决实际问题的能力，为进一步学习后续相关课程及今后使用或开发结合本行业工作实际的应用程序奠定基础。此外，作为知识扩展，</a:t>
            </a:r>
            <a:r>
              <a:rPr lang="zh-CN" altLang="en-US" sz="2400" dirty="0" smtClean="0"/>
              <a:t>还会介绍</a:t>
            </a:r>
            <a:r>
              <a:rPr lang="zh-CN" altLang="zh-CN" sz="2400" dirty="0" smtClean="0"/>
              <a:t>第三</a:t>
            </a:r>
            <a:r>
              <a:rPr lang="zh-CN" altLang="zh-CN" sz="2400" dirty="0"/>
              <a:t>方库应用（</a:t>
            </a:r>
            <a:r>
              <a:rPr lang="en-US" altLang="zh-CN" sz="2400" dirty="0" err="1"/>
              <a:t>Numpy</a:t>
            </a:r>
            <a:r>
              <a:rPr lang="zh-CN" altLang="zh-CN" sz="2400" dirty="0"/>
              <a:t>、</a:t>
            </a:r>
            <a:r>
              <a:rPr lang="en-US" altLang="zh-CN" sz="2400" dirty="0" err="1" smtClean="0"/>
              <a:t>Matplotlib</a:t>
            </a:r>
            <a:r>
              <a:rPr lang="zh-CN" altLang="zh-CN" sz="2400" dirty="0" smtClean="0"/>
              <a:t>等）</a:t>
            </a:r>
            <a:r>
              <a:rPr lang="zh-CN" altLang="en-US" sz="2400" dirty="0" smtClean="0"/>
              <a:t>等内容</a:t>
            </a:r>
            <a:r>
              <a:rPr lang="zh-CN" altLang="zh-CN" sz="2400" dirty="0" smtClean="0"/>
              <a:t>，</a:t>
            </a:r>
            <a:r>
              <a:rPr lang="zh-CN" altLang="zh-CN" sz="2400" dirty="0"/>
              <a:t>使学生初步掌握在数据处理、以及数据可视化分析等</a:t>
            </a:r>
            <a:r>
              <a:rPr lang="zh-CN" altLang="zh-CN" sz="2400" dirty="0" smtClean="0"/>
              <a:t>方面</a:t>
            </a:r>
            <a:r>
              <a:rPr lang="zh-CN" altLang="en-US" sz="2400" dirty="0" smtClean="0"/>
              <a:t>的</a:t>
            </a:r>
            <a:r>
              <a:rPr lang="zh-CN" altLang="zh-CN" sz="2400" dirty="0" smtClean="0"/>
              <a:t>应用</a:t>
            </a:r>
            <a:r>
              <a:rPr lang="zh-CN" altLang="en-US" sz="2400" dirty="0" smtClean="0"/>
              <a:t>。</a:t>
            </a:r>
            <a:endParaRPr kumimoji="0" lang="zh-CN" altLang="en-US" sz="24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3"/>
          <p:cNvGraphicFramePr>
            <a:graphicFrameLocks noGrp="1"/>
          </p:cNvGraphicFramePr>
          <p:nvPr/>
        </p:nvGraphicFramePr>
        <p:xfrm>
          <a:off x="251520" y="404664"/>
          <a:ext cx="8640960" cy="6216239"/>
        </p:xfrm>
        <a:graphic>
          <a:graphicData uri="http://schemas.openxmlformats.org/drawingml/2006/table">
            <a:tbl>
              <a:tblPr/>
              <a:tblGrid>
                <a:gridCol w="650884"/>
                <a:gridCol w="3381564"/>
                <a:gridCol w="1224136"/>
                <a:gridCol w="2474513"/>
                <a:gridCol w="909863"/>
              </a:tblGrid>
              <a:tr h="432048">
                <a:tc>
                  <a:txBody>
                    <a:bodyPr/>
                    <a:lstStyle/>
                    <a:p>
                      <a:pPr algn="ctr">
                        <a:lnSpc>
                          <a:spcPts val="1900"/>
                        </a:lnSpc>
                        <a:spcAft>
                          <a:spcPts val="0"/>
                        </a:spcAft>
                      </a:pPr>
                      <a:r>
                        <a:rPr lang="zh-CN" sz="1800" kern="100" dirty="0">
                          <a:latin typeface="+mn-ea"/>
                          <a:ea typeface="+mn-ea"/>
                          <a:cs typeface="Times New Roman"/>
                        </a:rPr>
                        <a:t>序号</a:t>
                      </a:r>
                    </a:p>
                  </a:txBody>
                  <a:tcPr marL="60783" marR="6078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900"/>
                        </a:lnSpc>
                        <a:spcAft>
                          <a:spcPts val="0"/>
                        </a:spcAft>
                      </a:pPr>
                      <a:r>
                        <a:rPr lang="zh-CN" sz="1800" kern="100" dirty="0">
                          <a:latin typeface="+mn-ea"/>
                          <a:ea typeface="+mn-ea"/>
                          <a:cs typeface="Times New Roman"/>
                        </a:rPr>
                        <a:t>教学内容</a:t>
                      </a:r>
                    </a:p>
                  </a:txBody>
                  <a:tcPr marL="60783" marR="6078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900"/>
                        </a:lnSpc>
                        <a:spcAft>
                          <a:spcPts val="0"/>
                        </a:spcAft>
                      </a:pPr>
                      <a:r>
                        <a:rPr lang="zh-CN" sz="1800" kern="100">
                          <a:latin typeface="+mn-ea"/>
                          <a:ea typeface="+mn-ea"/>
                          <a:cs typeface="Times New Roman"/>
                        </a:rPr>
                        <a:t>总学时</a:t>
                      </a:r>
                    </a:p>
                  </a:txBody>
                  <a:tcPr marL="60783" marR="6078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900"/>
                        </a:lnSpc>
                        <a:spcAft>
                          <a:spcPts val="0"/>
                        </a:spcAft>
                      </a:pPr>
                      <a:r>
                        <a:rPr lang="zh-CN" sz="1800" kern="100" dirty="0">
                          <a:latin typeface="+mn-ea"/>
                          <a:ea typeface="+mn-ea"/>
                          <a:cs typeface="Times New Roman"/>
                        </a:rPr>
                        <a:t>教学方法或手段</a:t>
                      </a:r>
                    </a:p>
                  </a:txBody>
                  <a:tcPr marL="60783" marR="6078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1900"/>
                        </a:lnSpc>
                        <a:spcAft>
                          <a:spcPts val="0"/>
                        </a:spcAft>
                      </a:pPr>
                      <a:r>
                        <a:rPr lang="zh-CN" sz="1800" kern="100">
                          <a:latin typeface="+mn-ea"/>
                          <a:ea typeface="+mn-ea"/>
                          <a:cs typeface="Times New Roman"/>
                        </a:rPr>
                        <a:t>作业</a:t>
                      </a:r>
                    </a:p>
                  </a:txBody>
                  <a:tcPr marL="60783" marR="6078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60475">
                <a:tc>
                  <a:txBody>
                    <a:bodyPr/>
                    <a:lstStyle/>
                    <a:p>
                      <a:pPr algn="ctr">
                        <a:lnSpc>
                          <a:spcPts val="1900"/>
                        </a:lnSpc>
                        <a:spcAft>
                          <a:spcPts val="0"/>
                        </a:spcAft>
                      </a:pPr>
                      <a:r>
                        <a:rPr lang="en-US" sz="1800" kern="100" dirty="0">
                          <a:latin typeface="+mn-ea"/>
                          <a:ea typeface="+mn-ea"/>
                          <a:cs typeface="Times New Roman"/>
                        </a:rPr>
                        <a:t>1</a:t>
                      </a:r>
                      <a:endParaRPr lang="zh-CN" sz="1800" kern="100" dirty="0">
                        <a:latin typeface="+mn-ea"/>
                        <a:ea typeface="+mn-ea"/>
                        <a:cs typeface="Times New Roman"/>
                      </a:endParaRPr>
                    </a:p>
                  </a:txBody>
                  <a:tcPr marL="60783" marR="60783"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ts val="1900"/>
                        </a:lnSpc>
                        <a:spcAft>
                          <a:spcPts val="0"/>
                        </a:spcAft>
                      </a:pPr>
                      <a:r>
                        <a:rPr lang="zh-TW" altLang="zh-CN" sz="1800" kern="1200" dirty="0" smtClean="0">
                          <a:solidFill>
                            <a:schemeClr val="tx1"/>
                          </a:solidFill>
                          <a:latin typeface="+mn-ea"/>
                          <a:ea typeface="+mn-ea"/>
                          <a:cs typeface="+mn-cs"/>
                        </a:rPr>
                        <a:t>Python概述</a:t>
                      </a:r>
                      <a:endParaRPr lang="zh-CN" sz="1800" kern="100" dirty="0">
                        <a:latin typeface="+mn-ea"/>
                        <a:ea typeface="+mn-ea"/>
                        <a:cs typeface="Times New Roman"/>
                      </a:endParaRPr>
                    </a:p>
                  </a:txBody>
                  <a:tcPr marL="60783" marR="60783"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ts val="1900"/>
                        </a:lnSpc>
                        <a:spcAft>
                          <a:spcPts val="0"/>
                        </a:spcAft>
                      </a:pPr>
                      <a:r>
                        <a:rPr lang="en-US" altLang="zh-CN" sz="1800" kern="100" dirty="0" smtClean="0">
                          <a:latin typeface="+mn-ea"/>
                          <a:ea typeface="+mn-ea"/>
                          <a:cs typeface="Times New Roman"/>
                        </a:rPr>
                        <a:t>4</a:t>
                      </a:r>
                      <a:endParaRPr lang="zh-CN" sz="1800" kern="100" dirty="0">
                        <a:latin typeface="+mn-ea"/>
                        <a:ea typeface="+mn-ea"/>
                        <a:cs typeface="Times New Roman"/>
                      </a:endParaRPr>
                    </a:p>
                  </a:txBody>
                  <a:tcPr marL="60783" marR="60783"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ts val="1900"/>
                        </a:lnSpc>
                        <a:spcAft>
                          <a:spcPts val="0"/>
                        </a:spcAft>
                      </a:pPr>
                      <a:r>
                        <a:rPr lang="zh-CN" sz="1800" kern="100" dirty="0">
                          <a:latin typeface="+mn-ea"/>
                          <a:ea typeface="+mn-ea"/>
                          <a:cs typeface="Times New Roman"/>
                        </a:rPr>
                        <a:t>讲授、</a:t>
                      </a:r>
                      <a:r>
                        <a:rPr lang="zh-CN" sz="1800" kern="100" dirty="0" smtClean="0">
                          <a:latin typeface="+mn-ea"/>
                          <a:ea typeface="+mn-ea"/>
                          <a:cs typeface="Times New Roman"/>
                        </a:rPr>
                        <a:t>实验</a:t>
                      </a:r>
                      <a:r>
                        <a:rPr lang="zh-CN" altLang="en-US" sz="1800" kern="100" dirty="0" smtClean="0">
                          <a:latin typeface="+mn-ea"/>
                          <a:ea typeface="+mn-ea"/>
                          <a:cs typeface="Times New Roman"/>
                        </a:rPr>
                        <a:t>演示教学</a:t>
                      </a:r>
                      <a:endParaRPr lang="zh-CN" sz="1800" kern="100" dirty="0">
                        <a:latin typeface="+mn-ea"/>
                        <a:ea typeface="+mn-ea"/>
                        <a:cs typeface="Times New Roman"/>
                      </a:endParaRPr>
                    </a:p>
                  </a:txBody>
                  <a:tcPr marL="60783" marR="60783" marT="0" marB="0" anchor="ctr">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ts val="1900"/>
                        </a:lnSpc>
                        <a:spcAft>
                          <a:spcPts val="0"/>
                        </a:spcAft>
                      </a:pPr>
                      <a:r>
                        <a:rPr lang="en-US" altLang="zh-CN" sz="1800" kern="100" dirty="0" smtClean="0">
                          <a:latin typeface="+mn-ea"/>
                          <a:ea typeface="+mn-ea"/>
                          <a:cs typeface="Times New Roman"/>
                        </a:rPr>
                        <a:t>1</a:t>
                      </a:r>
                      <a:endParaRPr lang="zh-CN" sz="1800" kern="100" dirty="0">
                        <a:latin typeface="+mn-ea"/>
                        <a:ea typeface="+mn-ea"/>
                        <a:cs typeface="Times New Roman"/>
                      </a:endParaRPr>
                    </a:p>
                  </a:txBody>
                  <a:tcPr marL="60783" marR="60783" marT="0" marB="0" anchor="ctr">
                    <a:lnL>
                      <a:noFill/>
                    </a:lnL>
                    <a:lnR>
                      <a:noFill/>
                    </a:lnR>
                    <a:lnT w="12700" cap="flat" cmpd="sng" algn="ctr">
                      <a:solidFill>
                        <a:srgbClr val="000000"/>
                      </a:solidFill>
                      <a:prstDash val="solid"/>
                      <a:round/>
                      <a:headEnd type="none" w="med" len="med"/>
                      <a:tailEnd type="none" w="med" len="med"/>
                    </a:lnT>
                    <a:lnB>
                      <a:noFill/>
                    </a:lnB>
                  </a:tcPr>
                </a:tc>
              </a:tr>
              <a:tr h="459683">
                <a:tc>
                  <a:txBody>
                    <a:bodyPr/>
                    <a:lstStyle/>
                    <a:p>
                      <a:pPr algn="ctr">
                        <a:lnSpc>
                          <a:spcPts val="1900"/>
                        </a:lnSpc>
                        <a:spcAft>
                          <a:spcPts val="0"/>
                        </a:spcAft>
                      </a:pPr>
                      <a:r>
                        <a:rPr lang="en-US" sz="1800" kern="100">
                          <a:latin typeface="+mn-ea"/>
                          <a:ea typeface="+mn-ea"/>
                          <a:cs typeface="Times New Roman"/>
                        </a:rPr>
                        <a:t>2</a:t>
                      </a:r>
                      <a:endParaRPr lang="zh-CN" sz="1800" kern="100">
                        <a:latin typeface="+mn-ea"/>
                        <a:ea typeface="+mn-ea"/>
                        <a:cs typeface="Times New Roman"/>
                      </a:endParaRPr>
                    </a:p>
                  </a:txBody>
                  <a:tcPr marL="60783" marR="60783" marT="0" marB="0" anchor="ctr">
                    <a:lnL>
                      <a:noFill/>
                    </a:lnL>
                    <a:lnR>
                      <a:noFill/>
                    </a:lnR>
                    <a:lnT>
                      <a:noFill/>
                    </a:lnT>
                    <a:lnB>
                      <a:noFill/>
                    </a:lnB>
                  </a:tcPr>
                </a:tc>
                <a:tc>
                  <a:txBody>
                    <a:bodyPr/>
                    <a:lstStyle/>
                    <a:p>
                      <a:pPr marL="0" marR="0" indent="0" algn="ctr" defTabSz="914400" rtl="0" eaLnBrk="1" fontAlgn="auto" latinLnBrk="0" hangingPunct="1">
                        <a:lnSpc>
                          <a:spcPts val="1900"/>
                        </a:lnSpc>
                        <a:spcBef>
                          <a:spcPts val="0"/>
                        </a:spcBef>
                        <a:spcAft>
                          <a:spcPts val="0"/>
                        </a:spcAft>
                        <a:buClrTx/>
                        <a:buSzTx/>
                        <a:buFontTx/>
                        <a:buNone/>
                        <a:tabLst/>
                        <a:defRPr/>
                      </a:pPr>
                      <a:r>
                        <a:rPr lang="zh-TW" altLang="zh-CN" sz="1800" kern="1200" dirty="0" smtClean="0">
                          <a:solidFill>
                            <a:schemeClr val="tx1"/>
                          </a:solidFill>
                          <a:latin typeface="+mn-ea"/>
                          <a:ea typeface="+mn-ea"/>
                          <a:cs typeface="+mn-cs"/>
                        </a:rPr>
                        <a:t>Python语言基础知识</a:t>
                      </a:r>
                      <a:endParaRPr lang="zh-CN" altLang="zh-CN" sz="1800" kern="100" dirty="0" smtClean="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4</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altLang="zh-CN" sz="1800" kern="100" dirty="0" smtClean="0">
                          <a:latin typeface="+mn-ea"/>
                          <a:ea typeface="+mn-ea"/>
                          <a:cs typeface="Times New Roman"/>
                        </a:rPr>
                        <a:t>讲授、实验</a:t>
                      </a:r>
                      <a:r>
                        <a:rPr lang="zh-CN" altLang="en-US" sz="1800" kern="100" dirty="0" smtClean="0">
                          <a:latin typeface="+mn-ea"/>
                          <a:ea typeface="+mn-ea"/>
                          <a:cs typeface="Times New Roman"/>
                        </a:rPr>
                        <a:t>演示教学</a:t>
                      </a:r>
                      <a:endParaRPr lang="zh-CN" alt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sz="1800" kern="100" dirty="0" smtClean="0">
                          <a:latin typeface="+mn-ea"/>
                          <a:ea typeface="+mn-ea"/>
                          <a:cs typeface="Times New Roman"/>
                        </a:rPr>
                        <a:t>1</a:t>
                      </a:r>
                      <a:endParaRPr lang="en-US" sz="1800" kern="100" dirty="0">
                        <a:latin typeface="+mn-ea"/>
                        <a:ea typeface="+mn-ea"/>
                        <a:cs typeface="Times New Roman"/>
                      </a:endParaRPr>
                    </a:p>
                  </a:txBody>
                  <a:tcPr marL="60783" marR="60783" marT="0" marB="0" anchor="ctr">
                    <a:lnL>
                      <a:noFill/>
                    </a:lnL>
                    <a:lnR>
                      <a:noFill/>
                    </a:lnR>
                    <a:lnT>
                      <a:noFill/>
                    </a:lnT>
                    <a:lnB>
                      <a:noFill/>
                    </a:lnB>
                  </a:tcPr>
                </a:tc>
              </a:tr>
              <a:tr h="560475">
                <a:tc>
                  <a:txBody>
                    <a:bodyPr/>
                    <a:lstStyle/>
                    <a:p>
                      <a:pPr algn="ctr">
                        <a:lnSpc>
                          <a:spcPts val="1900"/>
                        </a:lnSpc>
                        <a:spcAft>
                          <a:spcPts val="0"/>
                        </a:spcAft>
                      </a:pPr>
                      <a:r>
                        <a:rPr lang="en-US" sz="1800" kern="100">
                          <a:latin typeface="+mn-ea"/>
                          <a:ea typeface="+mn-ea"/>
                          <a:cs typeface="Times New Roman"/>
                        </a:rPr>
                        <a:t>3</a:t>
                      </a:r>
                      <a:endParaRPr lang="zh-CN" sz="1800" kern="10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200" dirty="0" smtClean="0">
                          <a:solidFill>
                            <a:schemeClr val="tx1"/>
                          </a:solidFill>
                          <a:latin typeface="+mn-ea"/>
                          <a:ea typeface="+mn-ea"/>
                          <a:cs typeface="+mn-cs"/>
                        </a:rPr>
                        <a:t>Python</a:t>
                      </a:r>
                      <a:r>
                        <a:rPr lang="zh-CN" altLang="zh-CN" sz="1800" kern="1200" dirty="0" smtClean="0">
                          <a:solidFill>
                            <a:schemeClr val="tx1"/>
                          </a:solidFill>
                          <a:latin typeface="+mn-ea"/>
                          <a:ea typeface="+mn-ea"/>
                          <a:cs typeface="+mn-cs"/>
                        </a:rPr>
                        <a:t>程序设计</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sz="1800" kern="100" dirty="0" smtClean="0">
                          <a:latin typeface="+mn-ea"/>
                          <a:ea typeface="+mn-ea"/>
                          <a:cs typeface="Times New Roman"/>
                        </a:rPr>
                        <a:t>6</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sz="1800" kern="100" dirty="0">
                          <a:latin typeface="+mn-ea"/>
                          <a:ea typeface="+mn-ea"/>
                          <a:cs typeface="Times New Roman"/>
                        </a:rPr>
                        <a:t>讲授、</a:t>
                      </a:r>
                      <a:r>
                        <a:rPr lang="zh-CN" sz="1800" kern="100" dirty="0" smtClean="0">
                          <a:latin typeface="+mn-ea"/>
                          <a:ea typeface="+mn-ea"/>
                          <a:cs typeface="Times New Roman"/>
                        </a:rPr>
                        <a:t>实验</a:t>
                      </a:r>
                      <a:r>
                        <a:rPr lang="zh-CN" altLang="en-US" sz="1800" kern="100" dirty="0" smtClean="0">
                          <a:latin typeface="+mn-ea"/>
                          <a:ea typeface="+mn-ea"/>
                          <a:cs typeface="Times New Roman"/>
                        </a:rPr>
                        <a:t>演示</a:t>
                      </a:r>
                      <a:r>
                        <a:rPr lang="zh-CN" sz="1800" kern="100" dirty="0" smtClean="0">
                          <a:latin typeface="+mn-ea"/>
                          <a:ea typeface="+mn-ea"/>
                          <a:cs typeface="Times New Roman"/>
                        </a:rPr>
                        <a:t>教学</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sz="1800" kern="100">
                          <a:latin typeface="+mn-ea"/>
                          <a:ea typeface="+mn-ea"/>
                          <a:cs typeface="Times New Roman"/>
                        </a:rPr>
                        <a:t>2</a:t>
                      </a:r>
                      <a:endParaRPr lang="zh-CN" sz="1800" kern="100">
                        <a:latin typeface="+mn-ea"/>
                        <a:ea typeface="+mn-ea"/>
                        <a:cs typeface="Times New Roman"/>
                      </a:endParaRPr>
                    </a:p>
                  </a:txBody>
                  <a:tcPr marL="60783" marR="60783" marT="0" marB="0" anchor="ctr">
                    <a:lnL>
                      <a:noFill/>
                    </a:lnL>
                    <a:lnR>
                      <a:noFill/>
                    </a:lnR>
                    <a:lnT>
                      <a:noFill/>
                    </a:lnT>
                    <a:lnB>
                      <a:noFill/>
                    </a:lnB>
                  </a:tcPr>
                </a:tc>
              </a:tr>
              <a:tr h="560475">
                <a:tc>
                  <a:txBody>
                    <a:bodyPr/>
                    <a:lstStyle/>
                    <a:p>
                      <a:pPr algn="ctr">
                        <a:lnSpc>
                          <a:spcPts val="1900"/>
                        </a:lnSpc>
                        <a:spcAft>
                          <a:spcPts val="0"/>
                        </a:spcAft>
                      </a:pPr>
                      <a:r>
                        <a:rPr lang="en-US" sz="1800" kern="100">
                          <a:latin typeface="+mn-ea"/>
                          <a:ea typeface="+mn-ea"/>
                          <a:cs typeface="Times New Roman"/>
                        </a:rPr>
                        <a:t>4</a:t>
                      </a:r>
                      <a:endParaRPr lang="zh-CN" sz="1800" kern="10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sz="1800" kern="100" dirty="0" smtClean="0">
                          <a:latin typeface="+mn-ea"/>
                          <a:ea typeface="+mn-ea"/>
                          <a:cs typeface="Times New Roman"/>
                        </a:rPr>
                        <a:t>函数</a:t>
                      </a:r>
                      <a:r>
                        <a:rPr lang="zh-CN" altLang="en-US" sz="1800" kern="100" dirty="0" smtClean="0">
                          <a:latin typeface="+mn-ea"/>
                          <a:ea typeface="+mn-ea"/>
                          <a:cs typeface="Times New Roman"/>
                        </a:rPr>
                        <a:t>及调用</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sz="1800" kern="100" dirty="0" smtClean="0">
                          <a:latin typeface="+mn-ea"/>
                          <a:ea typeface="+mn-ea"/>
                          <a:cs typeface="Times New Roman"/>
                        </a:rPr>
                        <a:t>2</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sz="1800" kern="100" dirty="0">
                          <a:latin typeface="+mn-ea"/>
                          <a:ea typeface="+mn-ea"/>
                          <a:cs typeface="Times New Roman"/>
                        </a:rPr>
                        <a:t>讲授、</a:t>
                      </a:r>
                      <a:r>
                        <a:rPr lang="zh-CN" sz="1800" kern="100" dirty="0" smtClean="0">
                          <a:latin typeface="+mn-ea"/>
                          <a:ea typeface="+mn-ea"/>
                          <a:cs typeface="Times New Roman"/>
                        </a:rPr>
                        <a:t>实验</a:t>
                      </a:r>
                      <a:r>
                        <a:rPr lang="zh-CN" altLang="en-US" sz="1800" kern="100" dirty="0" smtClean="0">
                          <a:latin typeface="+mn-ea"/>
                          <a:ea typeface="+mn-ea"/>
                          <a:cs typeface="Times New Roman"/>
                        </a:rPr>
                        <a:t>演示</a:t>
                      </a:r>
                      <a:r>
                        <a:rPr lang="zh-CN" sz="1800" kern="100" dirty="0" smtClean="0">
                          <a:latin typeface="+mn-ea"/>
                          <a:ea typeface="+mn-ea"/>
                          <a:cs typeface="Times New Roman"/>
                        </a:rPr>
                        <a:t>教学</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1</a:t>
                      </a:r>
                      <a:endParaRPr lang="zh-CN" sz="1800" kern="100" dirty="0">
                        <a:latin typeface="+mn-ea"/>
                        <a:ea typeface="+mn-ea"/>
                        <a:cs typeface="Times New Roman"/>
                      </a:endParaRPr>
                    </a:p>
                  </a:txBody>
                  <a:tcPr marL="60783" marR="60783" marT="0" marB="0" anchor="ctr">
                    <a:lnL>
                      <a:noFill/>
                    </a:lnL>
                    <a:lnR>
                      <a:noFill/>
                    </a:lnR>
                    <a:lnT>
                      <a:noFill/>
                    </a:lnT>
                    <a:lnB>
                      <a:noFill/>
                    </a:lnB>
                  </a:tcPr>
                </a:tc>
              </a:tr>
              <a:tr h="560475">
                <a:tc>
                  <a:txBody>
                    <a:bodyPr/>
                    <a:lstStyle/>
                    <a:p>
                      <a:pPr algn="ctr">
                        <a:lnSpc>
                          <a:spcPts val="1900"/>
                        </a:lnSpc>
                        <a:spcAft>
                          <a:spcPts val="0"/>
                        </a:spcAft>
                      </a:pPr>
                      <a:r>
                        <a:rPr lang="en-US" sz="1800" kern="100">
                          <a:latin typeface="+mn-ea"/>
                          <a:ea typeface="+mn-ea"/>
                          <a:cs typeface="Times New Roman"/>
                        </a:rPr>
                        <a:t>5</a:t>
                      </a:r>
                      <a:endParaRPr lang="zh-CN" sz="1800" kern="10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sz="1800" kern="100" dirty="0">
                          <a:latin typeface="+mn-ea"/>
                          <a:ea typeface="+mn-ea"/>
                          <a:cs typeface="Times New Roman"/>
                        </a:rPr>
                        <a:t>模块与</a:t>
                      </a:r>
                      <a:r>
                        <a:rPr lang="zh-CN" sz="1800" kern="100" dirty="0" smtClean="0">
                          <a:latin typeface="+mn-ea"/>
                          <a:ea typeface="+mn-ea"/>
                          <a:cs typeface="Times New Roman"/>
                        </a:rPr>
                        <a:t>包</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sz="1800" kern="100" dirty="0" smtClean="0">
                          <a:latin typeface="+mn-ea"/>
                          <a:ea typeface="+mn-ea"/>
                          <a:cs typeface="Times New Roman"/>
                        </a:rPr>
                        <a:t>2</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sz="1800" kern="100" dirty="0">
                          <a:latin typeface="+mn-ea"/>
                          <a:ea typeface="+mn-ea"/>
                          <a:cs typeface="Times New Roman"/>
                        </a:rPr>
                        <a:t>讲授、</a:t>
                      </a:r>
                      <a:r>
                        <a:rPr lang="zh-CN" sz="1800" kern="100" dirty="0" smtClean="0">
                          <a:latin typeface="+mn-ea"/>
                          <a:ea typeface="+mn-ea"/>
                          <a:cs typeface="Times New Roman"/>
                        </a:rPr>
                        <a:t>实验</a:t>
                      </a:r>
                      <a:r>
                        <a:rPr lang="zh-CN" altLang="en-US" sz="1800" kern="100" dirty="0" smtClean="0">
                          <a:latin typeface="+mn-ea"/>
                          <a:ea typeface="+mn-ea"/>
                          <a:cs typeface="Times New Roman"/>
                        </a:rPr>
                        <a:t>演示</a:t>
                      </a:r>
                      <a:r>
                        <a:rPr lang="zh-CN" sz="1800" kern="100" dirty="0" smtClean="0">
                          <a:latin typeface="+mn-ea"/>
                          <a:ea typeface="+mn-ea"/>
                          <a:cs typeface="Times New Roman"/>
                        </a:rPr>
                        <a:t>教学</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1</a:t>
                      </a:r>
                      <a:endParaRPr lang="zh-CN" sz="1800" kern="100" dirty="0">
                        <a:latin typeface="+mn-ea"/>
                        <a:ea typeface="+mn-ea"/>
                        <a:cs typeface="Times New Roman"/>
                      </a:endParaRPr>
                    </a:p>
                  </a:txBody>
                  <a:tcPr marL="60783" marR="60783" marT="0" marB="0" anchor="ctr">
                    <a:lnL>
                      <a:noFill/>
                    </a:lnL>
                    <a:lnR>
                      <a:noFill/>
                    </a:lnR>
                    <a:lnT>
                      <a:noFill/>
                    </a:lnT>
                    <a:lnB>
                      <a:noFill/>
                    </a:lnB>
                  </a:tcPr>
                </a:tc>
              </a:tr>
              <a:tr h="560475">
                <a:tc>
                  <a:txBody>
                    <a:bodyPr/>
                    <a:lstStyle/>
                    <a:p>
                      <a:pPr algn="ctr">
                        <a:lnSpc>
                          <a:spcPts val="1900"/>
                        </a:lnSpc>
                        <a:spcAft>
                          <a:spcPts val="0"/>
                        </a:spcAft>
                      </a:pPr>
                      <a:r>
                        <a:rPr lang="en-US" altLang="zh-CN" sz="1800" kern="100" dirty="0" smtClean="0">
                          <a:latin typeface="+mn-ea"/>
                          <a:ea typeface="+mn-ea"/>
                          <a:cs typeface="Times New Roman"/>
                        </a:rPr>
                        <a:t>6</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altLang="en-US" sz="1800" kern="100" dirty="0" smtClean="0">
                          <a:latin typeface="+mn-ea"/>
                          <a:ea typeface="+mn-ea"/>
                          <a:cs typeface="Times New Roman"/>
                        </a:rPr>
                        <a:t>文件操作</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2</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marL="0" marR="0" indent="0" algn="ctr" defTabSz="914400" rtl="0" eaLnBrk="1" fontAlgn="auto" latinLnBrk="0" hangingPunct="1">
                        <a:lnSpc>
                          <a:spcPts val="1900"/>
                        </a:lnSpc>
                        <a:spcBef>
                          <a:spcPts val="0"/>
                        </a:spcBef>
                        <a:spcAft>
                          <a:spcPts val="0"/>
                        </a:spcAft>
                        <a:buClrTx/>
                        <a:buSzTx/>
                        <a:buFontTx/>
                        <a:buNone/>
                        <a:tabLst/>
                        <a:defRPr/>
                      </a:pPr>
                      <a:r>
                        <a:rPr lang="zh-CN" altLang="zh-CN" sz="1800" kern="100" dirty="0" smtClean="0">
                          <a:latin typeface="+mn-ea"/>
                          <a:ea typeface="+mn-ea"/>
                          <a:cs typeface="Times New Roman"/>
                        </a:rPr>
                        <a:t>讲授、实验</a:t>
                      </a:r>
                      <a:r>
                        <a:rPr lang="zh-CN" altLang="en-US" sz="1800" kern="100" dirty="0" smtClean="0">
                          <a:latin typeface="+mn-ea"/>
                          <a:ea typeface="+mn-ea"/>
                          <a:cs typeface="Times New Roman"/>
                        </a:rPr>
                        <a:t>演示</a:t>
                      </a:r>
                      <a:r>
                        <a:rPr lang="zh-CN" altLang="zh-CN" sz="1800" kern="100" dirty="0" smtClean="0">
                          <a:latin typeface="+mn-ea"/>
                          <a:ea typeface="+mn-ea"/>
                          <a:cs typeface="Times New Roman"/>
                        </a:rPr>
                        <a:t>教学</a:t>
                      </a: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1</a:t>
                      </a:r>
                      <a:endParaRPr lang="zh-CN" sz="1800" kern="100" dirty="0">
                        <a:latin typeface="+mn-ea"/>
                        <a:ea typeface="+mn-ea"/>
                        <a:cs typeface="Times New Roman"/>
                      </a:endParaRPr>
                    </a:p>
                  </a:txBody>
                  <a:tcPr marL="60783" marR="60783" marT="0" marB="0" anchor="ctr">
                    <a:lnL>
                      <a:noFill/>
                    </a:lnL>
                    <a:lnR>
                      <a:noFill/>
                    </a:lnR>
                    <a:lnT>
                      <a:noFill/>
                    </a:lnT>
                    <a:lnB>
                      <a:noFill/>
                    </a:lnB>
                  </a:tcPr>
                </a:tc>
              </a:tr>
              <a:tr h="560475">
                <a:tc>
                  <a:txBody>
                    <a:bodyPr/>
                    <a:lstStyle/>
                    <a:p>
                      <a:pPr algn="ctr">
                        <a:lnSpc>
                          <a:spcPts val="1900"/>
                        </a:lnSpc>
                        <a:spcAft>
                          <a:spcPts val="0"/>
                        </a:spcAft>
                      </a:pPr>
                      <a:r>
                        <a:rPr lang="en-US" sz="1800" kern="100" dirty="0" smtClean="0">
                          <a:latin typeface="+mn-ea"/>
                          <a:ea typeface="+mn-ea"/>
                          <a:cs typeface="Times New Roman"/>
                        </a:rPr>
                        <a:t>7</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sz="1800" kern="100" dirty="0">
                          <a:latin typeface="+mn-ea"/>
                          <a:ea typeface="+mn-ea"/>
                          <a:cs typeface="Times New Roman"/>
                        </a:rPr>
                        <a:t>类及面向对象</a:t>
                      </a: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4</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sz="1800" kern="100" dirty="0">
                          <a:latin typeface="+mn-ea"/>
                          <a:ea typeface="+mn-ea"/>
                          <a:cs typeface="Times New Roman"/>
                        </a:rPr>
                        <a:t>讲授、</a:t>
                      </a:r>
                      <a:r>
                        <a:rPr lang="zh-CN" sz="1800" kern="100" dirty="0" smtClean="0">
                          <a:latin typeface="+mn-ea"/>
                          <a:ea typeface="+mn-ea"/>
                          <a:cs typeface="Times New Roman"/>
                        </a:rPr>
                        <a:t>实验</a:t>
                      </a:r>
                      <a:r>
                        <a:rPr lang="zh-CN" altLang="en-US" sz="1800" kern="100" dirty="0" smtClean="0">
                          <a:latin typeface="+mn-ea"/>
                          <a:ea typeface="+mn-ea"/>
                          <a:cs typeface="Times New Roman"/>
                        </a:rPr>
                        <a:t>演示</a:t>
                      </a:r>
                      <a:r>
                        <a:rPr lang="zh-CN" sz="1800" kern="100" dirty="0" smtClean="0">
                          <a:latin typeface="+mn-ea"/>
                          <a:ea typeface="+mn-ea"/>
                          <a:cs typeface="Times New Roman"/>
                        </a:rPr>
                        <a:t>教学</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1</a:t>
                      </a:r>
                      <a:endParaRPr lang="zh-CN" sz="1800" kern="100" dirty="0">
                        <a:latin typeface="+mn-ea"/>
                        <a:ea typeface="+mn-ea"/>
                        <a:cs typeface="Times New Roman"/>
                      </a:endParaRPr>
                    </a:p>
                  </a:txBody>
                  <a:tcPr marL="60783" marR="60783" marT="0" marB="0" anchor="ctr">
                    <a:lnL>
                      <a:noFill/>
                    </a:lnL>
                    <a:lnR>
                      <a:noFill/>
                    </a:lnR>
                    <a:lnT>
                      <a:noFill/>
                    </a:lnT>
                    <a:lnB>
                      <a:noFill/>
                    </a:lnB>
                  </a:tcPr>
                </a:tc>
              </a:tr>
              <a:tr h="560475">
                <a:tc>
                  <a:txBody>
                    <a:bodyPr/>
                    <a:lstStyle/>
                    <a:p>
                      <a:pPr algn="ctr">
                        <a:lnSpc>
                          <a:spcPts val="1900"/>
                        </a:lnSpc>
                        <a:spcAft>
                          <a:spcPts val="0"/>
                        </a:spcAft>
                      </a:pPr>
                      <a:r>
                        <a:rPr lang="en-US" sz="1800" kern="100" dirty="0" smtClean="0">
                          <a:latin typeface="+mn-ea"/>
                          <a:ea typeface="+mn-ea"/>
                          <a:cs typeface="Times New Roman"/>
                        </a:rPr>
                        <a:t>8</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err="1" smtClean="0">
                          <a:latin typeface="+mn-ea"/>
                          <a:ea typeface="+mn-ea"/>
                          <a:cs typeface="Times New Roman"/>
                        </a:rPr>
                        <a:t>Numpy</a:t>
                      </a:r>
                      <a:r>
                        <a:rPr lang="zh-CN" altLang="en-US" sz="1800" kern="100" dirty="0" smtClean="0">
                          <a:latin typeface="+mn-ea"/>
                          <a:ea typeface="+mn-ea"/>
                          <a:cs typeface="Times New Roman"/>
                        </a:rPr>
                        <a:t>的使用</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2</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sz="1800" kern="100" dirty="0">
                          <a:latin typeface="+mn-ea"/>
                          <a:ea typeface="+mn-ea"/>
                          <a:cs typeface="Times New Roman"/>
                        </a:rPr>
                        <a:t>讲授、</a:t>
                      </a:r>
                      <a:r>
                        <a:rPr lang="zh-CN" sz="1800" kern="100" dirty="0" smtClean="0">
                          <a:latin typeface="+mn-ea"/>
                          <a:ea typeface="+mn-ea"/>
                          <a:cs typeface="Times New Roman"/>
                        </a:rPr>
                        <a:t>实验</a:t>
                      </a:r>
                      <a:r>
                        <a:rPr lang="zh-CN" altLang="en-US" sz="1800" kern="100" dirty="0" smtClean="0">
                          <a:latin typeface="+mn-ea"/>
                          <a:ea typeface="+mn-ea"/>
                          <a:cs typeface="Times New Roman"/>
                        </a:rPr>
                        <a:t>演示</a:t>
                      </a:r>
                      <a:r>
                        <a:rPr lang="zh-CN" sz="1800" kern="100" dirty="0" smtClean="0">
                          <a:latin typeface="+mn-ea"/>
                          <a:ea typeface="+mn-ea"/>
                          <a:cs typeface="Times New Roman"/>
                        </a:rPr>
                        <a:t>教学</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sz="1800" kern="100" dirty="0" smtClean="0">
                          <a:latin typeface="+mn-ea"/>
                          <a:ea typeface="+mn-ea"/>
                          <a:cs typeface="Times New Roman"/>
                        </a:rPr>
                        <a:t>1</a:t>
                      </a:r>
                    </a:p>
                  </a:txBody>
                  <a:tcPr marL="60783" marR="60783" marT="0" marB="0" anchor="ctr">
                    <a:lnL>
                      <a:noFill/>
                    </a:lnL>
                    <a:lnR>
                      <a:noFill/>
                    </a:lnR>
                    <a:lnT>
                      <a:noFill/>
                    </a:lnT>
                    <a:lnB>
                      <a:noFill/>
                    </a:lnB>
                  </a:tcPr>
                </a:tc>
              </a:tr>
              <a:tr h="560475">
                <a:tc>
                  <a:txBody>
                    <a:bodyPr/>
                    <a:lstStyle/>
                    <a:p>
                      <a:pPr algn="ctr">
                        <a:lnSpc>
                          <a:spcPts val="1900"/>
                        </a:lnSpc>
                        <a:spcAft>
                          <a:spcPts val="0"/>
                        </a:spcAft>
                      </a:pPr>
                      <a:r>
                        <a:rPr lang="en-US" sz="1800" kern="100" dirty="0" smtClean="0">
                          <a:latin typeface="+mn-ea"/>
                          <a:ea typeface="+mn-ea"/>
                          <a:cs typeface="Times New Roman"/>
                        </a:rPr>
                        <a:t>9</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err="1" smtClean="0">
                          <a:latin typeface="+mn-ea"/>
                          <a:ea typeface="+mn-ea"/>
                          <a:cs typeface="Times New Roman"/>
                        </a:rPr>
                        <a:t>Matplotlib</a:t>
                      </a:r>
                      <a:r>
                        <a:rPr lang="zh-CN" altLang="en-US" sz="1800" kern="100" dirty="0" smtClean="0">
                          <a:latin typeface="+mn-ea"/>
                          <a:ea typeface="+mn-ea"/>
                          <a:cs typeface="Times New Roman"/>
                        </a:rPr>
                        <a:t>的使用</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sz="1800" kern="100" dirty="0">
                          <a:latin typeface="+mn-ea"/>
                          <a:ea typeface="+mn-ea"/>
                          <a:cs typeface="Times New Roman"/>
                        </a:rPr>
                        <a:t>2</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sz="1800" kern="100" dirty="0">
                          <a:latin typeface="+mn-ea"/>
                          <a:ea typeface="+mn-ea"/>
                          <a:cs typeface="Times New Roman"/>
                        </a:rPr>
                        <a:t>讲授、</a:t>
                      </a:r>
                      <a:r>
                        <a:rPr lang="zh-CN" sz="1800" kern="100" dirty="0" smtClean="0">
                          <a:latin typeface="+mn-ea"/>
                          <a:ea typeface="+mn-ea"/>
                          <a:cs typeface="Times New Roman"/>
                        </a:rPr>
                        <a:t>实验</a:t>
                      </a:r>
                      <a:r>
                        <a:rPr lang="zh-CN" altLang="en-US" sz="1800" kern="100" dirty="0" smtClean="0">
                          <a:latin typeface="+mn-ea"/>
                          <a:ea typeface="+mn-ea"/>
                          <a:cs typeface="Times New Roman"/>
                        </a:rPr>
                        <a:t>演示</a:t>
                      </a:r>
                      <a:r>
                        <a:rPr lang="zh-CN" sz="1800" kern="100" dirty="0" smtClean="0">
                          <a:latin typeface="+mn-ea"/>
                          <a:ea typeface="+mn-ea"/>
                          <a:cs typeface="Times New Roman"/>
                        </a:rPr>
                        <a:t>教学</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sz="1800" kern="100" dirty="0">
                          <a:latin typeface="+mn-ea"/>
                          <a:ea typeface="+mn-ea"/>
                          <a:cs typeface="Times New Roman"/>
                        </a:rPr>
                        <a:t>1</a:t>
                      </a:r>
                      <a:endParaRPr lang="zh-CN" sz="1800" kern="100" dirty="0">
                        <a:latin typeface="+mn-ea"/>
                        <a:ea typeface="+mn-ea"/>
                        <a:cs typeface="Times New Roman"/>
                      </a:endParaRPr>
                    </a:p>
                  </a:txBody>
                  <a:tcPr marL="60783" marR="60783" marT="0" marB="0" anchor="ctr">
                    <a:lnL>
                      <a:noFill/>
                    </a:lnL>
                    <a:lnR>
                      <a:noFill/>
                    </a:lnR>
                    <a:lnT>
                      <a:noFill/>
                    </a:lnT>
                    <a:lnB>
                      <a:noFill/>
                    </a:lnB>
                  </a:tcPr>
                </a:tc>
              </a:tr>
              <a:tr h="280236">
                <a:tc>
                  <a:txBody>
                    <a:bodyPr/>
                    <a:lstStyle/>
                    <a:p>
                      <a:pPr algn="ctr">
                        <a:lnSpc>
                          <a:spcPts val="1900"/>
                        </a:lnSpc>
                        <a:spcAft>
                          <a:spcPts val="0"/>
                        </a:spcAft>
                      </a:pPr>
                      <a:r>
                        <a:rPr lang="en-US" sz="1800" kern="100" dirty="0" smtClean="0">
                          <a:latin typeface="+mn-ea"/>
                          <a:ea typeface="+mn-ea"/>
                          <a:cs typeface="Times New Roman"/>
                        </a:rPr>
                        <a:t>9</a:t>
                      </a:r>
                      <a:endParaRPr lang="en-US"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Pandas</a:t>
                      </a:r>
                      <a:r>
                        <a:rPr lang="zh-CN" altLang="en-US" sz="1800" kern="100" dirty="0" smtClean="0">
                          <a:latin typeface="+mn-ea"/>
                          <a:ea typeface="+mn-ea"/>
                          <a:cs typeface="Times New Roman"/>
                        </a:rPr>
                        <a:t>的使用（选讲）</a:t>
                      </a:r>
                      <a:endParaRPr lang="zh-CN" alt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2</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marL="0" marR="0" indent="0" algn="ctr" defTabSz="914400" rtl="0" eaLnBrk="1" fontAlgn="auto" latinLnBrk="0" hangingPunct="1">
                        <a:lnSpc>
                          <a:spcPts val="1900"/>
                        </a:lnSpc>
                        <a:spcBef>
                          <a:spcPts val="0"/>
                        </a:spcBef>
                        <a:spcAft>
                          <a:spcPts val="0"/>
                        </a:spcAft>
                        <a:buClrTx/>
                        <a:buSzTx/>
                        <a:buFontTx/>
                        <a:buNone/>
                        <a:tabLst/>
                        <a:defRPr/>
                      </a:pPr>
                      <a:r>
                        <a:rPr lang="zh-CN" altLang="zh-CN" sz="1800" kern="100" dirty="0" smtClean="0">
                          <a:latin typeface="+mn-ea"/>
                          <a:ea typeface="+mn-ea"/>
                          <a:cs typeface="Times New Roman"/>
                        </a:rPr>
                        <a:t>讲授、实验</a:t>
                      </a:r>
                      <a:r>
                        <a:rPr lang="zh-CN" altLang="en-US" sz="1800" kern="100" dirty="0" smtClean="0">
                          <a:latin typeface="+mn-ea"/>
                          <a:ea typeface="+mn-ea"/>
                          <a:cs typeface="Times New Roman"/>
                        </a:rPr>
                        <a:t>演示</a:t>
                      </a:r>
                      <a:r>
                        <a:rPr lang="zh-CN" altLang="zh-CN" sz="1800" kern="100" dirty="0" smtClean="0">
                          <a:latin typeface="+mn-ea"/>
                          <a:ea typeface="+mn-ea"/>
                          <a:cs typeface="Times New Roman"/>
                        </a:rPr>
                        <a:t>教学</a:t>
                      </a:r>
                    </a:p>
                  </a:txBody>
                  <a:tcPr marL="60783" marR="60783" marT="0" marB="0" anchor="ctr">
                    <a:lnL>
                      <a:noFill/>
                    </a:lnL>
                    <a:lnR>
                      <a:noFill/>
                    </a:lnR>
                    <a:lnT>
                      <a:noFill/>
                    </a:lnT>
                    <a:lnB>
                      <a:noFill/>
                    </a:lnB>
                  </a:tcPr>
                </a:tc>
                <a:tc>
                  <a:txBody>
                    <a:bodyPr/>
                    <a:lstStyle/>
                    <a:p>
                      <a:pPr algn="ctr">
                        <a:lnSpc>
                          <a:spcPts val="1900"/>
                        </a:lnSpc>
                        <a:spcAft>
                          <a:spcPts val="0"/>
                        </a:spcAft>
                      </a:pPr>
                      <a:r>
                        <a:rPr lang="en-US" sz="1800" kern="100" dirty="0" smtClean="0">
                          <a:latin typeface="+mn-ea"/>
                          <a:ea typeface="+mn-ea"/>
                          <a:cs typeface="Times New Roman"/>
                        </a:rPr>
                        <a:t>1</a:t>
                      </a:r>
                      <a:endParaRPr lang="en-US" sz="1800" kern="100" dirty="0">
                        <a:latin typeface="+mn-ea"/>
                        <a:ea typeface="+mn-ea"/>
                        <a:cs typeface="Times New Roman"/>
                      </a:endParaRPr>
                    </a:p>
                  </a:txBody>
                  <a:tcPr marL="60783" marR="60783" marT="0" marB="0" anchor="ctr">
                    <a:lnL>
                      <a:noFill/>
                    </a:lnL>
                    <a:lnR>
                      <a:noFill/>
                    </a:lnR>
                    <a:lnT>
                      <a:noFill/>
                    </a:lnT>
                    <a:lnB>
                      <a:noFill/>
                    </a:lnB>
                  </a:tcPr>
                </a:tc>
              </a:tr>
              <a:tr h="280236">
                <a:tc>
                  <a:txBody>
                    <a:bodyPr/>
                    <a:lstStyle/>
                    <a:p>
                      <a:pPr algn="ctr">
                        <a:lnSpc>
                          <a:spcPts val="1900"/>
                        </a:lnSpc>
                        <a:spcAft>
                          <a:spcPts val="0"/>
                        </a:spcAft>
                      </a:pPr>
                      <a:endParaRPr lang="en-US"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zh-CN" altLang="en-US" sz="1800" kern="100" dirty="0" smtClean="0">
                          <a:latin typeface="+mn-ea"/>
                          <a:ea typeface="+mn-ea"/>
                          <a:cs typeface="Times New Roman"/>
                        </a:rPr>
                        <a:t>机动</a:t>
                      </a:r>
                      <a:endParaRPr lang="zh-CN" alt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r>
                        <a:rPr lang="en-US" altLang="zh-CN" sz="1800" kern="100" dirty="0" smtClean="0">
                          <a:latin typeface="+mn-ea"/>
                          <a:ea typeface="+mn-ea"/>
                          <a:cs typeface="Times New Roman"/>
                        </a:rPr>
                        <a:t>2</a:t>
                      </a:r>
                      <a:endParaRPr lang="zh-CN"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endParaRPr lang="en-US" sz="1800" kern="100" dirty="0">
                        <a:latin typeface="+mn-ea"/>
                        <a:ea typeface="+mn-ea"/>
                        <a:cs typeface="Times New Roman"/>
                      </a:endParaRPr>
                    </a:p>
                  </a:txBody>
                  <a:tcPr marL="60783" marR="60783" marT="0" marB="0" anchor="ctr">
                    <a:lnL>
                      <a:noFill/>
                    </a:lnL>
                    <a:lnR>
                      <a:noFill/>
                    </a:lnR>
                    <a:lnT>
                      <a:noFill/>
                    </a:lnT>
                    <a:lnB>
                      <a:noFill/>
                    </a:lnB>
                  </a:tcPr>
                </a:tc>
                <a:tc>
                  <a:txBody>
                    <a:bodyPr/>
                    <a:lstStyle/>
                    <a:p>
                      <a:pPr algn="ctr">
                        <a:lnSpc>
                          <a:spcPts val="1900"/>
                        </a:lnSpc>
                        <a:spcAft>
                          <a:spcPts val="0"/>
                        </a:spcAft>
                      </a:pPr>
                      <a:endParaRPr lang="en-US" sz="1800" kern="100" dirty="0">
                        <a:latin typeface="+mn-ea"/>
                        <a:ea typeface="+mn-ea"/>
                        <a:cs typeface="Times New Roman"/>
                      </a:endParaRPr>
                    </a:p>
                  </a:txBody>
                  <a:tcPr marL="60783" marR="60783" marT="0" marB="0" anchor="ctr">
                    <a:lnL>
                      <a:noFill/>
                    </a:lnL>
                    <a:lnR>
                      <a:noFill/>
                    </a:lnR>
                    <a:lnT>
                      <a:noFill/>
                    </a:lnT>
                    <a:lnB>
                      <a:noFill/>
                    </a:lnB>
                  </a:tcPr>
                </a:tc>
              </a:tr>
              <a:tr h="280236">
                <a:tc>
                  <a:txBody>
                    <a:bodyPr/>
                    <a:lstStyle/>
                    <a:p>
                      <a:pPr algn="ctr">
                        <a:lnSpc>
                          <a:spcPts val="1900"/>
                        </a:lnSpc>
                        <a:spcAft>
                          <a:spcPts val="0"/>
                        </a:spcAft>
                      </a:pPr>
                      <a:endParaRPr lang="en-US" sz="1800" kern="100">
                        <a:latin typeface="+mn-ea"/>
                        <a:ea typeface="+mn-ea"/>
                        <a:cs typeface="Times New Roman"/>
                      </a:endParaRPr>
                    </a:p>
                  </a:txBody>
                  <a:tcPr marL="60783" marR="60783"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ts val="1900"/>
                        </a:lnSpc>
                        <a:spcAft>
                          <a:spcPts val="0"/>
                        </a:spcAft>
                      </a:pPr>
                      <a:r>
                        <a:rPr lang="zh-CN" sz="1800" kern="100">
                          <a:latin typeface="+mn-ea"/>
                          <a:ea typeface="+mn-ea"/>
                          <a:cs typeface="Times New Roman"/>
                        </a:rPr>
                        <a:t>合计</a:t>
                      </a:r>
                    </a:p>
                  </a:txBody>
                  <a:tcPr marL="60783" marR="60783"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ts val="1900"/>
                        </a:lnSpc>
                        <a:spcAft>
                          <a:spcPts val="0"/>
                        </a:spcAft>
                      </a:pPr>
                      <a:r>
                        <a:rPr lang="en-US" sz="1800" kern="100">
                          <a:latin typeface="+mn-ea"/>
                          <a:ea typeface="+mn-ea"/>
                          <a:cs typeface="Times New Roman"/>
                        </a:rPr>
                        <a:t>32</a:t>
                      </a:r>
                      <a:endParaRPr lang="zh-CN" sz="1800" kern="100">
                        <a:latin typeface="+mn-ea"/>
                        <a:ea typeface="+mn-ea"/>
                        <a:cs typeface="Times New Roman"/>
                      </a:endParaRPr>
                    </a:p>
                  </a:txBody>
                  <a:tcPr marL="60783" marR="60783"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ts val="1900"/>
                        </a:lnSpc>
                        <a:spcAft>
                          <a:spcPts val="0"/>
                        </a:spcAft>
                      </a:pPr>
                      <a:endParaRPr lang="en-US" sz="1800" kern="100" dirty="0">
                        <a:latin typeface="+mn-ea"/>
                        <a:ea typeface="+mn-ea"/>
                        <a:cs typeface="Times New Roman"/>
                      </a:endParaRPr>
                    </a:p>
                  </a:txBody>
                  <a:tcPr marL="60783" marR="60783"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ts val="1900"/>
                        </a:lnSpc>
                        <a:spcAft>
                          <a:spcPts val="0"/>
                        </a:spcAft>
                      </a:pPr>
                      <a:r>
                        <a:rPr lang="en-US" sz="1800" kern="100" dirty="0">
                          <a:latin typeface="+mn-ea"/>
                          <a:ea typeface="+mn-ea"/>
                          <a:cs typeface="Times New Roman"/>
                        </a:rPr>
                        <a:t>11</a:t>
                      </a:r>
                      <a:endParaRPr lang="zh-CN" sz="1800" kern="100" dirty="0">
                        <a:latin typeface="+mn-ea"/>
                        <a:ea typeface="+mn-ea"/>
                        <a:cs typeface="Times New Roman"/>
                      </a:endParaRPr>
                    </a:p>
                  </a:txBody>
                  <a:tcPr marL="60783" marR="60783" marT="0" marB="0" anchor="ctr">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1025" name="Rectangle 1"/>
          <p:cNvSpPr>
            <a:spLocks noChangeArrowheads="1"/>
          </p:cNvSpPr>
          <p:nvPr/>
        </p:nvSpPr>
        <p:spPr bwMode="auto">
          <a:xfrm>
            <a:off x="0" y="24589"/>
            <a:ext cx="2852063"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355600" algn="l" defTabSz="914400" rtl="0" eaLnBrk="1" fontAlgn="base" latinLnBrk="0" hangingPunct="1">
              <a:lnSpc>
                <a:spcPct val="100000"/>
              </a:lnSpc>
              <a:spcBef>
                <a:spcPct val="0"/>
              </a:spcBef>
              <a:spcAft>
                <a:spcPct val="0"/>
              </a:spcAft>
              <a:buClrTx/>
              <a:buSzTx/>
              <a:buFontTx/>
              <a:buNone/>
              <a:tabLst/>
            </a:pPr>
            <a:r>
              <a:rPr kumimoji="0" lang="zh-CN" sz="20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课程教学学时分配</a:t>
            </a:r>
            <a:r>
              <a:rPr kumimoji="0" lang="zh-CN" altLang="en-US" sz="2000" b="0" i="0" u="none" strike="noStrike" cap="none" normalizeH="0" baseline="0" dirty="0" smtClean="0">
                <a:ln>
                  <a:noFill/>
                </a:ln>
                <a:solidFill>
                  <a:schemeClr val="tx1"/>
                </a:solidFill>
                <a:effectLst/>
                <a:latin typeface="黑体" pitchFamily="49" charset="-122"/>
                <a:ea typeface="黑体" pitchFamily="49" charset="-122"/>
                <a:cs typeface="Times New Roman" pitchFamily="18" charset="0"/>
              </a:rPr>
              <a:t>  </a:t>
            </a:r>
            <a:endParaRPr kumimoji="0" lang="zh-CN" altLang="en-US" sz="20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179512" y="858780"/>
            <a:ext cx="8690119" cy="480131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lang="zh-CN" altLang="en-US" b="1" dirty="0" smtClean="0">
                <a:latin typeface="Calibri" pitchFamily="34" charset="0"/>
                <a:ea typeface="宋体" pitchFamily="2" charset="-122"/>
                <a:cs typeface="Times New Roman" pitchFamily="18" charset="0"/>
              </a:rPr>
              <a:t>三</a:t>
            </a:r>
            <a:r>
              <a:rPr kumimoji="0" lang="zh-CN" b="1"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a:t>
            </a:r>
            <a:r>
              <a:rPr kumimoji="0" lang="zh-CN" b="1"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教学方法</a:t>
            </a:r>
            <a:endParaRPr kumimoji="0" lang="zh-CN"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1. </a:t>
            </a:r>
            <a:r>
              <a:rPr kumimoji="0" lang="zh-CN" altLang="en-US"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以课堂讲授为主，演示实验为辅，课堂讨论、启发式的教学方法。</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en-US" altLang="zh-CN"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2. </a:t>
            </a:r>
            <a:r>
              <a:rPr kumimoji="0" lang="zh-CN" altLang="en-US"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加强互动教学，采用</a:t>
            </a:r>
            <a:r>
              <a:rPr kumimoji="0" lang="en-US" altLang="zh-CN"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MOOC</a:t>
            </a:r>
            <a:r>
              <a:rPr kumimoji="0" lang="zh-CN" altLang="en-US"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教学为辅助，学生参与讨论相结合，提高学生解决实际问题的能力。</a:t>
            </a:r>
            <a:endParaRPr kumimoji="0" lang="en-US" altLang="zh-CN"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endParaRPr lang="en-US" altLang="zh-CN" dirty="0">
              <a:latin typeface="Calibri" pitchFamily="34" charset="0"/>
              <a:ea typeface="宋体" pitchFamily="2" charset="-122"/>
              <a:cs typeface="Times New Roman"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en-US" altLang="zh-CN" b="0"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r>
              <a:rPr lang="zh-CN" altLang="en-US" b="1" dirty="0" smtClean="0">
                <a:latin typeface="Calibri" pitchFamily="34" charset="0"/>
                <a:ea typeface="宋体" pitchFamily="2" charset="-122"/>
                <a:cs typeface="Times New Roman" pitchFamily="18" charset="0"/>
              </a:rPr>
              <a:t>四</a:t>
            </a:r>
            <a:r>
              <a:rPr kumimoji="0" lang="zh-CN" altLang="en-US" b="1" i="0" u="none" strike="noStrike" cap="none" normalizeH="0" baseline="0" smtClean="0">
                <a:ln>
                  <a:noFill/>
                </a:ln>
                <a:solidFill>
                  <a:schemeClr val="tx1"/>
                </a:solidFill>
                <a:effectLst/>
                <a:latin typeface="Calibri" pitchFamily="34" charset="0"/>
                <a:ea typeface="宋体" pitchFamily="2" charset="-122"/>
                <a:cs typeface="Times New Roman" pitchFamily="18" charset="0"/>
              </a:rPr>
              <a:t>、</a:t>
            </a:r>
            <a:r>
              <a:rPr kumimoji="0" lang="zh-CN" altLang="en-US" b="1" i="0" u="none" strike="noStrike" cap="none" normalizeH="0" baseline="0" dirty="0" smtClean="0">
                <a:ln>
                  <a:noFill/>
                </a:ln>
                <a:solidFill>
                  <a:schemeClr val="tx1"/>
                </a:solidFill>
                <a:effectLst/>
                <a:latin typeface="Calibri" pitchFamily="34" charset="0"/>
                <a:ea typeface="宋体" pitchFamily="2" charset="-122"/>
                <a:cs typeface="Times New Roman" pitchFamily="18" charset="0"/>
              </a:rPr>
              <a:t>考核及成绩评定方式</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最终成绩由平时成绩、作业成绩、课堂学习、课堂互动与讨论、期末成绩等组合而成。各部分所占比例如下：</a:t>
            </a:r>
            <a:endParaRPr kumimoji="0" lang="en-US" altLang="zh-CN" b="0" i="0" u="none" strike="noStrike" cap="none" normalizeH="0" baseline="0" dirty="0" smtClean="0">
              <a:ln>
                <a:noFill/>
              </a:ln>
              <a:solidFill>
                <a:schemeClr val="tx1"/>
              </a:solidFill>
              <a:effectLst/>
              <a:latin typeface="Calibri"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Calibri" pitchFamily="34" charset="0"/>
                <a:ea typeface="宋体" pitchFamily="2" charset="-122"/>
                <a:cs typeface="宋体" pitchFamily="2" charset="-122"/>
              </a:rPr>
              <a:t>平时成绩：</a:t>
            </a:r>
            <a:r>
              <a:rPr lang="en-US" altLang="zh-CN" dirty="0" smtClean="0">
                <a:latin typeface="Calibri" pitchFamily="34" charset="0"/>
                <a:ea typeface="宋体" pitchFamily="2" charset="-122"/>
                <a:cs typeface="宋体" pitchFamily="2" charset="-122"/>
              </a:rPr>
              <a:t>1</a:t>
            </a:r>
            <a:r>
              <a:rPr kumimoji="0" lang="en-US" altLang="zh-CN"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0%</a:t>
            </a:r>
            <a:r>
              <a:rPr lang="zh-CN" altLang="en-US" dirty="0">
                <a:latin typeface="Calibri" pitchFamily="34" charset="0"/>
                <a:ea typeface="宋体" pitchFamily="2" charset="-122"/>
                <a:cs typeface="宋体" pitchFamily="2" charset="-122"/>
              </a:rPr>
              <a:t> </a:t>
            </a:r>
            <a:r>
              <a:rPr lang="zh-CN" altLang="en-US" dirty="0" smtClean="0">
                <a:latin typeface="Calibri" pitchFamily="34" charset="0"/>
                <a:ea typeface="宋体" pitchFamily="2" charset="-122"/>
                <a:cs typeface="宋体" pitchFamily="2" charset="-122"/>
              </a:rPr>
              <a:t>  </a:t>
            </a:r>
            <a:r>
              <a:rPr kumimoji="0" lang="zh-CN" altLang="en-US"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出勤以及课堂情况。</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Calibri" pitchFamily="34" charset="0"/>
                <a:ea typeface="宋体" pitchFamily="2" charset="-122"/>
                <a:cs typeface="宋体" pitchFamily="2" charset="-122"/>
              </a:rPr>
              <a:t>课堂学习：</a:t>
            </a:r>
            <a:r>
              <a:rPr lang="en-US" altLang="zh-CN" dirty="0" smtClean="0">
                <a:latin typeface="Calibri" pitchFamily="34" charset="0"/>
                <a:ea typeface="宋体" pitchFamily="2" charset="-122"/>
                <a:cs typeface="宋体" pitchFamily="2" charset="-122"/>
              </a:rPr>
              <a:t>2</a:t>
            </a:r>
            <a:r>
              <a:rPr kumimoji="0" lang="en-US" altLang="zh-CN" i="0" u="none" strike="noStrike" cap="none" normalizeH="0" baseline="0" dirty="0" smtClean="0">
                <a:ln>
                  <a:noFill/>
                </a:ln>
                <a:solidFill>
                  <a:schemeClr val="tx1"/>
                </a:solidFill>
                <a:effectLst/>
                <a:latin typeface="Calibri" pitchFamily="34" charset="0"/>
                <a:ea typeface="宋体" pitchFamily="2" charset="-122"/>
                <a:cs typeface="宋体" pitchFamily="2" charset="-122"/>
              </a:rPr>
              <a:t>0%</a:t>
            </a:r>
            <a:r>
              <a:rPr lang="zh-CN" altLang="en-US" dirty="0">
                <a:latin typeface="Calibri" pitchFamily="34" charset="0"/>
                <a:ea typeface="宋体" pitchFamily="2" charset="-122"/>
                <a:cs typeface="宋体" pitchFamily="2" charset="-122"/>
              </a:rPr>
              <a:t> </a:t>
            </a:r>
            <a:r>
              <a:rPr lang="zh-CN" altLang="en-US" dirty="0" smtClean="0">
                <a:latin typeface="Calibri" pitchFamily="34" charset="0"/>
                <a:ea typeface="宋体" pitchFamily="2" charset="-122"/>
                <a:cs typeface="宋体" pitchFamily="2" charset="-122"/>
              </a:rPr>
              <a:t>   </a:t>
            </a:r>
            <a:r>
              <a:rPr kumimoji="0" lang="zh-CN" altLang="en-US"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完成课堂学习任务的情况。</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Calibri" pitchFamily="34" charset="0"/>
                <a:ea typeface="宋体" pitchFamily="2" charset="-122"/>
                <a:cs typeface="宋体" pitchFamily="2" charset="-122"/>
              </a:rPr>
              <a:t>互动与讨论：</a:t>
            </a:r>
            <a:r>
              <a:rPr lang="en-US" altLang="zh-CN" dirty="0" smtClean="0">
                <a:latin typeface="Calibri" pitchFamily="34" charset="0"/>
                <a:ea typeface="宋体" pitchFamily="2" charset="-122"/>
                <a:cs typeface="宋体" pitchFamily="2" charset="-122"/>
              </a:rPr>
              <a:t>2</a:t>
            </a:r>
            <a:r>
              <a:rPr kumimoji="0" lang="en-US" altLang="zh-CN"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0%</a:t>
            </a:r>
            <a:r>
              <a:rPr lang="zh-CN" altLang="en-US" dirty="0">
                <a:latin typeface="Calibri" pitchFamily="34" charset="0"/>
                <a:ea typeface="宋体" pitchFamily="2" charset="-122"/>
                <a:cs typeface="宋体" pitchFamily="2" charset="-122"/>
              </a:rPr>
              <a:t> </a:t>
            </a:r>
            <a:r>
              <a:rPr lang="zh-CN" altLang="en-US" dirty="0" smtClean="0">
                <a:latin typeface="Calibri" pitchFamily="34" charset="0"/>
                <a:ea typeface="宋体" pitchFamily="2" charset="-122"/>
                <a:cs typeface="宋体" pitchFamily="2" charset="-122"/>
              </a:rPr>
              <a:t> </a:t>
            </a:r>
            <a:r>
              <a:rPr kumimoji="0" lang="zh-CN" altLang="en-US"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主要考核学习能力及思考分析问题的能力及参与能力。</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Calibri" pitchFamily="34" charset="0"/>
                <a:ea typeface="宋体" pitchFamily="2" charset="-122"/>
                <a:cs typeface="宋体" pitchFamily="2" charset="-122"/>
              </a:rPr>
              <a:t>作业成绩：</a:t>
            </a:r>
            <a:r>
              <a:rPr kumimoji="0" lang="en-US" altLang="zh-CN"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30%</a:t>
            </a:r>
            <a:r>
              <a:rPr lang="zh-CN" altLang="en-US" dirty="0">
                <a:latin typeface="Calibri" pitchFamily="34" charset="0"/>
                <a:ea typeface="宋体" pitchFamily="2" charset="-122"/>
                <a:cs typeface="宋体" pitchFamily="2" charset="-122"/>
              </a:rPr>
              <a:t> </a:t>
            </a:r>
            <a:r>
              <a:rPr lang="zh-CN" altLang="en-US" dirty="0" smtClean="0">
                <a:latin typeface="Calibri" pitchFamily="34" charset="0"/>
                <a:ea typeface="宋体" pitchFamily="2" charset="-122"/>
                <a:cs typeface="宋体" pitchFamily="2" charset="-122"/>
              </a:rPr>
              <a:t>  </a:t>
            </a:r>
            <a:r>
              <a:rPr kumimoji="0" lang="zh-CN" altLang="en-US"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主要考核对核心知识的理解程度，以小组作业或个人作业为考核依据。其中大作业占</a:t>
            </a:r>
            <a:r>
              <a:rPr kumimoji="0" lang="en-US" altLang="zh-CN"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15%</a:t>
            </a:r>
            <a:r>
              <a:rPr kumimoji="0" lang="zh-CN" altLang="en-US"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a:p>
            <a:pPr marL="0" marR="0" lvl="0" indent="266700" algn="l" defTabSz="914400" rtl="0" eaLnBrk="0" fontAlgn="base" latinLnBrk="0" hangingPunct="0">
              <a:lnSpc>
                <a:spcPct val="10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Calibri" pitchFamily="34" charset="0"/>
                <a:ea typeface="宋体" pitchFamily="2" charset="-122"/>
                <a:cs typeface="宋体" pitchFamily="2" charset="-122"/>
              </a:rPr>
              <a:t>期末上机测试：</a:t>
            </a:r>
            <a:r>
              <a:rPr kumimoji="0" lang="en-US" altLang="zh-CN" b="1" i="0" u="none" strike="noStrike" cap="none" normalizeH="0" baseline="0" dirty="0" smtClean="0">
                <a:ln>
                  <a:noFill/>
                </a:ln>
                <a:solidFill>
                  <a:schemeClr val="tx1"/>
                </a:solidFill>
                <a:effectLst/>
                <a:latin typeface="Calibri" pitchFamily="34" charset="0"/>
                <a:ea typeface="宋体" pitchFamily="2" charset="-122"/>
                <a:cs typeface="宋体" pitchFamily="2" charset="-122"/>
              </a:rPr>
              <a:t>20</a:t>
            </a:r>
            <a:r>
              <a:rPr kumimoji="0" lang="en-US" altLang="zh-CN"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a:t>
            </a:r>
            <a:r>
              <a:rPr kumimoji="0" lang="zh-CN" altLang="en-US" b="0" i="0" u="none" strike="noStrike" cap="none" normalizeH="0" baseline="0" dirty="0" smtClean="0">
                <a:ln>
                  <a:noFill/>
                </a:ln>
                <a:solidFill>
                  <a:schemeClr val="tx1"/>
                </a:solidFill>
                <a:effectLst/>
                <a:latin typeface="Calibri" pitchFamily="34" charset="0"/>
                <a:ea typeface="宋体" pitchFamily="2" charset="-122"/>
                <a:cs typeface="宋体" pitchFamily="2" charset="-122"/>
              </a:rPr>
              <a:t>。试题或小论文等。</a:t>
            </a:r>
            <a:endParaRPr kumimoji="0" lang="zh-CN" altLang="en-US"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484</Words>
  <Application>Microsoft Office PowerPoint</Application>
  <PresentationFormat>全屏显示(4:3)</PresentationFormat>
  <Paragraphs>82</Paragraphs>
  <Slides>5</Slides>
  <Notes>0</Notes>
  <HiddenSlides>0</HiddenSlides>
  <MMClips>0</MMClips>
  <ScaleCrop>false</ScaleCrop>
  <HeadingPairs>
    <vt:vector size="4" baseType="variant">
      <vt:variant>
        <vt:lpstr>主题</vt:lpstr>
      </vt:variant>
      <vt:variant>
        <vt:i4>1</vt:i4>
      </vt:variant>
      <vt:variant>
        <vt:lpstr>幻灯片标题</vt:lpstr>
      </vt:variant>
      <vt:variant>
        <vt:i4>5</vt:i4>
      </vt:variant>
    </vt:vector>
  </HeadingPairs>
  <TitlesOfParts>
    <vt:vector size="6" baseType="lpstr">
      <vt:lpstr>Office 主题</vt:lpstr>
      <vt:lpstr>《Python语言》教学内容等  （32课时）</vt:lpstr>
      <vt:lpstr>幻灯片 2</vt:lpstr>
      <vt:lpstr>幻灯片 3</vt:lpstr>
      <vt:lpstr>幻灯片 4</vt:lpstr>
      <vt:lpstr>幻灯片 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教学大纲</dc:title>
  <dc:creator>谢勍</dc:creator>
  <cp:lastModifiedBy>谢勍</cp:lastModifiedBy>
  <cp:revision>23</cp:revision>
  <dcterms:created xsi:type="dcterms:W3CDTF">2020-09-15T20:29:31Z</dcterms:created>
  <dcterms:modified xsi:type="dcterms:W3CDTF">2020-09-15T23:42:06Z</dcterms:modified>
</cp:coreProperties>
</file>