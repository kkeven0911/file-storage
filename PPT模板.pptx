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14996274" r:id="rId3"/>
    <p:sldId id="14996525" r:id="rId5"/>
    <p:sldId id="258" r:id="rId6"/>
    <p:sldId id="14996526" r:id="rId7"/>
  </p:sldIdLst>
  <p:sldSz cx="12192000" cy="6858000"/>
  <p:notesSz cx="7103745" cy="10234295"/>
  <p:embeddedFontLst>
    <p:embeddedFont>
      <p:font typeface="微软雅黑" panose="020B0503020204020204" pitchFamily="34" charset="-122"/>
      <p:regular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</p:embeddedFontLst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95C238-18E2-C6BD-062B-007D2C956E42}" name="cyp" initials="cyp" userId="cyp" providerId="None"/>
  <p188:author id="{FF239CC0-0F1D-EFFC-799F-5450B2E0A1BC}" name="C" initials="C" userId="C" providerId="None"/>
  <p188:author id="{85B69BE5-6EFE-E209-D69D-13849B57B4CA}" name="c" initials="c" userId="c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000"/>
    <a:srgbClr val="5898F5"/>
    <a:srgbClr val="F0F5FB"/>
    <a:srgbClr val="0841F0"/>
    <a:srgbClr val="4371F8"/>
    <a:srgbClr val="F2F2F2"/>
    <a:srgbClr val="C0595C"/>
    <a:srgbClr val="943C37"/>
    <a:srgbClr val="1E3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1141" autoAdjust="0"/>
  </p:normalViewPr>
  <p:slideViewPr>
    <p:cSldViewPr snapToGrid="0">
      <p:cViewPr>
        <p:scale>
          <a:sx n="100" d="100"/>
          <a:sy n="100" d="100"/>
        </p:scale>
        <p:origin x="366" y="9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5.xml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microsoft.com/office/2018/10/relationships/authors" Target="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  </a:t>
            </a:r>
            <a:r>
              <a:rPr lang="en-US" altLang="zh-CN" sz="1200" b="0" i="0" u="none" strike="noStrike" dirty="0">
                <a:solidFill>
                  <a:srgbClr val="000000"/>
                </a:solidFill>
              </a:rPr>
              <a:t>尊敬的各位领导、专家，大家下午好！今天我将为大家汇报我们强智科技关于“AI赋能·教管评一体化”的创新解决方案，探讨如何利用人工智能技术破解当前高校因材施教的困局，共同开启高等教育的新篇章。</a:t>
            </a:r>
            <a:endParaRPr lang="en-US" altLang="zh-CN" sz="1200" b="0" i="0" u="none" strike="noStrike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当前高等教育面临的现实困境。主要体现在三个方面：第一，因材施教难以真正落地，学生规模大、教师精力有限、数据分散是主要障碍。第二，教学、管理、评价环节相互割裂，数据不通，评价滞后，决策缺乏数据支撑。第三，传统的教务系统功能固化，缺乏AI能力，无法满足个性化培养和持续改进的需求。因此，我们得出核心结论：必须用人工智能来重构教、管、评一体化的人才培养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3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F8545-47DC-4FED-9B8E-C39F8740953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9"/>
            <a:ext cx="9144000" cy="165576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9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77F2D-B6D1-4B12-976B-AB9371EF6DE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610028"/>
            <a:ext cx="10307927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093F-C9CA-4141-B41D-C0BC80F38B3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1DC01-777F-42FD-9DE4-FA8860A5CA8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389B-3ACB-47F4-8D5A-4C9975B487A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F56-56FB-4CFE-BB5A-63F3FD760BA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5D2CF-3EB3-464F-8BC7-9A200BEF6BD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5"/>
            <a:ext cx="5817375" cy="509444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96288-F50D-41E3-98C5-8E3857CFDFB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9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9" cy="581183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090-6BB6-4CA8-A69D-33E24E2EADE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8FA-7B60-48CF-BD5C-201BBAE3FF4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8700" y="141317"/>
            <a:ext cx="9629775" cy="505591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3200" b="1" u="none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2" name="图片 11" descr="1"/>
          <p:cNvPicPr>
            <a:picLocks noChangeAspect="1"/>
          </p:cNvPicPr>
          <p:nvPr userDrawn="1"/>
        </p:nvPicPr>
        <p:blipFill rotWithShape="1">
          <a:blip r:embed="rId2"/>
          <a:srcRect t="5011" r="76271" b="85112"/>
          <a:stretch>
            <a:fillRect/>
          </a:stretch>
        </p:blipFill>
        <p:spPr>
          <a:xfrm>
            <a:off x="0" y="99753"/>
            <a:ext cx="2876204" cy="673331"/>
          </a:xfrm>
          <a:prstGeom prst="rect">
            <a:avLst/>
          </a:prstGeom>
        </p:spPr>
      </p:pic>
      <p:pic>
        <p:nvPicPr>
          <p:cNvPr id="3" name="图片 2" descr="logo2020 白"/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0519411" y="217712"/>
            <a:ext cx="1440000" cy="35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2020 白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5974" y="190339"/>
            <a:ext cx="1075286" cy="263445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29539" y="304258"/>
            <a:ext cx="252000" cy="36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438837" y="6362"/>
            <a:ext cx="8557701" cy="6352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1418665" y="160090"/>
            <a:ext cx="0" cy="31523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icture Placeholder 10"/>
          <p:cNvSpPr>
            <a:spLocks noGrp="1"/>
          </p:cNvSpPr>
          <p:nvPr>
            <p:ph type="pic" idx="21"/>
          </p:nvPr>
        </p:nvSpPr>
        <p:spPr>
          <a:xfrm>
            <a:off x="3718123" y="4122551"/>
            <a:ext cx="4757147" cy="10296002"/>
          </a:xfrm>
          <a:prstGeom prst="rect">
            <a:avLst/>
          </a:prstGeom>
        </p:spPr>
        <p:txBody>
          <a:bodyPr lIns="91439" tIns="45719" rIns="91439" bIns="45719"/>
          <a:lstStyle/>
          <a:p/>
        </p:txBody>
      </p:sp>
      <p:sp>
        <p:nvSpPr>
          <p:cNvPr id="17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463995" y="6223865"/>
            <a:ext cx="273606" cy="264970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教学及微应用体系">
    <p:bg>
      <p:bgPr>
        <a:gradFill>
          <a:gsLst>
            <a:gs pos="0">
              <a:srgbClr val="282D55"/>
            </a:gs>
            <a:gs pos="100000">
              <a:srgbClr val="11172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 flipV="1">
            <a:off x="431321" y="632610"/>
            <a:ext cx="11696774" cy="51756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平行四边形 10"/>
          <p:cNvSpPr/>
          <p:nvPr userDrawn="1"/>
        </p:nvSpPr>
        <p:spPr>
          <a:xfrm rot="10800000" flipV="1">
            <a:off x="6478436" y="181154"/>
            <a:ext cx="1454025" cy="378226"/>
          </a:xfrm>
          <a:prstGeom prst="parallelogram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教学及微应用体系</a:t>
            </a:r>
            <a:endParaRPr lang="zh-CN" altLang="en-US" sz="1200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平行四边形 11"/>
          <p:cNvSpPr/>
          <p:nvPr userDrawn="1"/>
        </p:nvSpPr>
        <p:spPr>
          <a:xfrm rot="10800000" flipV="1">
            <a:off x="7880705" y="181154"/>
            <a:ext cx="1454025" cy="378226"/>
          </a:xfrm>
          <a:prstGeom prst="parallelogram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教学质量体系</a:t>
            </a:r>
            <a:endParaRPr lang="zh-CN" altLang="en-US" sz="1200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平行四边形 12"/>
          <p:cNvSpPr/>
          <p:nvPr userDrawn="1"/>
        </p:nvSpPr>
        <p:spPr>
          <a:xfrm rot="10800000" flipV="1">
            <a:off x="9275146" y="181154"/>
            <a:ext cx="1454025" cy="378226"/>
          </a:xfrm>
          <a:prstGeom prst="parallelogram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zh-CN" altLang="en-US" sz="1200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平行四边形 13"/>
          <p:cNvSpPr/>
          <p:nvPr userDrawn="1"/>
        </p:nvSpPr>
        <p:spPr>
          <a:xfrm rot="10800000" flipV="1">
            <a:off x="10674070" y="181154"/>
            <a:ext cx="1454025" cy="378226"/>
          </a:xfrm>
          <a:prstGeom prst="parallelogram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教学服务门户</a:t>
            </a:r>
            <a:endParaRPr lang="zh-CN" altLang="en-US" sz="1200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9525" y="390946"/>
            <a:ext cx="252000" cy="36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 Regular" panose="020B0703020204020201" charset="-122"/>
              <a:ea typeface="Microsoft YaHei Regular" panose="020B0703020204020201" charset="-122"/>
            </a:endParaRPr>
          </a:p>
        </p:txBody>
      </p:sp>
      <p:sp>
        <p:nvSpPr>
          <p:cNvPr id="18" name="标题 6"/>
          <p:cNvSpPr>
            <a:spLocks noGrp="1"/>
          </p:cNvSpPr>
          <p:nvPr>
            <p:ph type="title"/>
          </p:nvPr>
        </p:nvSpPr>
        <p:spPr>
          <a:xfrm>
            <a:off x="309488" y="49087"/>
            <a:ext cx="6091311" cy="6352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2" y="226664"/>
            <a:ext cx="660400" cy="526075"/>
            <a:chOff x="8079205" y="715879"/>
            <a:chExt cx="1011946" cy="806117"/>
          </a:xfrm>
          <a:solidFill>
            <a:srgbClr val="7030A0">
              <a:alpha val="80000"/>
            </a:srgbClr>
          </a:solidFill>
        </p:grpSpPr>
        <p:sp>
          <p:nvSpPr>
            <p:cNvPr id="20" name="梯形 19"/>
            <p:cNvSpPr/>
            <p:nvPr/>
          </p:nvSpPr>
          <p:spPr>
            <a:xfrm rot="5400000">
              <a:off x="7880684" y="914400"/>
              <a:ext cx="806116" cy="409074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梯形 20"/>
            <p:cNvSpPr/>
            <p:nvPr/>
          </p:nvSpPr>
          <p:spPr>
            <a:xfrm rot="5400000">
              <a:off x="8182120" y="914401"/>
              <a:ext cx="806115" cy="409074"/>
            </a:xfrm>
            <a:prstGeom prst="trapezoid">
              <a:avLst/>
            </a:prstGeom>
            <a:solidFill>
              <a:srgbClr val="502CC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梯形 21"/>
            <p:cNvSpPr/>
            <p:nvPr/>
          </p:nvSpPr>
          <p:spPr>
            <a:xfrm rot="5400000">
              <a:off x="8483556" y="914401"/>
              <a:ext cx="806116" cy="409074"/>
            </a:xfrm>
            <a:prstGeom prst="trapezoid">
              <a:avLst/>
            </a:prstGeom>
            <a:solidFill>
              <a:srgbClr val="123CB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96" name="标题 1"/>
          <p:cNvSpPr>
            <a:spLocks noGrp="1"/>
          </p:cNvSpPr>
          <p:nvPr>
            <p:ph type="title"/>
          </p:nvPr>
        </p:nvSpPr>
        <p:spPr>
          <a:xfrm>
            <a:off x="660400" y="247453"/>
            <a:ext cx="6224878" cy="523220"/>
          </a:xfrm>
        </p:spPr>
        <p:txBody>
          <a:bodyPr wrap="square">
            <a:spAutoFit/>
          </a:bodyPr>
          <a:lstStyle>
            <a:lvl1pPr>
              <a:defRPr kumimoji="0" lang="zh-CN" altLang="en-US" sz="2800" b="1" i="0" u="none" strike="noStrike" cap="none" spc="0" normalizeH="0" baseline="0">
                <a:ln>
                  <a:noFill/>
                </a:ln>
                <a:solidFill>
                  <a:srgbClr val="123C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7994650" y="211455"/>
            <a:ext cx="1724025" cy="518795"/>
            <a:chOff x="2685028" y="2876682"/>
            <a:chExt cx="5502784" cy="1656004"/>
          </a:xfrm>
        </p:grpSpPr>
        <p:sp>
          <p:nvSpPr>
            <p:cNvPr id="23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5" name="图片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pic>
        <p:nvPicPr>
          <p:cNvPr id="4" name="图片 3" descr="qz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2695" y="186690"/>
            <a:ext cx="1841500" cy="531495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9926955" y="205740"/>
            <a:ext cx="25200" cy="46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056495" y="-412750"/>
            <a:ext cx="3098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1806222" y="857250"/>
            <a:ext cx="2376488" cy="5143500"/>
          </a:xfrm>
          <a:custGeom>
            <a:avLst/>
            <a:gdLst>
              <a:gd name="connsiteX0" fmla="*/ 203664 w 2376488"/>
              <a:gd name="connsiteY0" fmla="*/ 0 h 5143500"/>
              <a:gd name="connsiteX1" fmla="*/ 2173188 w 2376488"/>
              <a:gd name="connsiteY1" fmla="*/ 0 h 5143500"/>
              <a:gd name="connsiteX2" fmla="*/ 2251253 w 2376488"/>
              <a:gd name="connsiteY2" fmla="*/ 15761 h 5143500"/>
              <a:gd name="connsiteX3" fmla="*/ 2372673 w 2376488"/>
              <a:gd name="connsiteY3" fmla="*/ 163800 h 5143500"/>
              <a:gd name="connsiteX4" fmla="*/ 2376488 w 2376488"/>
              <a:gd name="connsiteY4" fmla="*/ 201644 h 5143500"/>
              <a:gd name="connsiteX5" fmla="*/ 2376488 w 2376488"/>
              <a:gd name="connsiteY5" fmla="*/ 4952244 h 5143500"/>
              <a:gd name="connsiteX6" fmla="*/ 2372673 w 2376488"/>
              <a:gd name="connsiteY6" fmla="*/ 4990088 h 5143500"/>
              <a:gd name="connsiteX7" fmla="*/ 2251253 w 2376488"/>
              <a:gd name="connsiteY7" fmla="*/ 5138128 h 5143500"/>
              <a:gd name="connsiteX8" fmla="*/ 2224641 w 2376488"/>
              <a:gd name="connsiteY8" fmla="*/ 5143500 h 5143500"/>
              <a:gd name="connsiteX9" fmla="*/ 152210 w 2376488"/>
              <a:gd name="connsiteY9" fmla="*/ 5143500 h 5143500"/>
              <a:gd name="connsiteX10" fmla="*/ 125599 w 2376488"/>
              <a:gd name="connsiteY10" fmla="*/ 5138128 h 5143500"/>
              <a:gd name="connsiteX11" fmla="*/ 0 w 2376488"/>
              <a:gd name="connsiteY11" fmla="*/ 4948643 h 5143500"/>
              <a:gd name="connsiteX12" fmla="*/ 0 w 2376488"/>
              <a:gd name="connsiteY12" fmla="*/ 205245 h 5143500"/>
              <a:gd name="connsiteX13" fmla="*/ 125599 w 2376488"/>
              <a:gd name="connsiteY13" fmla="*/ 15761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76488" h="5143500">
                <a:moveTo>
                  <a:pt x="203664" y="0"/>
                </a:moveTo>
                <a:lnTo>
                  <a:pt x="2173188" y="0"/>
                </a:lnTo>
                <a:lnTo>
                  <a:pt x="2251253" y="15761"/>
                </a:lnTo>
                <a:cubicBezTo>
                  <a:pt x="2312760" y="41776"/>
                  <a:pt x="2358976" y="96865"/>
                  <a:pt x="2372673" y="163800"/>
                </a:cubicBezTo>
                <a:lnTo>
                  <a:pt x="2376488" y="201644"/>
                </a:lnTo>
                <a:lnTo>
                  <a:pt x="2376488" y="4952244"/>
                </a:lnTo>
                <a:lnTo>
                  <a:pt x="2372673" y="4990088"/>
                </a:lnTo>
                <a:cubicBezTo>
                  <a:pt x="2358976" y="5057023"/>
                  <a:pt x="2312760" y="5112112"/>
                  <a:pt x="2251253" y="5138128"/>
                </a:cubicBezTo>
                <a:lnTo>
                  <a:pt x="2224641" y="5143500"/>
                </a:lnTo>
                <a:lnTo>
                  <a:pt x="152210" y="5143500"/>
                </a:lnTo>
                <a:lnTo>
                  <a:pt x="125599" y="5138128"/>
                </a:lnTo>
                <a:cubicBezTo>
                  <a:pt x="51789" y="5106909"/>
                  <a:pt x="0" y="5033824"/>
                  <a:pt x="0" y="4948643"/>
                </a:cubicBezTo>
                <a:lnTo>
                  <a:pt x="0" y="205245"/>
                </a:lnTo>
                <a:cubicBezTo>
                  <a:pt x="0" y="120064"/>
                  <a:pt x="51789" y="46979"/>
                  <a:pt x="125599" y="1576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252000" anchor="t">
            <a:noAutofit/>
          </a:bodyPr>
          <a:lstStyle>
            <a:lvl1pPr marL="0" indent="0" algn="ctr">
              <a:buNone/>
              <a:defRPr sz="2000">
                <a:latin typeface="Arial" panose="020B0604020202020204" pitchFamily="34" charset="0"/>
              </a:defRPr>
            </a:lvl1pPr>
          </a:lstStyle>
          <a:p>
            <a:r>
              <a:rPr lang="fr-FR" dirty="0"/>
              <a:t>Insert </a:t>
            </a:r>
            <a:r>
              <a:rPr lang="fr-FR" dirty="0" err="1"/>
              <a:t>picture</a:t>
            </a:r>
            <a:endParaRPr lang="fr-FR" dirty="0"/>
          </a:p>
        </p:txBody>
      </p:sp>
      <p:sp>
        <p:nvSpPr>
          <p:cNvPr id="6" name="Picture Placeholder 13"/>
          <p:cNvSpPr>
            <a:spLocks noGrp="1"/>
          </p:cNvSpPr>
          <p:nvPr>
            <p:ph type="pic" sz="quarter" idx="11" hasCustomPrompt="1"/>
          </p:nvPr>
        </p:nvSpPr>
        <p:spPr>
          <a:xfrm>
            <a:off x="5591176" y="2233613"/>
            <a:ext cx="754661" cy="220662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36000" rIns="0" bIns="0" anchor="t">
            <a:noAutofit/>
          </a:bodyPr>
          <a:lstStyle>
            <a:lvl1pPr marL="0" indent="0" algn="ctr"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fr-FR" dirty="0"/>
              <a:t>Logo</a:t>
            </a:r>
            <a:endParaRPr lang="fr-FR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5.jpe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EBBFD-9D24-41EC-A14C-F34CB0F2464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2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1274078" y="1655996"/>
            <a:ext cx="864000" cy="864000"/>
          </a:xfrm>
          <a:prstGeom prst="ellipse">
            <a:avLst/>
          </a:prstGeom>
          <a:gradFill>
            <a:gsLst>
              <a:gs pos="0">
                <a:srgbClr val="E44B28"/>
              </a:gs>
              <a:gs pos="64000">
                <a:srgbClr val="E64A26">
                  <a:alpha val="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335" y="1807210"/>
            <a:ext cx="12178030" cy="133794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pc="100" dirty="0">
                <a:gradFill>
                  <a:gsLst>
                    <a:gs pos="56000">
                      <a:schemeClr val="bg1"/>
                    </a:gs>
                    <a:gs pos="44000">
                      <a:schemeClr val="bg1"/>
                    </a:gs>
                    <a:gs pos="9000">
                      <a:srgbClr val="FB481E"/>
                    </a:gs>
                    <a:gs pos="93000">
                      <a:srgbClr val="0F4FFA"/>
                    </a:gs>
                  </a:gsLst>
                  <a:lin ang="30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湖南强智科技发展有限公司</a:t>
            </a:r>
            <a:endParaRPr lang="zh-CN" altLang="en-US" sz="5400" b="1" spc="100" dirty="0">
              <a:gradFill>
                <a:gsLst>
                  <a:gs pos="56000">
                    <a:schemeClr val="bg1"/>
                  </a:gs>
                  <a:gs pos="44000">
                    <a:schemeClr val="bg1"/>
                  </a:gs>
                  <a:gs pos="9000">
                    <a:srgbClr val="FB481E"/>
                  </a:gs>
                  <a:gs pos="93000">
                    <a:srgbClr val="0F4FFA"/>
                  </a:gs>
                </a:gsLst>
                <a:lin ang="30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92500" y="4224787"/>
            <a:ext cx="5219700" cy="471805"/>
            <a:chOff x="5490" y="6651"/>
            <a:chExt cx="8220" cy="743"/>
          </a:xfrm>
        </p:grpSpPr>
        <p:sp>
          <p:nvSpPr>
            <p:cNvPr id="7" name="圆角矩形 7"/>
            <p:cNvSpPr/>
            <p:nvPr/>
          </p:nvSpPr>
          <p:spPr>
            <a:xfrm>
              <a:off x="5490" y="6651"/>
              <a:ext cx="8220" cy="743"/>
            </a:xfrm>
            <a:prstGeom prst="roundRect">
              <a:avLst>
                <a:gd name="adj" fmla="val 16823"/>
              </a:avLst>
            </a:prstGeom>
            <a:gradFill>
              <a:gsLst>
                <a:gs pos="0">
                  <a:srgbClr val="FB481E"/>
                </a:gs>
                <a:gs pos="100000">
                  <a:srgbClr val="0F4FFA"/>
                </a:gs>
              </a:gsLst>
              <a:lin ang="27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447" y="6732"/>
              <a:ext cx="6286" cy="58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indent="0" algn="dist">
                <a:buFont typeface="Wingdings" panose="05000000000000000000" pitchFamily="2" charset="2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汇报人：产品总监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张三李四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pic>
        <p:nvPicPr>
          <p:cNvPr id="9" name="图片 8" descr="logo2020 白"/>
          <p:cNvPicPr/>
          <p:nvPr/>
        </p:nvPicPr>
        <p:blipFill>
          <a:blip r:embed="rId2"/>
          <a:stretch>
            <a:fillRect/>
          </a:stretch>
        </p:blipFill>
        <p:spPr>
          <a:xfrm>
            <a:off x="9841678" y="508635"/>
            <a:ext cx="1440000" cy="35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grpSp>
        <p:nvGrpSpPr>
          <p:cNvPr id="282" name="组合 79"/>
          <p:cNvGrpSpPr/>
          <p:nvPr/>
        </p:nvGrpSpPr>
        <p:grpSpPr>
          <a:xfrm>
            <a:off x="731405" y="470424"/>
            <a:ext cx="3568488" cy="1052959"/>
            <a:chOff x="-1" y="0"/>
            <a:chExt cx="3568487" cy="1052956"/>
          </a:xfrm>
        </p:grpSpPr>
        <p:sp>
          <p:nvSpPr>
            <p:cNvPr id="280" name="矩形 80"/>
            <p:cNvSpPr txBox="1"/>
            <p:nvPr/>
          </p:nvSpPr>
          <p:spPr>
            <a:xfrm>
              <a:off x="-1" y="0"/>
              <a:ext cx="1220843" cy="7335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8" tIns="45718" rIns="45718" bIns="45718" numCol="1" anchor="t">
              <a:spAutoFit/>
            </a:bodyPr>
            <a:lstStyle>
              <a:lvl1pPr>
                <a:lnSpc>
                  <a:spcPts val="5000"/>
                </a:lnSpc>
                <a:defRPr sz="4400">
                  <a:solidFill>
                    <a:srgbClr val="5058E5"/>
                  </a:solidFill>
                  <a:effectLst>
                    <a:outerShdw blurRad="38100" dist="25400" dir="5400000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文本框 81"/>
            <p:cNvSpPr txBox="1"/>
            <p:nvPr/>
          </p:nvSpPr>
          <p:spPr>
            <a:xfrm>
              <a:off x="67227" y="282430"/>
              <a:ext cx="3501259" cy="7705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ct val="300000"/>
                </a:lnSpc>
                <a:defRPr>
                  <a:solidFill>
                    <a:srgbClr val="5058E5">
                      <a:alpha val="34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b="1" dirty="0">
                  <a:solidFill>
                    <a:schemeClr val="bg1">
                      <a:alpha val="34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  <a:endParaRPr b="1" dirty="0">
                <a:solidFill>
                  <a:schemeClr val="bg1">
                    <a:alpha val="34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图片 2" descr="logo2020 白"/>
          <p:cNvPicPr/>
          <p:nvPr/>
        </p:nvPicPr>
        <p:blipFill>
          <a:blip r:embed="rId2"/>
          <a:stretch>
            <a:fillRect/>
          </a:stretch>
        </p:blipFill>
        <p:spPr>
          <a:xfrm>
            <a:off x="10147300" y="386715"/>
            <a:ext cx="1440000" cy="35280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798830" y="1617980"/>
            <a:ext cx="975995" cy="76200"/>
          </a:xfrm>
          <a:prstGeom prst="roundRect">
            <a:avLst>
              <a:gd name="adj" fmla="val 24764"/>
            </a:avLst>
          </a:prstGeom>
          <a:gradFill>
            <a:gsLst>
              <a:gs pos="0">
                <a:srgbClr val="FB481E"/>
              </a:gs>
              <a:gs pos="100000">
                <a:srgbClr val="0F4FFA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7" name="组合 6"/>
          <p:cNvGrpSpPr/>
          <p:nvPr>
            <p:custDataLst>
              <p:tags r:id="rId3"/>
            </p:custDataLst>
          </p:nvPr>
        </p:nvGrpSpPr>
        <p:grpSpPr>
          <a:xfrm>
            <a:off x="731405" y="1956809"/>
            <a:ext cx="2420824" cy="3106258"/>
            <a:chOff x="8303209" y="3037691"/>
            <a:chExt cx="2420824" cy="1681754"/>
          </a:xfrm>
        </p:grpSpPr>
        <p:sp useBgFill="1">
          <p:nvSpPr>
            <p:cNvPr id="5" name="矩形: 圆角 4"/>
            <p:cNvSpPr/>
            <p:nvPr>
              <p:custDataLst>
                <p:tags r:id="rId4"/>
              </p:custDataLst>
            </p:nvPr>
          </p:nvSpPr>
          <p:spPr>
            <a:xfrm>
              <a:off x="8303209" y="3037691"/>
              <a:ext cx="2420824" cy="1681754"/>
            </a:xfrm>
            <a:prstGeom prst="roundRect">
              <a:avLst>
                <a:gd name="adj" fmla="val 9783"/>
              </a:avLst>
            </a:prstGeom>
            <a:ln>
              <a:noFill/>
            </a:ln>
            <a:effectLst>
              <a:outerShdw blurRad="63500" dist="63500" dir="2700000" sx="99000" sy="99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6" name="矩形: 圆角 5"/>
            <p:cNvSpPr/>
            <p:nvPr>
              <p:custDataLst>
                <p:tags r:id="rId5"/>
              </p:custDataLst>
            </p:nvPr>
          </p:nvSpPr>
          <p:spPr>
            <a:xfrm>
              <a:off x="8303209" y="3037691"/>
              <a:ext cx="2420824" cy="1681754"/>
            </a:xfrm>
            <a:prstGeom prst="roundRect">
              <a:avLst>
                <a:gd name="adj" fmla="val 9783"/>
              </a:avLst>
            </a:prstGeom>
            <a:ln>
              <a:noFill/>
            </a:ln>
            <a:effectLst>
              <a:outerShdw blurRad="63500" dist="63500" dir="13500000" sx="99000" sy="99000" algn="br" rotWithShape="0">
                <a:schemeClr val="bg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>
            <p:custDataLst>
              <p:tags r:id="rId6"/>
            </p:custDataLst>
          </p:nvPr>
        </p:nvGrpSpPr>
        <p:grpSpPr>
          <a:xfrm>
            <a:off x="3500860" y="1956808"/>
            <a:ext cx="2420824" cy="3106257"/>
            <a:chOff x="8303209" y="3037691"/>
            <a:chExt cx="2420824" cy="1681754"/>
          </a:xfrm>
        </p:grpSpPr>
        <p:sp useBgFill="1">
          <p:nvSpPr>
            <p:cNvPr id="12" name="矩形: 圆角 11"/>
            <p:cNvSpPr/>
            <p:nvPr>
              <p:custDataLst>
                <p:tags r:id="rId7"/>
              </p:custDataLst>
            </p:nvPr>
          </p:nvSpPr>
          <p:spPr>
            <a:xfrm>
              <a:off x="8303209" y="3037691"/>
              <a:ext cx="2420824" cy="1681754"/>
            </a:xfrm>
            <a:prstGeom prst="roundRect">
              <a:avLst>
                <a:gd name="adj" fmla="val 9783"/>
              </a:avLst>
            </a:prstGeom>
            <a:ln>
              <a:noFill/>
            </a:ln>
            <a:effectLst>
              <a:outerShdw blurRad="63500" dist="63500" dir="2700000" sx="99000" sy="99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 useBgFill="1">
          <p:nvSpPr>
            <p:cNvPr id="13" name="矩形: 圆角 12"/>
            <p:cNvSpPr/>
            <p:nvPr>
              <p:custDataLst>
                <p:tags r:id="rId8"/>
              </p:custDataLst>
            </p:nvPr>
          </p:nvSpPr>
          <p:spPr>
            <a:xfrm>
              <a:off x="8303209" y="3037691"/>
              <a:ext cx="2420824" cy="1681754"/>
            </a:xfrm>
            <a:prstGeom prst="roundRect">
              <a:avLst>
                <a:gd name="adj" fmla="val 9783"/>
              </a:avLst>
            </a:prstGeom>
            <a:ln>
              <a:noFill/>
            </a:ln>
            <a:effectLst>
              <a:outerShdw blurRad="63500" dist="63500" dir="13500000" sx="99000" sy="99000" algn="br" rotWithShape="0">
                <a:schemeClr val="bg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9"/>
            </p:custDataLst>
          </p:nvPr>
        </p:nvGrpSpPr>
        <p:grpSpPr>
          <a:xfrm>
            <a:off x="6270315" y="1956809"/>
            <a:ext cx="2420824" cy="3106256"/>
            <a:chOff x="8303209" y="3037691"/>
            <a:chExt cx="2420824" cy="1681754"/>
          </a:xfrm>
        </p:grpSpPr>
        <p:sp useBgFill="1">
          <p:nvSpPr>
            <p:cNvPr id="23" name="矩形: 圆角 22"/>
            <p:cNvSpPr/>
            <p:nvPr>
              <p:custDataLst>
                <p:tags r:id="rId10"/>
              </p:custDataLst>
            </p:nvPr>
          </p:nvSpPr>
          <p:spPr>
            <a:xfrm>
              <a:off x="8303209" y="3037691"/>
              <a:ext cx="2420824" cy="1681754"/>
            </a:xfrm>
            <a:prstGeom prst="roundRect">
              <a:avLst>
                <a:gd name="adj" fmla="val 9783"/>
              </a:avLst>
            </a:prstGeom>
            <a:ln>
              <a:noFill/>
            </a:ln>
            <a:effectLst>
              <a:outerShdw blurRad="63500" dist="63500" dir="2700000" sx="99000" sy="99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 useBgFill="1">
          <p:nvSpPr>
            <p:cNvPr id="24" name="矩形: 圆角 23"/>
            <p:cNvSpPr/>
            <p:nvPr>
              <p:custDataLst>
                <p:tags r:id="rId11"/>
              </p:custDataLst>
            </p:nvPr>
          </p:nvSpPr>
          <p:spPr>
            <a:xfrm>
              <a:off x="8303209" y="3037691"/>
              <a:ext cx="2420824" cy="1681754"/>
            </a:xfrm>
            <a:prstGeom prst="roundRect">
              <a:avLst>
                <a:gd name="adj" fmla="val 9783"/>
              </a:avLst>
            </a:prstGeom>
            <a:ln>
              <a:noFill/>
            </a:ln>
            <a:effectLst>
              <a:outerShdw blurRad="63500" dist="63500" dir="13500000" sx="99000" sy="99000" algn="br" rotWithShape="0">
                <a:schemeClr val="bg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2"/>
            </p:custDataLst>
          </p:nvPr>
        </p:nvGrpSpPr>
        <p:grpSpPr>
          <a:xfrm>
            <a:off x="9039771" y="1956809"/>
            <a:ext cx="2420824" cy="3106256"/>
            <a:chOff x="8303209" y="3037691"/>
            <a:chExt cx="2420824" cy="1681754"/>
          </a:xfrm>
        </p:grpSpPr>
        <p:sp useBgFill="1">
          <p:nvSpPr>
            <p:cNvPr id="26" name="矩形: 圆角 25"/>
            <p:cNvSpPr/>
            <p:nvPr>
              <p:custDataLst>
                <p:tags r:id="rId13"/>
              </p:custDataLst>
            </p:nvPr>
          </p:nvSpPr>
          <p:spPr>
            <a:xfrm>
              <a:off x="8303209" y="3037691"/>
              <a:ext cx="2420824" cy="1681754"/>
            </a:xfrm>
            <a:prstGeom prst="roundRect">
              <a:avLst>
                <a:gd name="adj" fmla="val 9783"/>
              </a:avLst>
            </a:prstGeom>
            <a:ln>
              <a:noFill/>
            </a:ln>
            <a:effectLst>
              <a:outerShdw blurRad="63500" dist="63500" dir="2700000" sx="99000" sy="99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 useBgFill="1">
          <p:nvSpPr>
            <p:cNvPr id="27" name="矩形: 圆角 26"/>
            <p:cNvSpPr/>
            <p:nvPr>
              <p:custDataLst>
                <p:tags r:id="rId14"/>
              </p:custDataLst>
            </p:nvPr>
          </p:nvSpPr>
          <p:spPr>
            <a:xfrm>
              <a:off x="8303209" y="3037691"/>
              <a:ext cx="2420824" cy="1681754"/>
            </a:xfrm>
            <a:prstGeom prst="roundRect">
              <a:avLst>
                <a:gd name="adj" fmla="val 9783"/>
              </a:avLst>
            </a:prstGeom>
            <a:ln>
              <a:noFill/>
            </a:ln>
            <a:effectLst>
              <a:outerShdw blurRad="63500" dist="63500" dir="13500000" sx="99000" sy="99000" algn="br" rotWithShape="0">
                <a:schemeClr val="bg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8" name="矩形 60"/>
          <p:cNvSpPr txBox="1"/>
          <p:nvPr>
            <p:custDataLst>
              <p:tags r:id="rId15"/>
            </p:custDataLst>
          </p:nvPr>
        </p:nvSpPr>
        <p:spPr>
          <a:xfrm>
            <a:off x="1019946" y="2692682"/>
            <a:ext cx="932302" cy="6830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45718" tIns="45718" rIns="45718" bIns="45718" numCol="1" anchor="t">
            <a:spAutoFit/>
          </a:bodyPr>
          <a:lstStyle>
            <a:lvl1pPr algn="r">
              <a:lnSpc>
                <a:spcPts val="5000"/>
              </a:lnSpc>
              <a:defRPr sz="3600"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 </a:t>
            </a:r>
            <a:endParaRPr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61"/>
          <p:cNvSpPr txBox="1"/>
          <p:nvPr>
            <p:custDataLst>
              <p:tags r:id="rId16"/>
            </p:custDataLst>
          </p:nvPr>
        </p:nvSpPr>
        <p:spPr>
          <a:xfrm>
            <a:off x="1059438" y="3361972"/>
            <a:ext cx="1776095" cy="367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t">
            <a:spAutoFit/>
          </a:bodyPr>
          <a:lstStyle>
            <a:lvl1pPr>
              <a:defRPr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  <a:sym typeface="+mn-ea"/>
              </a:rPr>
              <a:t>整体架构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62"/>
          <p:cNvSpPr/>
          <p:nvPr>
            <p:custDataLst>
              <p:tags r:id="rId17"/>
            </p:custDataLst>
          </p:nvPr>
        </p:nvSpPr>
        <p:spPr>
          <a:xfrm>
            <a:off x="1117858" y="4089047"/>
            <a:ext cx="1617345" cy="76200"/>
          </a:xfrm>
          <a:prstGeom prst="rect">
            <a:avLst/>
          </a:prstGeom>
          <a:solidFill>
            <a:schemeClr val="bg1">
              <a:alpha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65"/>
          <p:cNvSpPr txBox="1"/>
          <p:nvPr>
            <p:custDataLst>
              <p:tags r:id="rId18"/>
            </p:custDataLst>
          </p:nvPr>
        </p:nvSpPr>
        <p:spPr>
          <a:xfrm>
            <a:off x="3783728" y="2692682"/>
            <a:ext cx="932302" cy="6830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45718" tIns="45718" rIns="45718" bIns="45718" numCol="1" anchor="t">
            <a:spAutoFit/>
          </a:bodyPr>
          <a:lstStyle>
            <a:lvl1pPr algn="r">
              <a:lnSpc>
                <a:spcPts val="5000"/>
              </a:lnSpc>
              <a:defRPr sz="3600"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 </a:t>
            </a:r>
            <a:endParaRPr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文本框 66"/>
          <p:cNvSpPr txBox="1"/>
          <p:nvPr>
            <p:custDataLst>
              <p:tags r:id="rId19"/>
            </p:custDataLst>
          </p:nvPr>
        </p:nvSpPr>
        <p:spPr>
          <a:xfrm>
            <a:off x="3662045" y="3310890"/>
            <a:ext cx="2183130" cy="4222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t">
            <a:spAutoFit/>
          </a:bodyPr>
          <a:lstStyle>
            <a:lvl1pPr>
              <a:defRPr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建设内容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矩形 67"/>
          <p:cNvSpPr/>
          <p:nvPr>
            <p:custDataLst>
              <p:tags r:id="rId20"/>
            </p:custDataLst>
          </p:nvPr>
        </p:nvSpPr>
        <p:spPr>
          <a:xfrm>
            <a:off x="3881005" y="4109367"/>
            <a:ext cx="1630045" cy="76200"/>
          </a:xfrm>
          <a:prstGeom prst="rect">
            <a:avLst/>
          </a:prstGeom>
          <a:solidFill>
            <a:schemeClr val="bg1">
              <a:alpha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矩形 70"/>
          <p:cNvSpPr txBox="1"/>
          <p:nvPr>
            <p:custDataLst>
              <p:tags r:id="rId21"/>
            </p:custDataLst>
          </p:nvPr>
        </p:nvSpPr>
        <p:spPr>
          <a:xfrm>
            <a:off x="6496993" y="2712216"/>
            <a:ext cx="932302" cy="6830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45718" tIns="45718" rIns="45718" bIns="45718" numCol="1" anchor="t">
            <a:spAutoFit/>
          </a:bodyPr>
          <a:lstStyle>
            <a:lvl1pPr algn="r">
              <a:lnSpc>
                <a:spcPts val="5000"/>
              </a:lnSpc>
              <a:defRPr sz="3600"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endParaRPr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文本框 71"/>
          <p:cNvSpPr txBox="1"/>
          <p:nvPr>
            <p:custDataLst>
              <p:tags r:id="rId22"/>
            </p:custDataLst>
          </p:nvPr>
        </p:nvSpPr>
        <p:spPr>
          <a:xfrm>
            <a:off x="6536055" y="3381375"/>
            <a:ext cx="2183130" cy="367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t">
            <a:spAutoFit/>
          </a:bodyPr>
          <a:lstStyle>
            <a:lvl1pPr>
              <a:defRPr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案例分享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矩形 72"/>
          <p:cNvSpPr/>
          <p:nvPr>
            <p:custDataLst>
              <p:tags r:id="rId23"/>
            </p:custDataLst>
          </p:nvPr>
        </p:nvSpPr>
        <p:spPr>
          <a:xfrm>
            <a:off x="6594270" y="4108581"/>
            <a:ext cx="1775460" cy="76200"/>
          </a:xfrm>
          <a:prstGeom prst="rect">
            <a:avLst/>
          </a:prstGeom>
          <a:solidFill>
            <a:schemeClr val="bg1">
              <a:alpha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1" name="矩形 70"/>
          <p:cNvSpPr txBox="1"/>
          <p:nvPr>
            <p:custDataLst>
              <p:tags r:id="rId24"/>
            </p:custDataLst>
          </p:nvPr>
        </p:nvSpPr>
        <p:spPr>
          <a:xfrm>
            <a:off x="9275628" y="2692682"/>
            <a:ext cx="932303" cy="6830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45718" tIns="45718" rIns="45718" bIns="45718" numCol="1" anchor="t">
            <a:spAutoFit/>
          </a:bodyPr>
          <a:lstStyle>
            <a:lvl1pPr algn="r">
              <a:lnSpc>
                <a:spcPts val="5000"/>
              </a:lnSpc>
              <a:defRPr sz="3600"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文本框 71"/>
          <p:cNvSpPr txBox="1"/>
          <p:nvPr>
            <p:custDataLst>
              <p:tags r:id="rId25"/>
            </p:custDataLst>
          </p:nvPr>
        </p:nvSpPr>
        <p:spPr>
          <a:xfrm>
            <a:off x="9314486" y="3361972"/>
            <a:ext cx="1967865" cy="367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t">
            <a:spAutoFit/>
          </a:bodyPr>
          <a:lstStyle>
            <a:lvl1pPr>
              <a:defRPr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企业介绍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63" name="矩形 72"/>
          <p:cNvSpPr/>
          <p:nvPr>
            <p:custDataLst>
              <p:tags r:id="rId26"/>
            </p:custDataLst>
          </p:nvPr>
        </p:nvSpPr>
        <p:spPr>
          <a:xfrm>
            <a:off x="9372906" y="4089047"/>
            <a:ext cx="1775460" cy="76200"/>
          </a:xfrm>
          <a:prstGeom prst="rect">
            <a:avLst/>
          </a:prstGeom>
          <a:solidFill>
            <a:schemeClr val="bg1">
              <a:alpha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>
                <a:solidFill>
                  <a:srgbClr val="5058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438837" y="34937"/>
            <a:ext cx="8557701" cy="635279"/>
          </a:xfrm>
        </p:spPr>
        <p:txBody>
          <a:bodyPr/>
          <a:lstStyle/>
          <a:p>
            <a:r>
              <a:rPr lang="en-US" altLang="zh-CN" sz="2400" dirty="0" err="1">
                <a:solidFill>
                  <a:srgbClr val="FFFFFF"/>
                </a:solidFill>
                <a:cs typeface="Noto Sans SC" panose="020B0200000000000000" charset="-122"/>
                <a:sym typeface="Noto Sans SC" panose="020B0200000000000000" charset="-122"/>
              </a:rPr>
              <a:t>当前高等教育的现实困境</a:t>
            </a:r>
            <a:endParaRPr lang="en-US" altLang="zh-CN" sz="2400" dirty="0" err="1">
              <a:solidFill>
                <a:srgbClr val="FFFFFF"/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摄图网_500630648_banner_团队合作（非企业商用）"/>
          <p:cNvPicPr>
            <a:picLocks noChangeAspect="1"/>
          </p:cNvPicPr>
          <p:nvPr/>
        </p:nvPicPr>
        <p:blipFill>
          <a:blip r:embed="rId1"/>
          <a:srcRect r="7330" b="90"/>
          <a:stretch>
            <a:fillRect/>
          </a:stretch>
        </p:blipFill>
        <p:spPr>
          <a:xfrm>
            <a:off x="2674620" y="0"/>
            <a:ext cx="951738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0" y="1905"/>
            <a:ext cx="12192000" cy="6856095"/>
          </a:xfrm>
          <a:prstGeom prst="rect">
            <a:avLst/>
          </a:prstGeom>
          <a:gradFill>
            <a:gsLst>
              <a:gs pos="100000">
                <a:srgbClr val="2B213A">
                  <a:alpha val="33000"/>
                </a:srgbClr>
              </a:gs>
              <a:gs pos="22000">
                <a:srgbClr val="072571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4770" y="3091180"/>
            <a:ext cx="9346565" cy="110680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7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400" b="1" spc="100" dirty="0">
                <a:gradFill>
                  <a:gsLst>
                    <a:gs pos="23000">
                      <a:schemeClr val="bg1"/>
                    </a:gs>
                    <a:gs pos="0">
                      <a:srgbClr val="608AFC"/>
                    </a:gs>
                  </a:gsLst>
                  <a:lin ang="4380000" scaled="0"/>
                </a:gradFill>
                <a:uFillTx/>
                <a:latin typeface="Microsoft YaHei Bold" panose="020B0703020204020201" charset="-122"/>
                <a:ea typeface="Microsoft YaHei Bold" panose="020B0703020204020201" charset="-122"/>
              </a:rPr>
              <a:t>做一家伟大的教育科技企业</a:t>
            </a:r>
            <a:endParaRPr lang="zh-CN" altLang="en-US" sz="4400" b="1" spc="100" dirty="0">
              <a:gradFill>
                <a:gsLst>
                  <a:gs pos="23000">
                    <a:schemeClr val="bg1"/>
                  </a:gs>
                  <a:gs pos="0">
                    <a:srgbClr val="608AFC"/>
                  </a:gs>
                </a:gsLst>
                <a:lin ang="4380000" scaled="0"/>
              </a:gradFill>
              <a:uFillTx/>
              <a:latin typeface="Microsoft YaHei Bold" panose="020B0703020204020201" charset="-122"/>
              <a:ea typeface="Microsoft YaHei Bold" panose="020B07030202040202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34770" y="1788795"/>
            <a:ext cx="2326005" cy="110680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8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dist"/>
            <a:r>
              <a:rPr lang="zh-CN" altLang="en-US" sz="6600" b="1" dirty="0">
                <a:gradFill>
                  <a:gsLst>
                    <a:gs pos="43000">
                      <a:schemeClr val="bg1"/>
                    </a:gs>
                    <a:gs pos="0">
                      <a:srgbClr val="0F4FFA"/>
                    </a:gs>
                  </a:gsLst>
                  <a:lin ang="3000000" scaled="0"/>
                </a:gradFill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愿 景</a:t>
            </a:r>
            <a:endParaRPr lang="zh-CN" altLang="en-US" sz="6600" b="1" dirty="0">
              <a:gradFill>
                <a:gsLst>
                  <a:gs pos="43000">
                    <a:schemeClr val="bg1"/>
                  </a:gs>
                  <a:gs pos="0">
                    <a:srgbClr val="0F4FFA"/>
                  </a:gs>
                </a:gsLst>
                <a:lin ang="3000000" scaled="0"/>
              </a:gradFill>
              <a:latin typeface="Microsoft YaHei Bold" panose="020B0703020204020201" charset="-122"/>
              <a:ea typeface="Microsoft YaHei Bold" panose="020B0703020204020201" charset="-122"/>
              <a:sym typeface="+mn-ea"/>
            </a:endParaRPr>
          </a:p>
        </p:txBody>
      </p:sp>
      <p:pic>
        <p:nvPicPr>
          <p:cNvPr id="7" name="图片 6" descr="logo2020 白"/>
          <p:cNvPicPr/>
          <p:nvPr/>
        </p:nvPicPr>
        <p:blipFill>
          <a:blip r:embed="rId2"/>
          <a:stretch>
            <a:fillRect/>
          </a:stretch>
        </p:blipFill>
        <p:spPr>
          <a:xfrm>
            <a:off x="10367010" y="278765"/>
            <a:ext cx="1440000" cy="3528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47465" y="2226310"/>
            <a:ext cx="2185670" cy="6451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8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dist"/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VISION</a:t>
            </a:r>
            <a:endParaRPr lang="en-US" altLang="zh-CN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10579735" y="6604000"/>
            <a:ext cx="1612265" cy="762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B481E"/>
              </a:gs>
              <a:gs pos="100000">
                <a:srgbClr val="0F4FFA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 Regular" panose="020B0703020204020201" charset="-122"/>
              <a:ea typeface="Microsoft YaHei Regular" panose="020B0703020204020201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454785" y="4559935"/>
            <a:ext cx="1404000" cy="144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B481E"/>
              </a:gs>
              <a:gs pos="100000">
                <a:srgbClr val="0F4FFA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 Regular" panose="020B0703020204020201" charset="-122"/>
              <a:ea typeface="Microsoft YaHei Regular" panose="020B0703020204020201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35965" y="1049020"/>
            <a:ext cx="10720070" cy="4760595"/>
          </a:xfrm>
          <a:prstGeom prst="rect">
            <a:avLst/>
          </a:prstGeom>
          <a:noFill/>
          <a:ln w="127000">
            <a:gradFill>
              <a:gsLst>
                <a:gs pos="65000">
                  <a:srgbClr val="654EEB">
                    <a:alpha val="0"/>
                  </a:srgbClr>
                </a:gs>
                <a:gs pos="0">
                  <a:srgbClr val="E24B84">
                    <a:alpha val="100000"/>
                  </a:srgbClr>
                </a:gs>
              </a:gsLst>
              <a:lin ang="2088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600">
              <a:solidFill>
                <a:schemeClr val="bg1"/>
              </a:solidFill>
              <a:latin typeface="思源黑体 CN Normal" panose="020B0600000000000000" charset="-122"/>
              <a:ea typeface="思源黑体 CN Normal" panose="020B0600000000000000" charset="-122"/>
              <a:sym typeface="+mn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5258435"/>
            <a:ext cx="857250" cy="41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2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3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4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5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6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7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8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9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0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1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2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3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4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5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6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7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8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19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20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21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22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23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24.xml><?xml version="1.0" encoding="utf-8"?>
<p:tagLst xmlns:p="http://schemas.openxmlformats.org/presentationml/2006/main">
  <p:tag name="KSO_WM_DIAGRAM_VIRTUALLY_FRAME" val="{&quot;height&quot;:244.5873228346457,&quot;left&quot;:57.59094488188977,&quot;top&quot;:154.07937007874017,&quot;width&quot;:844.8181102362205}"/>
</p:tagLst>
</file>

<file path=ppt/tags/tag25.xml><?xml version="1.0" encoding="utf-8"?>
<p:tagLst xmlns:p="http://schemas.openxmlformats.org/presentationml/2006/main">
  <p:tag name="KSO_WPP_MARK_KEY" val="7e6192be-e182-4c46-80a8-a9281d1d363b"/>
  <p:tag name="COMMONDATA" val="eyJoZGlkIjoiMzdhYjZlOWNjZjVjMzRjZWY5YjcwYTIyZGQyZWJiMjQ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WPS 演示</Application>
  <PresentationFormat>宽屏</PresentationFormat>
  <Paragraphs>32</Paragraphs>
  <Slides>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Microsoft YaHei Regular</vt:lpstr>
      <vt:lpstr>等线</vt:lpstr>
      <vt:lpstr>Times New Roman</vt:lpstr>
      <vt:lpstr>Noto Sans SC</vt:lpstr>
      <vt:lpstr>华文宋体</vt:lpstr>
      <vt:lpstr>字魂59号-创粗黑</vt:lpstr>
      <vt:lpstr>黑体</vt:lpstr>
      <vt:lpstr>Roboto Light</vt:lpstr>
      <vt:lpstr>PingFangSC-Semibold</vt:lpstr>
      <vt:lpstr>Segoe Print</vt:lpstr>
      <vt:lpstr>Calibri</vt:lpstr>
      <vt:lpstr>Arial Unicode MS</vt:lpstr>
      <vt:lpstr>Franklin Gothic Book</vt:lpstr>
      <vt:lpstr>思源黑体 CN</vt:lpstr>
      <vt:lpstr>Franklin Gothic Book</vt:lpstr>
      <vt:lpstr>Microsoft YaHei Regular</vt:lpstr>
      <vt:lpstr>Noto Sans SC</vt:lpstr>
      <vt:lpstr>PingFangSC-Semibold</vt:lpstr>
      <vt:lpstr>字魂59号-创粗黑</vt:lpstr>
      <vt:lpstr>思源黑体 CN</vt:lpstr>
      <vt:lpstr>Oxford Regular</vt:lpstr>
      <vt:lpstr>Saturday Sans Regular</vt:lpstr>
      <vt:lpstr>字魂创粗黑</vt:lpstr>
      <vt:lpstr>Comic Book</vt:lpstr>
      <vt:lpstr>方正悠黑体</vt:lpstr>
      <vt:lpstr>Microsoft YaHei Bold</vt:lpstr>
      <vt:lpstr>思源黑体 CN Normal</vt:lpstr>
      <vt:lpstr>1_Office 主题​​</vt:lpstr>
      <vt:lpstr>PowerPoint 演示文稿</vt:lpstr>
      <vt:lpstr>PowerPoint 演示文稿</vt:lpstr>
      <vt:lpstr>当前高等教育的现实困境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kannapianwuyun</dc:creator>
  <cp:lastModifiedBy>时红</cp:lastModifiedBy>
  <cp:revision>3516</cp:revision>
  <dcterms:created xsi:type="dcterms:W3CDTF">2023-10-24T07:58:00Z</dcterms:created>
  <dcterms:modified xsi:type="dcterms:W3CDTF">2026-05-11T03:10:58Z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29DBAD05E7FF4A4C98156581D8EAE560_13</vt:lpwstr>
  </property>
</Properties>
</file>