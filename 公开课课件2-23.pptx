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726" r:id="rId2"/>
    <p:sldId id="449" r:id="rId3"/>
    <p:sldId id="722" r:id="rId4"/>
    <p:sldId id="723" r:id="rId5"/>
    <p:sldId id="452" r:id="rId6"/>
    <p:sldId id="727" r:id="rId7"/>
    <p:sldId id="708" r:id="rId8"/>
    <p:sldId id="709" r:id="rId9"/>
    <p:sldId id="463" r:id="rId10"/>
    <p:sldId id="465" r:id="rId11"/>
    <p:sldId id="464" r:id="rId12"/>
    <p:sldId id="466" r:id="rId13"/>
    <p:sldId id="467" r:id="rId14"/>
    <p:sldId id="484" r:id="rId15"/>
    <p:sldId id="485" r:id="rId16"/>
    <p:sldId id="486" r:id="rId17"/>
    <p:sldId id="488" r:id="rId18"/>
    <p:sldId id="489" r:id="rId19"/>
    <p:sldId id="724" r:id="rId20"/>
    <p:sldId id="492" r:id="rId21"/>
    <p:sldId id="493" r:id="rId22"/>
    <p:sldId id="495" r:id="rId23"/>
    <p:sldId id="704" r:id="rId24"/>
    <p:sldId id="618" r:id="rId25"/>
    <p:sldId id="498" r:id="rId26"/>
    <p:sldId id="714" r:id="rId27"/>
    <p:sldId id="719" r:id="rId28"/>
    <p:sldId id="720" r:id="rId29"/>
    <p:sldId id="721" r:id="rId30"/>
  </p:sldIdLst>
  <p:sldSz cx="9144000" cy="5143500" type="screen16x9"/>
  <p:notesSz cx="6834188" cy="9979025"/>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164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C6CED6"/>
    <a:srgbClr val="CCCCFF"/>
    <a:srgbClr val="CC99FF"/>
    <a:srgbClr val="FF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42" autoAdjust="0"/>
  </p:normalViewPr>
  <p:slideViewPr>
    <p:cSldViewPr snapToObjects="1">
      <p:cViewPr varScale="1">
        <p:scale>
          <a:sx n="107" d="100"/>
          <a:sy n="107" d="100"/>
        </p:scale>
        <p:origin x="754" y="72"/>
      </p:cViewPr>
      <p:guideLst>
        <p:guide orient="horz" pos="1649"/>
        <p:guide pos="2880"/>
      </p:guideLst>
    </p:cSldViewPr>
  </p:slideViewPr>
  <p:notesTextViewPr>
    <p:cViewPr>
      <p:scale>
        <a:sx n="100" d="100"/>
        <a:sy n="100" d="100"/>
      </p:scale>
      <p:origin x="0" y="0"/>
    </p:cViewPr>
  </p:notesTextViewPr>
  <p:sorterViewPr>
    <p:cViewPr>
      <p:scale>
        <a:sx n="100" d="100"/>
        <a:sy n="100" d="100"/>
      </p:scale>
      <p:origin x="0" y="3303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6734E1C1-3609-403D-AE1E-AA87B4748316}" type="datetimeFigureOut">
              <a:rPr lang="zh-CN" altLang="en-US"/>
              <a:pPr>
                <a:defRPr/>
              </a:pPr>
              <a:t>2021/2/23</a:t>
            </a:fld>
            <a:endParaRPr lang="en-US"/>
          </a:p>
        </p:txBody>
      </p:sp>
      <p:sp>
        <p:nvSpPr>
          <p:cNvPr id="98308" name="Rectangle 4"/>
          <p:cNvSpPr>
            <a:spLocks noGrp="1" noRot="1" noChangeAspect="1" noChangeArrowheads="1"/>
          </p:cNvSpPr>
          <p:nvPr>
            <p:ph type="sldImg" idx="2"/>
          </p:nvPr>
        </p:nvSpPr>
        <p:spPr bwMode="auto">
          <a:xfrm>
            <a:off x="90488" y="747713"/>
            <a:ext cx="6651625" cy="3741737"/>
          </a:xfrm>
          <a:prstGeom prst="rect">
            <a:avLst/>
          </a:prstGeom>
          <a:noFill/>
          <a:ln w="9525">
            <a:noFill/>
            <a:miter lim="800000"/>
            <a:headEnd/>
            <a:tailEnd/>
          </a:ln>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851A3CB5-B831-4B90-A407-FF60115C7766}" type="slidenum">
              <a:rPr lang="zh-CN" altLang="en-US"/>
              <a:pPr>
                <a:defRPr/>
              </a:pPr>
              <a:t>‹#›</a:t>
            </a:fld>
            <a:endParaRPr lang="en-US"/>
          </a:p>
        </p:txBody>
      </p:sp>
    </p:spTree>
    <p:extLst>
      <p:ext uri="{BB962C8B-B14F-4D97-AF65-F5344CB8AC3E}">
        <p14:creationId xmlns:p14="http://schemas.microsoft.com/office/powerpoint/2010/main" val="11073784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lvl1pPr>
              <a:defRPr sz="3200">
                <a:solidFill>
                  <a:schemeClr val="tx1"/>
                </a:solidFill>
              </a:defRPr>
            </a:lvl1pPr>
          </a:lstStyle>
          <a:p>
            <a:r>
              <a:rPr lang="zh-CN" altLang="en-US" dirty="0"/>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sz="20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lnSpc>
                <a:spcPct val="150000"/>
              </a:lnSpc>
              <a:spcBef>
                <a:spcPts val="0"/>
              </a:spcBef>
              <a:defRPr sz="2000"/>
            </a:lvl1pPr>
            <a:lvl2pPr>
              <a:lnSpc>
                <a:spcPct val="150000"/>
              </a:lnSpc>
              <a:spcBef>
                <a:spcPts val="0"/>
              </a:spcBef>
              <a:defRPr sz="2000"/>
            </a:lvl2pPr>
            <a:lvl3pPr>
              <a:lnSpc>
                <a:spcPct val="150000"/>
              </a:lnSpc>
              <a:spcBef>
                <a:spcPts val="0"/>
              </a:spcBef>
              <a:defRPr sz="2000"/>
            </a:lvl3pPr>
            <a:lvl4pPr>
              <a:lnSpc>
                <a:spcPct val="150000"/>
              </a:lnSpc>
              <a:spcBef>
                <a:spcPts val="0"/>
              </a:spcBef>
              <a:defRPr sz="2000"/>
            </a:lvl4pPr>
            <a:lvl5pPr>
              <a:lnSpc>
                <a:spcPct val="150000"/>
              </a:lnSpc>
              <a:spcBef>
                <a:spcPts val="0"/>
              </a:spcBef>
              <a:defRPr sz="20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600" b="1" cap="all">
                <a:solidFill>
                  <a:schemeClr val="tx1"/>
                </a:solidFill>
              </a:defRPr>
            </a:lvl1pPr>
          </a:lstStyle>
          <a:p>
            <a:r>
              <a:rPr lang="zh-CN" altLang="en-US" dirty="0"/>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9" y="789552"/>
            <a:ext cx="4320000" cy="39600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775871" y="789552"/>
            <a:ext cx="4320000" cy="3960000"/>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20538"/>
            <a:ext cx="9144000" cy="6507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784646"/>
            <a:ext cx="4040188" cy="47982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264468"/>
            <a:ext cx="4040188" cy="2963466"/>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6" y="784646"/>
            <a:ext cx="4041775" cy="47982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264468"/>
            <a:ext cx="4041775" cy="2963466"/>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标题 1"/>
          <p:cNvSpPr>
            <a:spLocks noGrp="1"/>
          </p:cNvSpPr>
          <p:nvPr>
            <p:ph type="title"/>
          </p:nvPr>
        </p:nvSpPr>
        <p:spPr>
          <a:xfrm>
            <a:off x="0" y="-20538"/>
            <a:ext cx="9144000" cy="650700"/>
          </a:xfrm>
        </p:spPr>
        <p:txBody>
          <a:bodyPr/>
          <a:lstStyle>
            <a:lvl1pPr>
              <a:defRPr/>
            </a:lvl1p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666192"/>
            <a:ext cx="3008313" cy="81792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666192"/>
            <a:ext cx="5111750" cy="4119805"/>
          </a:xfrm>
        </p:spPr>
        <p:txBody>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1" y="1537730"/>
            <a:ext cx="3008313" cy="33018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标题 1"/>
          <p:cNvSpPr txBox="1">
            <a:spLocks/>
          </p:cNvSpPr>
          <p:nvPr userDrawn="1"/>
        </p:nvSpPr>
        <p:spPr bwMode="auto">
          <a:xfrm>
            <a:off x="0" y="-20538"/>
            <a:ext cx="9144000" cy="650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811302"/>
            <a:ext cx="5486400" cy="425054"/>
          </a:xfrm>
        </p:spPr>
        <p:txBody>
          <a:bodyPr anchor="ctr" anchorCtr="0"/>
          <a:lstStyle>
            <a:lvl1pPr algn="ctr">
              <a:defRPr sz="1600" b="1">
                <a:solidFill>
                  <a:schemeClr val="tx1"/>
                </a:solidFill>
              </a:defRPr>
            </a:lvl1pPr>
          </a:lstStyle>
          <a:p>
            <a:r>
              <a:rPr lang="zh-CN" altLang="en-US" dirty="0"/>
              <a:t>单击此处编辑母版标题样式</a:t>
            </a:r>
          </a:p>
        </p:txBody>
      </p:sp>
      <p:sp>
        <p:nvSpPr>
          <p:cNvPr id="3" name="图片占位符 2"/>
          <p:cNvSpPr>
            <a:spLocks noGrp="1"/>
          </p:cNvSpPr>
          <p:nvPr>
            <p:ph type="pic" idx="1"/>
          </p:nvPr>
        </p:nvSpPr>
        <p:spPr>
          <a:xfrm>
            <a:off x="1792288" y="853802"/>
            <a:ext cx="5486400" cy="3086100"/>
          </a:xfrm>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423635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标题 1"/>
          <p:cNvSpPr txBox="1">
            <a:spLocks/>
          </p:cNvSpPr>
          <p:nvPr userDrawn="1"/>
        </p:nvSpPr>
        <p:spPr bwMode="auto">
          <a:xfrm>
            <a:off x="0" y="-20538"/>
            <a:ext cx="9144000" cy="650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8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a:lstStyle>
          <a:p>
            <a:r>
              <a:rPr lang="zh-CN" altLang="en-US"/>
              <a:t>单击此处编辑母版标题样式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12384" y="4850238"/>
            <a:ext cx="9165600" cy="299700"/>
          </a:xfrm>
          <a:prstGeom prst="rect">
            <a:avLst/>
          </a:prstGeom>
          <a:gradFill flip="none" rotWithShape="1">
            <a:gsLst>
              <a:gs pos="0">
                <a:srgbClr val="00B0F0"/>
              </a:gs>
              <a:gs pos="100000">
                <a:srgbClr val="00206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0" name="Picture 2"/>
          <p:cNvPicPr>
            <a:picLocks noChangeAspect="1" noChangeArrowheads="1"/>
          </p:cNvPicPr>
          <p:nvPr userDrawn="1"/>
        </p:nvPicPr>
        <p:blipFill rotWithShape="1">
          <a:blip r:embed="rId13">
            <a:extLst>
              <a:ext uri="{BEBA8EAE-BF5A-486C-A8C5-ECC9F3942E4B}">
                <a14:imgProps xmlns:a14="http://schemas.microsoft.com/office/drawing/2010/main">
                  <a14:imgLayer r:embed="rId14">
                    <a14:imgEffect>
                      <a14:sharpenSoften amount="-50000"/>
                    </a14:imgEffect>
                    <a14:imgEffect>
                      <a14:brightnessContrast bright="10000"/>
                    </a14:imgEffect>
                  </a14:imgLayer>
                </a14:imgProps>
              </a:ext>
              <a:ext uri="{28A0092B-C50C-407E-A947-70E740481C1C}">
                <a14:useLocalDpi xmlns:a14="http://schemas.microsoft.com/office/drawing/2010/main" val="0"/>
              </a:ext>
            </a:extLst>
          </a:blip>
          <a:srcRect t="12205" b="5697"/>
          <a:stretch/>
        </p:blipFill>
        <p:spPr bwMode="auto">
          <a:xfrm>
            <a:off x="-23812" y="627534"/>
            <a:ext cx="9165600" cy="423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矩形 10"/>
          <p:cNvSpPr/>
          <p:nvPr userDrawn="1"/>
        </p:nvSpPr>
        <p:spPr>
          <a:xfrm>
            <a:off x="-13648" y="-20538"/>
            <a:ext cx="9165600" cy="650700"/>
          </a:xfrm>
          <a:prstGeom prst="rect">
            <a:avLst/>
          </a:prstGeom>
          <a:gradFill flip="none" rotWithShape="1">
            <a:gsLst>
              <a:gs pos="0">
                <a:srgbClr val="00B0F0"/>
              </a:gs>
              <a:gs pos="100000">
                <a:srgbClr val="002060"/>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800" dirty="0"/>
          </a:p>
        </p:txBody>
      </p:sp>
      <p:sp>
        <p:nvSpPr>
          <p:cNvPr id="1029" name="Rectangle 2"/>
          <p:cNvSpPr>
            <a:spLocks noGrp="1" noChangeArrowheads="1"/>
          </p:cNvSpPr>
          <p:nvPr>
            <p:ph type="title"/>
          </p:nvPr>
        </p:nvSpPr>
        <p:spPr bwMode="auto">
          <a:xfrm>
            <a:off x="-23812" y="-27385"/>
            <a:ext cx="9167812" cy="650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dirty="0"/>
              <a:t>单击此处编辑母版标题样式</a:t>
            </a:r>
          </a:p>
        </p:txBody>
      </p:sp>
      <p:sp>
        <p:nvSpPr>
          <p:cNvPr id="1030" name="Rectangle 3"/>
          <p:cNvSpPr>
            <a:spLocks noGrp="1" noChangeArrowheads="1"/>
          </p:cNvSpPr>
          <p:nvPr>
            <p:ph type="body" idx="1"/>
          </p:nvPr>
        </p:nvSpPr>
        <p:spPr bwMode="auto">
          <a:xfrm>
            <a:off x="-32" y="642924"/>
            <a:ext cx="9141820" cy="42065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2" name="TextBox 15">
            <a:extLst>
              <a:ext uri="{FF2B5EF4-FFF2-40B4-BE49-F238E27FC236}">
                <a16:creationId xmlns:a16="http://schemas.microsoft.com/office/drawing/2014/main" id="{0961189D-43D5-4CAE-9D70-06440A91F08F}"/>
              </a:ext>
            </a:extLst>
          </p:cNvPr>
          <p:cNvSpPr txBox="1"/>
          <p:nvPr userDrawn="1"/>
        </p:nvSpPr>
        <p:spPr>
          <a:xfrm>
            <a:off x="-2198" y="4849635"/>
            <a:ext cx="181008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solidFill>
                  <a:srgbClr val="00B0F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数据库原理与应用</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2800" b="1">
          <a:solidFill>
            <a:schemeClr val="bg1"/>
          </a:solidFill>
          <a:latin typeface="微软雅黑" pitchFamily="34" charset="-122"/>
          <a:ea typeface="微软雅黑" pitchFamily="34" charset="-122"/>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lnSpc>
          <a:spcPct val="150000"/>
        </a:lnSpc>
        <a:spcBef>
          <a:spcPts val="0"/>
        </a:spcBef>
        <a:spcAft>
          <a:spcPct val="0"/>
        </a:spcAft>
        <a:buSzPct val="100000"/>
        <a:buFont typeface="Wingdings" pitchFamily="2" charset="2"/>
        <a:buChar char="v"/>
        <a:defRPr sz="2000" b="0">
          <a:solidFill>
            <a:schemeClr val="tx1"/>
          </a:solidFill>
          <a:latin typeface="微软雅黑" pitchFamily="34" charset="-122"/>
          <a:ea typeface="微软雅黑" pitchFamily="34" charset="-122"/>
          <a:cs typeface="+mn-cs"/>
        </a:defRPr>
      </a:lvl1pPr>
      <a:lvl2pPr marL="742950" indent="-285750" algn="l" rtl="0" eaLnBrk="0" fontAlgn="base" hangingPunct="0">
        <a:lnSpc>
          <a:spcPct val="150000"/>
        </a:lnSpc>
        <a:spcBef>
          <a:spcPts val="0"/>
        </a:spcBef>
        <a:spcAft>
          <a:spcPct val="0"/>
        </a:spcAft>
        <a:buSzPct val="100000"/>
        <a:buFont typeface="Wingdings" pitchFamily="2" charset="2"/>
        <a:buChar char="n"/>
        <a:defRPr sz="2000" b="0">
          <a:solidFill>
            <a:schemeClr val="tx1"/>
          </a:solidFill>
          <a:latin typeface="微软雅黑" pitchFamily="34" charset="-122"/>
          <a:ea typeface="微软雅黑" pitchFamily="34" charset="-122"/>
        </a:defRPr>
      </a:lvl2pPr>
      <a:lvl3pPr marL="1143000" indent="-228600" algn="l" rtl="0" eaLnBrk="0" fontAlgn="base" hangingPunct="0">
        <a:lnSpc>
          <a:spcPct val="150000"/>
        </a:lnSpc>
        <a:spcBef>
          <a:spcPts val="0"/>
        </a:spcBef>
        <a:spcAft>
          <a:spcPct val="0"/>
        </a:spcAft>
        <a:buFont typeface="Arial" pitchFamily="34" charset="0"/>
        <a:buChar char="•"/>
        <a:defRPr sz="2000" b="0">
          <a:solidFill>
            <a:schemeClr val="tx1"/>
          </a:solidFill>
          <a:latin typeface="微软雅黑" pitchFamily="34" charset="-122"/>
          <a:ea typeface="微软雅黑" pitchFamily="34" charset="-122"/>
        </a:defRPr>
      </a:lvl3pPr>
      <a:lvl4pPr marL="1600200" indent="-228600" algn="l" rtl="0" eaLnBrk="0" fontAlgn="base" hangingPunct="0">
        <a:lnSpc>
          <a:spcPct val="150000"/>
        </a:lnSpc>
        <a:spcBef>
          <a:spcPts val="0"/>
        </a:spcBef>
        <a:spcAft>
          <a:spcPct val="0"/>
        </a:spcAft>
        <a:buFont typeface="Arial" pitchFamily="34" charset="0"/>
        <a:buChar char="–"/>
        <a:defRPr sz="2000" b="0">
          <a:solidFill>
            <a:schemeClr val="tx1"/>
          </a:solidFill>
          <a:latin typeface="微软雅黑" pitchFamily="34" charset="-122"/>
          <a:ea typeface="微软雅黑" pitchFamily="34" charset="-122"/>
        </a:defRPr>
      </a:lvl4pPr>
      <a:lvl5pPr marL="2057400" indent="-228600" algn="l" rtl="0" eaLnBrk="0" fontAlgn="base" hangingPunct="0">
        <a:lnSpc>
          <a:spcPct val="150000"/>
        </a:lnSpc>
        <a:spcBef>
          <a:spcPts val="0"/>
        </a:spcBef>
        <a:spcAft>
          <a:spcPct val="0"/>
        </a:spcAft>
        <a:buFont typeface="Arial" pitchFamily="34" charset="0"/>
        <a:buChar char="»"/>
        <a:defRPr sz="2000" b="0">
          <a:solidFill>
            <a:schemeClr val="tx1"/>
          </a:solidFill>
          <a:latin typeface="微软雅黑" pitchFamily="34" charset="-122"/>
          <a:ea typeface="微软雅黑" pitchFamily="34" charset="-122"/>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193FCDF-03B1-4D1D-9010-C05C19E37B29}"/>
              </a:ext>
            </a:extLst>
          </p:cNvPr>
          <p:cNvSpPr>
            <a:spLocks noGrp="1"/>
          </p:cNvSpPr>
          <p:nvPr>
            <p:ph type="ctrTitle"/>
          </p:nvPr>
        </p:nvSpPr>
        <p:spPr/>
        <p:txBody>
          <a:bodyPr/>
          <a:lstStyle/>
          <a:p>
            <a:r>
              <a:rPr lang="en-US" altLang="zh-CN" dirty="0"/>
              <a:t>7.3 </a:t>
            </a:r>
            <a:r>
              <a:rPr lang="zh-CN" altLang="en-US" dirty="0"/>
              <a:t>概念结构设计</a:t>
            </a:r>
          </a:p>
        </p:txBody>
      </p:sp>
      <p:sp>
        <p:nvSpPr>
          <p:cNvPr id="5" name="副标题 4">
            <a:extLst>
              <a:ext uri="{FF2B5EF4-FFF2-40B4-BE49-F238E27FC236}">
                <a16:creationId xmlns:a16="http://schemas.microsoft.com/office/drawing/2014/main" id="{3FCE6813-BB04-412A-915A-485F85CAC942}"/>
              </a:ext>
            </a:extLst>
          </p:cNvPr>
          <p:cNvSpPr>
            <a:spLocks noGrp="1"/>
          </p:cNvSpPr>
          <p:nvPr>
            <p:ph type="subTitle" idx="1"/>
          </p:nvPr>
        </p:nvSpPr>
        <p:spPr/>
        <p:txBody>
          <a:bodyPr/>
          <a:lstStyle/>
          <a:p>
            <a:r>
              <a:rPr lang="zh-CN" altLang="en-US" dirty="0"/>
              <a:t>授课人：全立新</a:t>
            </a:r>
          </a:p>
        </p:txBody>
      </p:sp>
    </p:spTree>
    <p:extLst>
      <p:ext uri="{BB962C8B-B14F-4D97-AF65-F5344CB8AC3E}">
        <p14:creationId xmlns:p14="http://schemas.microsoft.com/office/powerpoint/2010/main" val="2509046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导言（</a:t>
            </a:r>
            <a:r>
              <a:rPr lang="en-US" altLang="zh-CN" dirty="0"/>
              <a:t>Bridge-in</a:t>
            </a:r>
            <a:r>
              <a:rPr lang="zh-CN" altLang="en-US" dirty="0"/>
              <a:t>）</a:t>
            </a:r>
          </a:p>
        </p:txBody>
      </p:sp>
      <p:sp>
        <p:nvSpPr>
          <p:cNvPr id="51203" name="Rectangle 3"/>
          <p:cNvSpPr>
            <a:spLocks noGrp="1" noChangeArrowheads="1"/>
          </p:cNvSpPr>
          <p:nvPr>
            <p:ph idx="1"/>
          </p:nvPr>
        </p:nvSpPr>
        <p:spPr>
          <a:xfrm>
            <a:off x="4898639" y="2211710"/>
            <a:ext cx="2553682" cy="1485669"/>
          </a:xfrm>
        </p:spPr>
        <p:txBody>
          <a:bodyPr/>
          <a:lstStyle/>
          <a:p>
            <a:pPr marL="540000" indent="0">
              <a:lnSpc>
                <a:spcPct val="150000"/>
              </a:lnSpc>
              <a:buNone/>
            </a:pPr>
            <a:r>
              <a:rPr lang="zh-CN" altLang="en-US" dirty="0"/>
              <a:t>概念结构设计</a:t>
            </a:r>
            <a:endParaRPr lang="en-US" altLang="zh-CN" dirty="0"/>
          </a:p>
        </p:txBody>
      </p:sp>
      <p:pic>
        <p:nvPicPr>
          <p:cNvPr id="10" name="Picture 2">
            <a:extLst>
              <a:ext uri="{FF2B5EF4-FFF2-40B4-BE49-F238E27FC236}">
                <a16:creationId xmlns:a16="http://schemas.microsoft.com/office/drawing/2014/main" id="{3ABE6C18-A242-414D-84A8-E770EFDA74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354" y="2432249"/>
            <a:ext cx="3204622" cy="228741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a:extLst>
              <a:ext uri="{FF2B5EF4-FFF2-40B4-BE49-F238E27FC236}">
                <a16:creationId xmlns:a16="http://schemas.microsoft.com/office/drawing/2014/main" id="{8C74635C-81C3-4621-B890-04EAEF28F978}"/>
              </a:ext>
            </a:extLst>
          </p:cNvPr>
          <p:cNvPicPr>
            <a:picLocks noChangeAspect="1"/>
          </p:cNvPicPr>
          <p:nvPr/>
        </p:nvPicPr>
        <p:blipFill>
          <a:blip r:embed="rId3"/>
          <a:stretch>
            <a:fillRect/>
          </a:stretch>
        </p:blipFill>
        <p:spPr>
          <a:xfrm>
            <a:off x="107504" y="723007"/>
            <a:ext cx="4287078" cy="1560711"/>
          </a:xfrm>
          <a:prstGeom prst="rect">
            <a:avLst/>
          </a:prstGeom>
        </p:spPr>
      </p:pic>
      <p:sp>
        <p:nvSpPr>
          <p:cNvPr id="7" name="右大括号 6">
            <a:extLst>
              <a:ext uri="{FF2B5EF4-FFF2-40B4-BE49-F238E27FC236}">
                <a16:creationId xmlns:a16="http://schemas.microsoft.com/office/drawing/2014/main" id="{2D8A7F2E-7DF7-44D2-BFFD-5CD1E7AECB3C}"/>
              </a:ext>
            </a:extLst>
          </p:cNvPr>
          <p:cNvSpPr/>
          <p:nvPr/>
        </p:nvSpPr>
        <p:spPr bwMode="auto">
          <a:xfrm>
            <a:off x="4860032" y="987574"/>
            <a:ext cx="432048" cy="3096344"/>
          </a:xfrm>
          <a:prstGeom prst="rightBrac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250"/>
                                  </p:stCondLst>
                                  <p:childTnLst>
                                    <p:set>
                                      <p:cBhvr>
                                        <p:cTn id="10" dur="1" fill="hold">
                                          <p:stCondLst>
                                            <p:cond delay="0"/>
                                          </p:stCondLst>
                                        </p:cTn>
                                        <p:tgtEl>
                                          <p:spTgt spid="51203">
                                            <p:txEl>
                                              <p:pRg st="0" end="0"/>
                                            </p:txEl>
                                          </p:spTgt>
                                        </p:tgtEl>
                                        <p:attrNameLst>
                                          <p:attrName>style.visibility</p:attrName>
                                        </p:attrNameLst>
                                      </p:cBhvr>
                                      <p:to>
                                        <p:strVal val="visible"/>
                                      </p:to>
                                    </p:set>
                                    <p:animEffect transition="in" filter="wipe(left)">
                                      <p:cBhvr>
                                        <p:cTn id="11" dur="500"/>
                                        <p:tgtEl>
                                          <p:spTgt spid="512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solidFill>
            <a:schemeClr val="bg1"/>
          </a:solidFill>
        </p:spPr>
        <p:txBody>
          <a:bodyPr/>
          <a:lstStyle/>
          <a:p>
            <a:pPr marL="540000" indent="0">
              <a:lnSpc>
                <a:spcPct val="150000"/>
              </a:lnSpc>
              <a:buNone/>
            </a:pPr>
            <a:endParaRPr lang="en-US" altLang="zh-CN" dirty="0"/>
          </a:p>
          <a:p>
            <a:pPr marL="0" indent="0">
              <a:buNone/>
            </a:pPr>
            <a:endParaRPr lang="en-US" altLang="zh-CN" sz="1800" dirty="0"/>
          </a:p>
        </p:txBody>
      </p:sp>
      <p:sp>
        <p:nvSpPr>
          <p:cNvPr id="2" name="标题 1"/>
          <p:cNvSpPr>
            <a:spLocks noGrp="1"/>
          </p:cNvSpPr>
          <p:nvPr>
            <p:ph type="title"/>
          </p:nvPr>
        </p:nvSpPr>
        <p:spPr/>
        <p:txBody>
          <a:bodyPr/>
          <a:lstStyle/>
          <a:p>
            <a:r>
              <a:rPr lang="zh-CN" altLang="en-US" dirty="0"/>
              <a:t>目标（</a:t>
            </a:r>
            <a:r>
              <a:rPr lang="en-US" altLang="zh-CN" dirty="0"/>
              <a:t>Objective</a:t>
            </a:r>
            <a:r>
              <a:rPr lang="zh-CN" altLang="en-US" dirty="0"/>
              <a:t>）</a:t>
            </a:r>
          </a:p>
        </p:txBody>
      </p:sp>
      <p:grpSp>
        <p:nvGrpSpPr>
          <p:cNvPr id="4" name="Group 3">
            <a:extLst>
              <a:ext uri="{FF2B5EF4-FFF2-40B4-BE49-F238E27FC236}">
                <a16:creationId xmlns:a16="http://schemas.microsoft.com/office/drawing/2014/main" id="{0921ED51-0152-4DE4-96A6-321496B2FCD3}"/>
              </a:ext>
            </a:extLst>
          </p:cNvPr>
          <p:cNvGrpSpPr>
            <a:grpSpLocks/>
          </p:cNvGrpSpPr>
          <p:nvPr/>
        </p:nvGrpSpPr>
        <p:grpSpPr bwMode="auto">
          <a:xfrm>
            <a:off x="215816" y="850702"/>
            <a:ext cx="2700000" cy="3672000"/>
            <a:chOff x="720" y="1280"/>
            <a:chExt cx="1367" cy="2558"/>
          </a:xfrm>
        </p:grpSpPr>
        <p:sp>
          <p:nvSpPr>
            <p:cNvPr id="5" name="AutoShape 4">
              <a:extLst>
                <a:ext uri="{FF2B5EF4-FFF2-40B4-BE49-F238E27FC236}">
                  <a16:creationId xmlns:a16="http://schemas.microsoft.com/office/drawing/2014/main" id="{1BA67D74-589E-44CF-AE93-1EED99247C5F}"/>
                </a:ext>
              </a:extLst>
            </p:cNvPr>
            <p:cNvSpPr>
              <a:spLocks noChangeArrowheads="1"/>
            </p:cNvSpPr>
            <p:nvPr/>
          </p:nvSpPr>
          <p:spPr bwMode="gray">
            <a:xfrm>
              <a:off x="720" y="1490"/>
              <a:ext cx="1363" cy="1800"/>
            </a:xfrm>
            <a:prstGeom prst="roundRect">
              <a:avLst>
                <a:gd name="adj" fmla="val 17509"/>
              </a:avLst>
            </a:prstGeom>
            <a:gradFill rotWithShape="1">
              <a:gsLst>
                <a:gs pos="0">
                  <a:srgbClr val="4E91D4"/>
                </a:gs>
                <a:gs pos="100000">
                  <a:srgbClr val="3477A4"/>
                </a:gs>
              </a:gsLst>
              <a:lin ang="27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AutoShape 5">
              <a:extLst>
                <a:ext uri="{FF2B5EF4-FFF2-40B4-BE49-F238E27FC236}">
                  <a16:creationId xmlns:a16="http://schemas.microsoft.com/office/drawing/2014/main" id="{F013FCBF-2BBA-49A6-833D-237021417882}"/>
                </a:ext>
              </a:extLst>
            </p:cNvPr>
            <p:cNvSpPr>
              <a:spLocks noChangeArrowheads="1"/>
            </p:cNvSpPr>
            <p:nvPr/>
          </p:nvSpPr>
          <p:spPr bwMode="gray">
            <a:xfrm>
              <a:off x="741" y="1495"/>
              <a:ext cx="1322" cy="1766"/>
            </a:xfrm>
            <a:prstGeom prst="roundRect">
              <a:avLst>
                <a:gd name="adj" fmla="val 16667"/>
              </a:avLst>
            </a:prstGeom>
            <a:solidFill>
              <a:srgbClr val="3CA1E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utoShape 6">
              <a:extLst>
                <a:ext uri="{FF2B5EF4-FFF2-40B4-BE49-F238E27FC236}">
                  <a16:creationId xmlns:a16="http://schemas.microsoft.com/office/drawing/2014/main" id="{C25B5A27-F9D1-4B3D-95FF-5409BA5740BF}"/>
                </a:ext>
              </a:extLst>
            </p:cNvPr>
            <p:cNvSpPr>
              <a:spLocks noChangeArrowheads="1"/>
            </p:cNvSpPr>
            <p:nvPr/>
          </p:nvSpPr>
          <p:spPr bwMode="gray">
            <a:xfrm>
              <a:off x="752" y="2795"/>
              <a:ext cx="1304" cy="447"/>
            </a:xfrm>
            <a:prstGeom prst="roundRect">
              <a:avLst>
                <a:gd name="adj" fmla="val 50000"/>
              </a:avLst>
            </a:prstGeom>
            <a:gradFill rotWithShape="1">
              <a:gsLst>
                <a:gs pos="0">
                  <a:srgbClr val="3CA1E6">
                    <a:alpha val="0"/>
                  </a:srgbClr>
                </a:gs>
                <a:gs pos="100000">
                  <a:srgbClr val="3CA1E6">
                    <a:gamma/>
                    <a:tint val="51373"/>
                    <a:invGamma/>
                  </a:srgb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7">
              <a:extLst>
                <a:ext uri="{FF2B5EF4-FFF2-40B4-BE49-F238E27FC236}">
                  <a16:creationId xmlns:a16="http://schemas.microsoft.com/office/drawing/2014/main" id="{E2A45F8D-35BA-454C-8E8D-81A0893D5428}"/>
                </a:ext>
              </a:extLst>
            </p:cNvPr>
            <p:cNvSpPr>
              <a:spLocks noChangeArrowheads="1"/>
            </p:cNvSpPr>
            <p:nvPr/>
          </p:nvSpPr>
          <p:spPr bwMode="gray">
            <a:xfrm>
              <a:off x="752" y="1509"/>
              <a:ext cx="1304" cy="446"/>
            </a:xfrm>
            <a:prstGeom prst="roundRect">
              <a:avLst>
                <a:gd name="adj" fmla="val 50000"/>
              </a:avLst>
            </a:prstGeom>
            <a:gradFill rotWithShape="1">
              <a:gsLst>
                <a:gs pos="0">
                  <a:srgbClr val="3CA1E6">
                    <a:gamma/>
                    <a:tint val="33333"/>
                    <a:invGamma/>
                  </a:srgbClr>
                </a:gs>
                <a:gs pos="100000">
                  <a:srgbClr val="3CA1E6">
                    <a:alpha val="0"/>
                  </a:srgb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8">
              <a:extLst>
                <a:ext uri="{FF2B5EF4-FFF2-40B4-BE49-F238E27FC236}">
                  <a16:creationId xmlns:a16="http://schemas.microsoft.com/office/drawing/2014/main" id="{A43EBDD8-51B8-4DAC-8ED9-A676398CC610}"/>
                </a:ext>
              </a:extLst>
            </p:cNvPr>
            <p:cNvSpPr>
              <a:spLocks noChangeArrowheads="1"/>
            </p:cNvSpPr>
            <p:nvPr/>
          </p:nvSpPr>
          <p:spPr bwMode="gray">
            <a:xfrm>
              <a:off x="724" y="3290"/>
              <a:ext cx="1363" cy="548"/>
            </a:xfrm>
            <a:prstGeom prst="roundRect">
              <a:avLst>
                <a:gd name="adj" fmla="val 40389"/>
              </a:avLst>
            </a:prstGeom>
            <a:gradFill rotWithShape="1">
              <a:gsLst>
                <a:gs pos="0">
                  <a:srgbClr val="729EB4"/>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AutoShape 9">
              <a:extLst>
                <a:ext uri="{FF2B5EF4-FFF2-40B4-BE49-F238E27FC236}">
                  <a16:creationId xmlns:a16="http://schemas.microsoft.com/office/drawing/2014/main" id="{76AF731A-E601-44D4-A74C-13BA3A36DE1B}"/>
                </a:ext>
              </a:extLst>
            </p:cNvPr>
            <p:cNvSpPr>
              <a:spLocks noChangeArrowheads="1"/>
            </p:cNvSpPr>
            <p:nvPr/>
          </p:nvSpPr>
          <p:spPr bwMode="gray">
            <a:xfrm>
              <a:off x="752" y="3305"/>
              <a:ext cx="1304" cy="487"/>
            </a:xfrm>
            <a:prstGeom prst="roundRect">
              <a:avLst>
                <a:gd name="adj" fmla="val 50000"/>
              </a:avLst>
            </a:prstGeom>
            <a:gradFill rotWithShape="1">
              <a:gsLst>
                <a:gs pos="0">
                  <a:srgbClr val="7DAFD4"/>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 name="Group 10">
              <a:extLst>
                <a:ext uri="{FF2B5EF4-FFF2-40B4-BE49-F238E27FC236}">
                  <a16:creationId xmlns:a16="http://schemas.microsoft.com/office/drawing/2014/main" id="{18BFBB21-C849-425C-881C-44A04D21E379}"/>
                </a:ext>
              </a:extLst>
            </p:cNvPr>
            <p:cNvGrpSpPr>
              <a:grpSpLocks/>
            </p:cNvGrpSpPr>
            <p:nvPr/>
          </p:nvGrpSpPr>
          <p:grpSpPr bwMode="auto">
            <a:xfrm>
              <a:off x="1189" y="1280"/>
              <a:ext cx="405" cy="436"/>
              <a:chOff x="1289" y="556"/>
              <a:chExt cx="668" cy="719"/>
            </a:xfrm>
          </p:grpSpPr>
          <p:sp>
            <p:nvSpPr>
              <p:cNvPr id="14" name="Oval 11">
                <a:extLst>
                  <a:ext uri="{FF2B5EF4-FFF2-40B4-BE49-F238E27FC236}">
                    <a16:creationId xmlns:a16="http://schemas.microsoft.com/office/drawing/2014/main" id="{48D96EEB-968D-4A09-8704-02A466240DBE}"/>
                  </a:ext>
                </a:extLst>
              </p:cNvPr>
              <p:cNvSpPr>
                <a:spLocks noChangeArrowheads="1"/>
              </p:cNvSpPr>
              <p:nvPr/>
            </p:nvSpPr>
            <p:spPr bwMode="gray">
              <a:xfrm>
                <a:off x="1289" y="556"/>
                <a:ext cx="668" cy="719"/>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15" name="Oval 12">
                <a:extLst>
                  <a:ext uri="{FF2B5EF4-FFF2-40B4-BE49-F238E27FC236}">
                    <a16:creationId xmlns:a16="http://schemas.microsoft.com/office/drawing/2014/main" id="{40A766BE-1267-4A3F-9DA1-A52843A860AC}"/>
                  </a:ext>
                </a:extLst>
              </p:cNvPr>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6" name="Oval 13">
                <a:extLst>
                  <a:ext uri="{FF2B5EF4-FFF2-40B4-BE49-F238E27FC236}">
                    <a16:creationId xmlns:a16="http://schemas.microsoft.com/office/drawing/2014/main" id="{0409AF9E-5107-42DA-A7BD-07480DB28A16}"/>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7" name="Oval 14">
                <a:extLst>
                  <a:ext uri="{FF2B5EF4-FFF2-40B4-BE49-F238E27FC236}">
                    <a16:creationId xmlns:a16="http://schemas.microsoft.com/office/drawing/2014/main" id="{F4E1C2EA-E4D1-4313-B563-E3EA31E4936E}"/>
                  </a:ext>
                </a:extLst>
              </p:cNvPr>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8" name="Oval 15">
                <a:extLst>
                  <a:ext uri="{FF2B5EF4-FFF2-40B4-BE49-F238E27FC236}">
                    <a16:creationId xmlns:a16="http://schemas.microsoft.com/office/drawing/2014/main" id="{398CCCDF-1325-49D1-AF7D-D8B6F8E5D571}"/>
                  </a:ext>
                </a:extLst>
              </p:cNvPr>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12" name="Text Box 16">
              <a:extLst>
                <a:ext uri="{FF2B5EF4-FFF2-40B4-BE49-F238E27FC236}">
                  <a16:creationId xmlns:a16="http://schemas.microsoft.com/office/drawing/2014/main" id="{0BF688CF-8827-4DCC-93E0-593C54A043CA}"/>
                </a:ext>
              </a:extLst>
            </p:cNvPr>
            <p:cNvSpPr txBox="1">
              <a:spLocks noChangeArrowheads="1"/>
            </p:cNvSpPr>
            <p:nvPr/>
          </p:nvSpPr>
          <p:spPr bwMode="gray">
            <a:xfrm>
              <a:off x="1223" y="1369"/>
              <a:ext cx="327"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latin typeface="微软雅黑" pitchFamily="34" charset="-122"/>
                  <a:ea typeface="微软雅黑" pitchFamily="34" charset="-122"/>
                </a:rPr>
                <a:t>知识</a:t>
              </a:r>
              <a:endParaRPr lang="en-US" altLang="zh-CN" b="1" dirty="0">
                <a:latin typeface="微软雅黑" pitchFamily="34" charset="-122"/>
                <a:ea typeface="微软雅黑" pitchFamily="34" charset="-122"/>
              </a:endParaRPr>
            </a:p>
          </p:txBody>
        </p:sp>
        <p:sp>
          <p:nvSpPr>
            <p:cNvPr id="13" name="Text Box 17">
              <a:extLst>
                <a:ext uri="{FF2B5EF4-FFF2-40B4-BE49-F238E27FC236}">
                  <a16:creationId xmlns:a16="http://schemas.microsoft.com/office/drawing/2014/main" id="{2887971D-BD6E-4AAC-A0CD-59394D9C75A1}"/>
                </a:ext>
              </a:extLst>
            </p:cNvPr>
            <p:cNvSpPr txBox="1">
              <a:spLocks noChangeArrowheads="1"/>
            </p:cNvSpPr>
            <p:nvPr/>
          </p:nvSpPr>
          <p:spPr bwMode="gray">
            <a:xfrm>
              <a:off x="768" y="1726"/>
              <a:ext cx="1296" cy="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熟悉概念结构设计流程</a:t>
              </a:r>
            </a:p>
            <a:p>
              <a:pPr>
                <a:lnSpc>
                  <a:spcPct val="125000"/>
                </a:lnSpc>
              </a:pPr>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理解</a:t>
              </a:r>
              <a:r>
                <a:rPr lang="en-US" altLang="zh-CN" dirty="0">
                  <a:latin typeface="微软雅黑" pitchFamily="34" charset="-122"/>
                  <a:ea typeface="微软雅黑" pitchFamily="34" charset="-122"/>
                </a:rPr>
                <a:t>ER</a:t>
              </a:r>
              <a:r>
                <a:rPr lang="zh-CN" altLang="en-US" dirty="0">
                  <a:latin typeface="微软雅黑" pitchFamily="34" charset="-122"/>
                  <a:ea typeface="微软雅黑" pitchFamily="34" charset="-122"/>
                </a:rPr>
                <a:t>图集成消除冲突的方法</a:t>
              </a:r>
            </a:p>
            <a:p>
              <a:pPr>
                <a:lnSpc>
                  <a:spcPct val="125000"/>
                </a:lnSpc>
              </a:pPr>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理解实体划分准则</a:t>
              </a:r>
            </a:p>
          </p:txBody>
        </p:sp>
      </p:grpSp>
      <p:grpSp>
        <p:nvGrpSpPr>
          <p:cNvPr id="19" name="Group 18">
            <a:extLst>
              <a:ext uri="{FF2B5EF4-FFF2-40B4-BE49-F238E27FC236}">
                <a16:creationId xmlns:a16="http://schemas.microsoft.com/office/drawing/2014/main" id="{AC85A0A7-F76C-439E-9A75-85779760D4AA}"/>
              </a:ext>
            </a:extLst>
          </p:cNvPr>
          <p:cNvGrpSpPr>
            <a:grpSpLocks/>
          </p:cNvGrpSpPr>
          <p:nvPr/>
        </p:nvGrpSpPr>
        <p:grpSpPr bwMode="auto">
          <a:xfrm>
            <a:off x="3204148" y="850702"/>
            <a:ext cx="2700000" cy="3672000"/>
            <a:chOff x="2208" y="1280"/>
            <a:chExt cx="1365" cy="2558"/>
          </a:xfrm>
        </p:grpSpPr>
        <p:sp>
          <p:nvSpPr>
            <p:cNvPr id="20" name="AutoShape 19">
              <a:extLst>
                <a:ext uri="{FF2B5EF4-FFF2-40B4-BE49-F238E27FC236}">
                  <a16:creationId xmlns:a16="http://schemas.microsoft.com/office/drawing/2014/main" id="{F59DDAF0-D63B-4037-97CE-5799463C8AC9}"/>
                </a:ext>
              </a:extLst>
            </p:cNvPr>
            <p:cNvSpPr>
              <a:spLocks noChangeArrowheads="1"/>
            </p:cNvSpPr>
            <p:nvPr/>
          </p:nvSpPr>
          <p:spPr bwMode="gray">
            <a:xfrm>
              <a:off x="2208" y="1490"/>
              <a:ext cx="1363" cy="1800"/>
            </a:xfrm>
            <a:prstGeom prst="roundRect">
              <a:avLst>
                <a:gd name="adj" fmla="val 17509"/>
              </a:avLst>
            </a:prstGeom>
            <a:gradFill rotWithShape="1">
              <a:gsLst>
                <a:gs pos="0">
                  <a:srgbClr val="34B034"/>
                </a:gs>
                <a:gs pos="100000">
                  <a:srgbClr val="3F8B4A"/>
                </a:gs>
              </a:gsLst>
              <a:lin ang="27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AutoShape 20">
              <a:extLst>
                <a:ext uri="{FF2B5EF4-FFF2-40B4-BE49-F238E27FC236}">
                  <a16:creationId xmlns:a16="http://schemas.microsoft.com/office/drawing/2014/main" id="{5C7E3FFC-80D4-4112-992F-1186EC3E3815}"/>
                </a:ext>
              </a:extLst>
            </p:cNvPr>
            <p:cNvSpPr>
              <a:spLocks noChangeArrowheads="1"/>
            </p:cNvSpPr>
            <p:nvPr/>
          </p:nvSpPr>
          <p:spPr bwMode="gray">
            <a:xfrm>
              <a:off x="2229" y="1495"/>
              <a:ext cx="1322" cy="1766"/>
            </a:xfrm>
            <a:prstGeom prst="roundRect">
              <a:avLst>
                <a:gd name="adj" fmla="val 16667"/>
              </a:avLst>
            </a:prstGeom>
            <a:solidFill>
              <a:srgbClr val="73E77E"/>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utoShape 21">
              <a:extLst>
                <a:ext uri="{FF2B5EF4-FFF2-40B4-BE49-F238E27FC236}">
                  <a16:creationId xmlns:a16="http://schemas.microsoft.com/office/drawing/2014/main" id="{EE374C75-611C-43AF-8CCE-9781B13711B4}"/>
                </a:ext>
              </a:extLst>
            </p:cNvPr>
            <p:cNvSpPr>
              <a:spLocks noChangeArrowheads="1"/>
            </p:cNvSpPr>
            <p:nvPr/>
          </p:nvSpPr>
          <p:spPr bwMode="gray">
            <a:xfrm>
              <a:off x="2240" y="2795"/>
              <a:ext cx="1304" cy="447"/>
            </a:xfrm>
            <a:prstGeom prst="roundRect">
              <a:avLst>
                <a:gd name="adj" fmla="val 50000"/>
              </a:avLst>
            </a:prstGeom>
            <a:gradFill rotWithShape="1">
              <a:gsLst>
                <a:gs pos="0">
                  <a:srgbClr val="73E77E"/>
                </a:gs>
                <a:gs pos="100000">
                  <a:srgbClr val="73E77E">
                    <a:gamma/>
                    <a:tint val="54510"/>
                    <a:invGamma/>
                  </a:srgb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AutoShape 22">
              <a:extLst>
                <a:ext uri="{FF2B5EF4-FFF2-40B4-BE49-F238E27FC236}">
                  <a16:creationId xmlns:a16="http://schemas.microsoft.com/office/drawing/2014/main" id="{39E35454-81F1-4084-BF33-428C2C898117}"/>
                </a:ext>
              </a:extLst>
            </p:cNvPr>
            <p:cNvSpPr>
              <a:spLocks noChangeArrowheads="1"/>
            </p:cNvSpPr>
            <p:nvPr/>
          </p:nvSpPr>
          <p:spPr bwMode="gray">
            <a:xfrm>
              <a:off x="2240" y="1509"/>
              <a:ext cx="1304" cy="446"/>
            </a:xfrm>
            <a:prstGeom prst="roundRect">
              <a:avLst>
                <a:gd name="adj" fmla="val 50000"/>
              </a:avLst>
            </a:prstGeom>
            <a:gradFill rotWithShape="1">
              <a:gsLst>
                <a:gs pos="0">
                  <a:srgbClr val="73E77E">
                    <a:gamma/>
                    <a:tint val="33333"/>
                    <a:invGamma/>
                  </a:srgbClr>
                </a:gs>
                <a:gs pos="100000">
                  <a:srgbClr val="73E77E"/>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3">
              <a:extLst>
                <a:ext uri="{FF2B5EF4-FFF2-40B4-BE49-F238E27FC236}">
                  <a16:creationId xmlns:a16="http://schemas.microsoft.com/office/drawing/2014/main" id="{6D2A7449-D82A-4BAC-9B60-0913E211677C}"/>
                </a:ext>
              </a:extLst>
            </p:cNvPr>
            <p:cNvSpPr>
              <a:spLocks noChangeArrowheads="1"/>
            </p:cNvSpPr>
            <p:nvPr/>
          </p:nvSpPr>
          <p:spPr bwMode="gray">
            <a:xfrm>
              <a:off x="2677" y="1280"/>
              <a:ext cx="405" cy="436"/>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25" name="Oval 24">
              <a:extLst>
                <a:ext uri="{FF2B5EF4-FFF2-40B4-BE49-F238E27FC236}">
                  <a16:creationId xmlns:a16="http://schemas.microsoft.com/office/drawing/2014/main" id="{4CE6C555-7C51-41FF-9223-8995BEBF41C8}"/>
                </a:ext>
              </a:extLst>
            </p:cNvPr>
            <p:cNvSpPr>
              <a:spLocks noChangeArrowheads="1"/>
            </p:cNvSpPr>
            <p:nvPr/>
          </p:nvSpPr>
          <p:spPr bwMode="gray">
            <a:xfrm>
              <a:off x="2681" y="1299"/>
              <a:ext cx="392" cy="392"/>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6" name="Oval 25">
              <a:extLst>
                <a:ext uri="{FF2B5EF4-FFF2-40B4-BE49-F238E27FC236}">
                  <a16:creationId xmlns:a16="http://schemas.microsoft.com/office/drawing/2014/main" id="{CC351D54-227C-4CC7-A29F-9A5F26CA95C1}"/>
                </a:ext>
              </a:extLst>
            </p:cNvPr>
            <p:cNvSpPr>
              <a:spLocks noChangeArrowheads="1"/>
            </p:cNvSpPr>
            <p:nvPr/>
          </p:nvSpPr>
          <p:spPr bwMode="gray">
            <a:xfrm>
              <a:off x="2686" y="1301"/>
              <a:ext cx="383" cy="383"/>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7" name="Oval 26">
              <a:extLst>
                <a:ext uri="{FF2B5EF4-FFF2-40B4-BE49-F238E27FC236}">
                  <a16:creationId xmlns:a16="http://schemas.microsoft.com/office/drawing/2014/main" id="{18B68E6E-C7EF-4396-B6DE-A1C92407D4FB}"/>
                </a:ext>
              </a:extLst>
            </p:cNvPr>
            <p:cNvSpPr>
              <a:spLocks noChangeArrowheads="1"/>
            </p:cNvSpPr>
            <p:nvPr/>
          </p:nvSpPr>
          <p:spPr bwMode="gray">
            <a:xfrm>
              <a:off x="2690" y="1305"/>
              <a:ext cx="364" cy="357"/>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8" name="Oval 27">
              <a:extLst>
                <a:ext uri="{FF2B5EF4-FFF2-40B4-BE49-F238E27FC236}">
                  <a16:creationId xmlns:a16="http://schemas.microsoft.com/office/drawing/2014/main" id="{AA49D91F-46D1-4DBD-8781-A25566F96C72}"/>
                </a:ext>
              </a:extLst>
            </p:cNvPr>
            <p:cNvSpPr>
              <a:spLocks noChangeArrowheads="1"/>
            </p:cNvSpPr>
            <p:nvPr/>
          </p:nvSpPr>
          <p:spPr bwMode="gray">
            <a:xfrm>
              <a:off x="2712" y="1315"/>
              <a:ext cx="323" cy="290"/>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29" name="Text Box 28">
              <a:extLst>
                <a:ext uri="{FF2B5EF4-FFF2-40B4-BE49-F238E27FC236}">
                  <a16:creationId xmlns:a16="http://schemas.microsoft.com/office/drawing/2014/main" id="{00C9FA70-8321-4C14-8824-C44BF7BED79D}"/>
                </a:ext>
              </a:extLst>
            </p:cNvPr>
            <p:cNvSpPr txBox="1">
              <a:spLocks noChangeArrowheads="1"/>
            </p:cNvSpPr>
            <p:nvPr/>
          </p:nvSpPr>
          <p:spPr bwMode="gray">
            <a:xfrm>
              <a:off x="2709" y="1369"/>
              <a:ext cx="327"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latin typeface="微软雅黑" pitchFamily="34" charset="-122"/>
                  <a:ea typeface="微软雅黑" pitchFamily="34" charset="-122"/>
                </a:rPr>
                <a:t>能力</a:t>
              </a:r>
              <a:endParaRPr lang="en-US" altLang="zh-CN" b="1" dirty="0">
                <a:latin typeface="微软雅黑" pitchFamily="34" charset="-122"/>
                <a:ea typeface="微软雅黑" pitchFamily="34" charset="-122"/>
              </a:endParaRPr>
            </a:p>
          </p:txBody>
        </p:sp>
        <p:sp>
          <p:nvSpPr>
            <p:cNvPr id="30" name="Text Box 29">
              <a:extLst>
                <a:ext uri="{FF2B5EF4-FFF2-40B4-BE49-F238E27FC236}">
                  <a16:creationId xmlns:a16="http://schemas.microsoft.com/office/drawing/2014/main" id="{B7C8BC4D-F324-4CB1-AECC-99B00E9142C9}"/>
                </a:ext>
              </a:extLst>
            </p:cNvPr>
            <p:cNvSpPr txBox="1">
              <a:spLocks noChangeArrowheads="1"/>
            </p:cNvSpPr>
            <p:nvPr/>
          </p:nvSpPr>
          <p:spPr bwMode="gray">
            <a:xfrm>
              <a:off x="2256" y="1726"/>
              <a:ext cx="1296" cy="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nSpc>
                  <a:spcPct val="125000"/>
                </a:lnSpc>
                <a:defRPr>
                  <a:latin typeface="微软雅黑" pitchFamily="34" charset="-122"/>
                  <a:ea typeface="微软雅黑" pitchFamily="34" charset="-122"/>
                </a:defRPr>
              </a:lvl1pPr>
            </a:lstStyle>
            <a:p>
              <a:r>
                <a:rPr lang="en-US" altLang="zh-CN" dirty="0"/>
                <a:t>1.</a:t>
              </a:r>
              <a:r>
                <a:rPr lang="zh-CN" altLang="en-US" dirty="0"/>
                <a:t>掌握概念结构设计方法</a:t>
              </a:r>
            </a:p>
            <a:p>
              <a:r>
                <a:rPr lang="en-US" altLang="zh-CN" dirty="0"/>
                <a:t>2.</a:t>
              </a:r>
              <a:r>
                <a:rPr lang="zh-CN" altLang="en-US" dirty="0"/>
                <a:t>掌握概念提取方法</a:t>
              </a:r>
            </a:p>
            <a:p>
              <a:r>
                <a:rPr lang="en-US" altLang="zh-CN" dirty="0"/>
                <a:t>3.</a:t>
              </a:r>
              <a:r>
                <a:rPr lang="zh-CN" altLang="en-US" dirty="0"/>
                <a:t>掌握</a:t>
              </a:r>
              <a:r>
                <a:rPr lang="en-US" altLang="zh-CN" dirty="0"/>
                <a:t>ER</a:t>
              </a:r>
              <a:r>
                <a:rPr lang="zh-CN" altLang="en-US" dirty="0"/>
                <a:t>图绘制及集成方法</a:t>
              </a:r>
              <a:endParaRPr lang="en-US" altLang="zh-CN" dirty="0"/>
            </a:p>
            <a:p>
              <a:r>
                <a:rPr lang="en-US" altLang="zh-CN" dirty="0"/>
                <a:t>4.</a:t>
              </a:r>
              <a:r>
                <a:rPr lang="zh-CN" altLang="en-US" dirty="0"/>
                <a:t>掌握概念模型优化</a:t>
              </a:r>
            </a:p>
          </p:txBody>
        </p:sp>
        <p:sp>
          <p:nvSpPr>
            <p:cNvPr id="31" name="AutoShape 30">
              <a:extLst>
                <a:ext uri="{FF2B5EF4-FFF2-40B4-BE49-F238E27FC236}">
                  <a16:creationId xmlns:a16="http://schemas.microsoft.com/office/drawing/2014/main" id="{3D69C875-6A24-4243-9DA0-63D23DD52A4B}"/>
                </a:ext>
              </a:extLst>
            </p:cNvPr>
            <p:cNvSpPr>
              <a:spLocks noChangeArrowheads="1"/>
            </p:cNvSpPr>
            <p:nvPr/>
          </p:nvSpPr>
          <p:spPr bwMode="gray">
            <a:xfrm>
              <a:off x="2210" y="3290"/>
              <a:ext cx="1363" cy="548"/>
            </a:xfrm>
            <a:prstGeom prst="roundRect">
              <a:avLst>
                <a:gd name="adj" fmla="val 40389"/>
              </a:avLst>
            </a:prstGeom>
            <a:gradFill rotWithShape="1">
              <a:gsLst>
                <a:gs pos="0">
                  <a:srgbClr val="58A4AE"/>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AutoShape 31">
              <a:extLst>
                <a:ext uri="{FF2B5EF4-FFF2-40B4-BE49-F238E27FC236}">
                  <a16:creationId xmlns:a16="http://schemas.microsoft.com/office/drawing/2014/main" id="{2D2879C8-5AEC-4B0D-BD9E-B75162712424}"/>
                </a:ext>
              </a:extLst>
            </p:cNvPr>
            <p:cNvSpPr>
              <a:spLocks noChangeArrowheads="1"/>
            </p:cNvSpPr>
            <p:nvPr/>
          </p:nvSpPr>
          <p:spPr bwMode="gray">
            <a:xfrm>
              <a:off x="2238" y="3305"/>
              <a:ext cx="1304" cy="487"/>
            </a:xfrm>
            <a:prstGeom prst="roundRect">
              <a:avLst>
                <a:gd name="adj" fmla="val 50000"/>
              </a:avLst>
            </a:prstGeom>
            <a:gradFill rotWithShape="1">
              <a:gsLst>
                <a:gs pos="0">
                  <a:srgbClr val="72B2BB"/>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8" name="Group 32">
            <a:extLst>
              <a:ext uri="{FF2B5EF4-FFF2-40B4-BE49-F238E27FC236}">
                <a16:creationId xmlns:a16="http://schemas.microsoft.com/office/drawing/2014/main" id="{2750FBBD-039E-44BE-BBCD-AF52B8D7A036}"/>
              </a:ext>
            </a:extLst>
          </p:cNvPr>
          <p:cNvGrpSpPr>
            <a:grpSpLocks/>
          </p:cNvGrpSpPr>
          <p:nvPr/>
        </p:nvGrpSpPr>
        <p:grpSpPr bwMode="auto">
          <a:xfrm>
            <a:off x="6192480" y="850702"/>
            <a:ext cx="2700000" cy="3672000"/>
            <a:chOff x="3692" y="1280"/>
            <a:chExt cx="1367" cy="2558"/>
          </a:xfrm>
        </p:grpSpPr>
        <p:sp>
          <p:nvSpPr>
            <p:cNvPr id="49" name="AutoShape 33">
              <a:extLst>
                <a:ext uri="{FF2B5EF4-FFF2-40B4-BE49-F238E27FC236}">
                  <a16:creationId xmlns:a16="http://schemas.microsoft.com/office/drawing/2014/main" id="{EF5DC830-E164-4682-9D90-4D63B3663141}"/>
                </a:ext>
              </a:extLst>
            </p:cNvPr>
            <p:cNvSpPr>
              <a:spLocks noChangeArrowheads="1"/>
            </p:cNvSpPr>
            <p:nvPr/>
          </p:nvSpPr>
          <p:spPr bwMode="gray">
            <a:xfrm>
              <a:off x="3696" y="1490"/>
              <a:ext cx="1363" cy="1800"/>
            </a:xfrm>
            <a:prstGeom prst="roundRect">
              <a:avLst>
                <a:gd name="adj" fmla="val 17509"/>
              </a:avLst>
            </a:prstGeom>
            <a:gradFill rotWithShape="1">
              <a:gsLst>
                <a:gs pos="0">
                  <a:srgbClr val="B59F43"/>
                </a:gs>
                <a:gs pos="100000">
                  <a:srgbClr val="8F8849"/>
                </a:gs>
              </a:gsLst>
              <a:lin ang="27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AutoShape 34">
              <a:extLst>
                <a:ext uri="{FF2B5EF4-FFF2-40B4-BE49-F238E27FC236}">
                  <a16:creationId xmlns:a16="http://schemas.microsoft.com/office/drawing/2014/main" id="{5AE643AD-44C3-4872-9B3F-53F8A1E2B642}"/>
                </a:ext>
              </a:extLst>
            </p:cNvPr>
            <p:cNvSpPr>
              <a:spLocks noChangeArrowheads="1"/>
            </p:cNvSpPr>
            <p:nvPr/>
          </p:nvSpPr>
          <p:spPr bwMode="gray">
            <a:xfrm>
              <a:off x="3717" y="1495"/>
              <a:ext cx="1322" cy="1766"/>
            </a:xfrm>
            <a:prstGeom prst="roundRect">
              <a:avLst>
                <a:gd name="adj" fmla="val 16667"/>
              </a:avLst>
            </a:prstGeom>
            <a:solidFill>
              <a:srgbClr val="E9E065"/>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utoShape 35">
              <a:extLst>
                <a:ext uri="{FF2B5EF4-FFF2-40B4-BE49-F238E27FC236}">
                  <a16:creationId xmlns:a16="http://schemas.microsoft.com/office/drawing/2014/main" id="{C1F2A443-0422-4235-B975-7664C4D6371D}"/>
                </a:ext>
              </a:extLst>
            </p:cNvPr>
            <p:cNvSpPr>
              <a:spLocks noChangeArrowheads="1"/>
            </p:cNvSpPr>
            <p:nvPr/>
          </p:nvSpPr>
          <p:spPr bwMode="gray">
            <a:xfrm>
              <a:off x="3728" y="2795"/>
              <a:ext cx="1304" cy="447"/>
            </a:xfrm>
            <a:prstGeom prst="roundRect">
              <a:avLst>
                <a:gd name="adj" fmla="val 50000"/>
              </a:avLst>
            </a:prstGeom>
            <a:gradFill rotWithShape="1">
              <a:gsLst>
                <a:gs pos="0">
                  <a:srgbClr val="E9E065"/>
                </a:gs>
                <a:gs pos="100000">
                  <a:srgbClr val="E9E065">
                    <a:gamma/>
                    <a:tint val="57647"/>
                    <a:invGamma/>
                  </a:srgb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AutoShape 36">
              <a:extLst>
                <a:ext uri="{FF2B5EF4-FFF2-40B4-BE49-F238E27FC236}">
                  <a16:creationId xmlns:a16="http://schemas.microsoft.com/office/drawing/2014/main" id="{38B77425-6D00-4BA4-9D73-25D0CEA13715}"/>
                </a:ext>
              </a:extLst>
            </p:cNvPr>
            <p:cNvSpPr>
              <a:spLocks noChangeArrowheads="1"/>
            </p:cNvSpPr>
            <p:nvPr/>
          </p:nvSpPr>
          <p:spPr bwMode="gray">
            <a:xfrm>
              <a:off x="3728" y="1509"/>
              <a:ext cx="1304" cy="446"/>
            </a:xfrm>
            <a:prstGeom prst="roundRect">
              <a:avLst>
                <a:gd name="adj" fmla="val 50000"/>
              </a:avLst>
            </a:prstGeom>
            <a:gradFill rotWithShape="1">
              <a:gsLst>
                <a:gs pos="0">
                  <a:srgbClr val="E9E065">
                    <a:gamma/>
                    <a:tint val="33333"/>
                    <a:invGamma/>
                  </a:srgbClr>
                </a:gs>
                <a:gs pos="100000">
                  <a:srgbClr val="E9E065"/>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3" name="Group 37">
              <a:extLst>
                <a:ext uri="{FF2B5EF4-FFF2-40B4-BE49-F238E27FC236}">
                  <a16:creationId xmlns:a16="http://schemas.microsoft.com/office/drawing/2014/main" id="{F06C3750-67E5-44D9-9F66-9C351AE3DFAD}"/>
                </a:ext>
              </a:extLst>
            </p:cNvPr>
            <p:cNvGrpSpPr>
              <a:grpSpLocks/>
            </p:cNvGrpSpPr>
            <p:nvPr/>
          </p:nvGrpSpPr>
          <p:grpSpPr bwMode="auto">
            <a:xfrm>
              <a:off x="4165" y="1280"/>
              <a:ext cx="405" cy="436"/>
              <a:chOff x="1289" y="556"/>
              <a:chExt cx="668" cy="719"/>
            </a:xfrm>
          </p:grpSpPr>
          <p:sp>
            <p:nvSpPr>
              <p:cNvPr id="58" name="Oval 38">
                <a:extLst>
                  <a:ext uri="{FF2B5EF4-FFF2-40B4-BE49-F238E27FC236}">
                    <a16:creationId xmlns:a16="http://schemas.microsoft.com/office/drawing/2014/main" id="{DECBBD4D-5C7D-45BE-9128-570B6EE688DE}"/>
                  </a:ext>
                </a:extLst>
              </p:cNvPr>
              <p:cNvSpPr>
                <a:spLocks noChangeArrowheads="1"/>
              </p:cNvSpPr>
              <p:nvPr/>
            </p:nvSpPr>
            <p:spPr bwMode="gray">
              <a:xfrm>
                <a:off x="1289" y="556"/>
                <a:ext cx="668" cy="719"/>
              </a:xfrm>
              <a:prstGeom prst="ellipse">
                <a:avLst/>
              </a:prstGeom>
              <a:solidFill>
                <a:srgbClr val="333333"/>
              </a:solidFill>
              <a:ln>
                <a:noFill/>
              </a:ln>
              <a:effectLst/>
              <a:extLst>
                <a:ext uri="{91240B29-F687-4F45-9708-019B960494DF}">
                  <a14:hiddenLine xmlns:a14="http://schemas.microsoft.com/office/drawing/2010/main" w="38100" algn="ctr">
                    <a:solidFill>
                      <a:schemeClr val="bg1"/>
                    </a:solidFill>
                    <a:round/>
                    <a:headEnd/>
                    <a:tailEnd/>
                  </a14:hiddenLine>
                </a:ext>
                <a:ext uri="{AF507438-7753-43E0-B8FC-AC1667EBCBE1}">
                  <a14:hiddenEffects xmlns:a14="http://schemas.microsoft.com/office/drawing/2010/main">
                    <a:effectLst>
                      <a:outerShdw dist="109250" dir="3267739" algn="ctr" rotWithShape="0">
                        <a:srgbClr val="808080">
                          <a:alpha val="50000"/>
                        </a:srgbClr>
                      </a:outerShdw>
                    </a:effectLst>
                  </a14:hiddenEffects>
                </a:ext>
              </a:extLst>
            </p:spPr>
            <p:txBody>
              <a:bodyPr anchor="ctr">
                <a:spAutoFit/>
              </a:bodyPr>
              <a:lstStyle/>
              <a:p>
                <a:endParaRPr lang="zh-CN" altLang="en-US"/>
              </a:p>
            </p:txBody>
          </p:sp>
          <p:sp>
            <p:nvSpPr>
              <p:cNvPr id="59" name="Oval 39">
                <a:extLst>
                  <a:ext uri="{FF2B5EF4-FFF2-40B4-BE49-F238E27FC236}">
                    <a16:creationId xmlns:a16="http://schemas.microsoft.com/office/drawing/2014/main" id="{1705CB6E-160B-4677-844F-EA09E686442B}"/>
                  </a:ext>
                </a:extLst>
              </p:cNvPr>
              <p:cNvSpPr>
                <a:spLocks noChangeArrowheads="1"/>
              </p:cNvSpPr>
              <p:nvPr/>
            </p:nvSpPr>
            <p:spPr bwMode="gray">
              <a:xfrm>
                <a:off x="1296" y="587"/>
                <a:ext cx="646" cy="647"/>
              </a:xfrm>
              <a:prstGeom prst="ellipse">
                <a:avLst/>
              </a:prstGeom>
              <a:gradFill rotWithShape="1">
                <a:gsLst>
                  <a:gs pos="0">
                    <a:srgbClr val="D6E1E2">
                      <a:gamma/>
                      <a:shade val="46275"/>
                      <a:invGamma/>
                    </a:srgbClr>
                  </a:gs>
                  <a:gs pos="100000">
                    <a:srgbClr val="D6E1E2"/>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60" name="Oval 40">
                <a:extLst>
                  <a:ext uri="{FF2B5EF4-FFF2-40B4-BE49-F238E27FC236}">
                    <a16:creationId xmlns:a16="http://schemas.microsoft.com/office/drawing/2014/main" id="{DC8B9138-4D6D-48D1-92E7-AE8BA12AA146}"/>
                  </a:ext>
                </a:extLst>
              </p:cNvPr>
              <p:cNvSpPr>
                <a:spLocks noChangeArrowheads="1"/>
              </p:cNvSpPr>
              <p:nvPr/>
            </p:nvSpPr>
            <p:spPr bwMode="gray">
              <a:xfrm>
                <a:off x="1304" y="591"/>
                <a:ext cx="631" cy="631"/>
              </a:xfrm>
              <a:prstGeom prst="ellipse">
                <a:avLst/>
              </a:prstGeom>
              <a:gradFill rotWithShape="1">
                <a:gsLst>
                  <a:gs pos="0">
                    <a:srgbClr val="D6E1E2">
                      <a:alpha val="0"/>
                    </a:srgbClr>
                  </a:gs>
                  <a:gs pos="100000">
                    <a:srgbClr val="D6E1E2">
                      <a:gamma/>
                      <a:tint val="34902"/>
                      <a:invGamma/>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61" name="Oval 41">
                <a:extLst>
                  <a:ext uri="{FF2B5EF4-FFF2-40B4-BE49-F238E27FC236}">
                    <a16:creationId xmlns:a16="http://schemas.microsoft.com/office/drawing/2014/main" id="{580EB091-0A13-4CD1-88E3-3A32676FFB2A}"/>
                  </a:ext>
                </a:extLst>
              </p:cNvPr>
              <p:cNvSpPr>
                <a:spLocks noChangeArrowheads="1"/>
              </p:cNvSpPr>
              <p:nvPr/>
            </p:nvSpPr>
            <p:spPr bwMode="gray">
              <a:xfrm>
                <a:off x="1311" y="597"/>
                <a:ext cx="600" cy="589"/>
              </a:xfrm>
              <a:prstGeom prst="ellipse">
                <a:avLst/>
              </a:prstGeom>
              <a:gradFill rotWithShape="1">
                <a:gsLst>
                  <a:gs pos="0">
                    <a:srgbClr val="D6E1E2">
                      <a:gamma/>
                      <a:shade val="79216"/>
                      <a:invGamma/>
                    </a:srgbClr>
                  </a:gs>
                  <a:gs pos="100000">
                    <a:srgbClr val="D6E1E2">
                      <a:alpha val="4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62" name="Oval 42">
                <a:extLst>
                  <a:ext uri="{FF2B5EF4-FFF2-40B4-BE49-F238E27FC236}">
                    <a16:creationId xmlns:a16="http://schemas.microsoft.com/office/drawing/2014/main" id="{E95CA03D-6049-4205-A9C5-0F09D7ECFBA7}"/>
                  </a:ext>
                </a:extLst>
              </p:cNvPr>
              <p:cNvSpPr>
                <a:spLocks noChangeArrowheads="1"/>
              </p:cNvSpPr>
              <p:nvPr/>
            </p:nvSpPr>
            <p:spPr bwMode="gray">
              <a:xfrm>
                <a:off x="1346" y="613"/>
                <a:ext cx="533" cy="479"/>
              </a:xfrm>
              <a:prstGeom prst="ellipse">
                <a:avLst/>
              </a:prstGeom>
              <a:gradFill rotWithShape="1">
                <a:gsLst>
                  <a:gs pos="0">
                    <a:srgbClr val="D6E1E2">
                      <a:gamma/>
                      <a:tint val="0"/>
                      <a:invGamma/>
                    </a:srgbClr>
                  </a:gs>
                  <a:gs pos="100000">
                    <a:srgbClr val="D6E1E2">
                      <a:alpha val="38000"/>
                    </a:srgbClr>
                  </a:gs>
                </a:gsLst>
                <a:lin ang="5400000" scaled="1"/>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
          <p:nvSpPr>
            <p:cNvPr id="54" name="Text Box 43">
              <a:extLst>
                <a:ext uri="{FF2B5EF4-FFF2-40B4-BE49-F238E27FC236}">
                  <a16:creationId xmlns:a16="http://schemas.microsoft.com/office/drawing/2014/main" id="{2B77AA31-0BBE-4F19-8209-22B9D17150AB}"/>
                </a:ext>
              </a:extLst>
            </p:cNvPr>
            <p:cNvSpPr txBox="1">
              <a:spLocks noChangeArrowheads="1"/>
            </p:cNvSpPr>
            <p:nvPr/>
          </p:nvSpPr>
          <p:spPr bwMode="gray">
            <a:xfrm>
              <a:off x="4197" y="1369"/>
              <a:ext cx="327"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latin typeface="微软雅黑" pitchFamily="34" charset="-122"/>
                  <a:ea typeface="微软雅黑" pitchFamily="34" charset="-122"/>
                </a:rPr>
                <a:t>素质</a:t>
              </a:r>
              <a:endParaRPr lang="en-US" altLang="zh-CN" b="1" dirty="0">
                <a:latin typeface="微软雅黑" pitchFamily="34" charset="-122"/>
                <a:ea typeface="微软雅黑" pitchFamily="34" charset="-122"/>
              </a:endParaRPr>
            </a:p>
          </p:txBody>
        </p:sp>
        <p:sp>
          <p:nvSpPr>
            <p:cNvPr id="55" name="Text Box 44">
              <a:extLst>
                <a:ext uri="{FF2B5EF4-FFF2-40B4-BE49-F238E27FC236}">
                  <a16:creationId xmlns:a16="http://schemas.microsoft.com/office/drawing/2014/main" id="{6ECC5004-8780-46BA-B819-B57DF246129B}"/>
                </a:ext>
              </a:extLst>
            </p:cNvPr>
            <p:cNvSpPr txBox="1">
              <a:spLocks noChangeArrowheads="1"/>
            </p:cNvSpPr>
            <p:nvPr/>
          </p:nvSpPr>
          <p:spPr bwMode="gray">
            <a:xfrm>
              <a:off x="3744" y="1726"/>
              <a:ext cx="1296" cy="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dirty="0">
                  <a:solidFill>
                    <a:srgbClr val="000000"/>
                  </a:solidFill>
                  <a:latin typeface="微软雅黑" pitchFamily="34" charset="-122"/>
                  <a:ea typeface="微软雅黑" pitchFamily="34" charset="-122"/>
                </a:rPr>
                <a:t>1.</a:t>
              </a:r>
              <a:r>
                <a:rPr lang="zh-CN" altLang="en-US" dirty="0">
                  <a:solidFill>
                    <a:srgbClr val="000000"/>
                  </a:solidFill>
                  <a:latin typeface="微软雅黑" pitchFamily="34" charset="-122"/>
                  <a:ea typeface="微软雅黑" pitchFamily="34" charset="-122"/>
                </a:rPr>
                <a:t>培养一丝不苟的设计习惯</a:t>
              </a:r>
            </a:p>
            <a:p>
              <a:pPr>
                <a:lnSpc>
                  <a:spcPct val="125000"/>
                </a:lnSpc>
              </a:pPr>
              <a:r>
                <a:rPr lang="en-US" altLang="zh-CN" dirty="0">
                  <a:solidFill>
                    <a:srgbClr val="000000"/>
                  </a:solidFill>
                  <a:latin typeface="微软雅黑" pitchFamily="34" charset="-122"/>
                  <a:ea typeface="微软雅黑" pitchFamily="34" charset="-122"/>
                </a:rPr>
                <a:t>2.</a:t>
              </a:r>
              <a:r>
                <a:rPr lang="zh-CN" altLang="en-US" dirty="0">
                  <a:solidFill>
                    <a:srgbClr val="000000"/>
                  </a:solidFill>
                  <a:latin typeface="微软雅黑" pitchFamily="34" charset="-122"/>
                  <a:ea typeface="微软雅黑" pitchFamily="34" charset="-122"/>
                </a:rPr>
                <a:t>培养精益求精的工匠精神</a:t>
              </a:r>
            </a:p>
            <a:p>
              <a:pPr>
                <a:lnSpc>
                  <a:spcPct val="125000"/>
                </a:lnSpc>
              </a:pPr>
              <a:r>
                <a:rPr lang="en-US" altLang="zh-CN" dirty="0">
                  <a:solidFill>
                    <a:srgbClr val="000000"/>
                  </a:solidFill>
                  <a:latin typeface="微软雅黑" pitchFamily="34" charset="-122"/>
                  <a:ea typeface="微软雅黑" pitchFamily="34" charset="-122"/>
                </a:rPr>
                <a:t>3.</a:t>
              </a:r>
              <a:r>
                <a:rPr lang="zh-CN" altLang="en-US" dirty="0">
                  <a:solidFill>
                    <a:srgbClr val="000000"/>
                  </a:solidFill>
                  <a:latin typeface="微软雅黑" pitchFamily="34" charset="-122"/>
                  <a:ea typeface="微软雅黑" pitchFamily="34" charset="-122"/>
                </a:rPr>
                <a:t>培养概念结构设计的更新能力</a:t>
              </a:r>
            </a:p>
          </p:txBody>
        </p:sp>
        <p:sp>
          <p:nvSpPr>
            <p:cNvPr id="56" name="AutoShape 45">
              <a:extLst>
                <a:ext uri="{FF2B5EF4-FFF2-40B4-BE49-F238E27FC236}">
                  <a16:creationId xmlns:a16="http://schemas.microsoft.com/office/drawing/2014/main" id="{AD8DAB6B-D015-456B-8D0B-73974D046291}"/>
                </a:ext>
              </a:extLst>
            </p:cNvPr>
            <p:cNvSpPr>
              <a:spLocks noChangeArrowheads="1"/>
            </p:cNvSpPr>
            <p:nvPr/>
          </p:nvSpPr>
          <p:spPr bwMode="gray">
            <a:xfrm>
              <a:off x="3692" y="3290"/>
              <a:ext cx="1363" cy="548"/>
            </a:xfrm>
            <a:prstGeom prst="roundRect">
              <a:avLst>
                <a:gd name="adj" fmla="val 40389"/>
              </a:avLst>
            </a:prstGeom>
            <a:gradFill rotWithShape="1">
              <a:gsLst>
                <a:gs pos="0">
                  <a:srgbClr val="99BACC"/>
                </a:gs>
                <a:gs pos="100000">
                  <a:schemeClr val="bg1"/>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AutoShape 46">
              <a:extLst>
                <a:ext uri="{FF2B5EF4-FFF2-40B4-BE49-F238E27FC236}">
                  <a16:creationId xmlns:a16="http://schemas.microsoft.com/office/drawing/2014/main" id="{29B73449-B36D-4F56-B0E7-543D4869E188}"/>
                </a:ext>
              </a:extLst>
            </p:cNvPr>
            <p:cNvSpPr>
              <a:spLocks noChangeArrowheads="1"/>
            </p:cNvSpPr>
            <p:nvPr/>
          </p:nvSpPr>
          <p:spPr bwMode="gray">
            <a:xfrm>
              <a:off x="3720" y="3305"/>
              <a:ext cx="1304" cy="487"/>
            </a:xfrm>
            <a:prstGeom prst="roundRect">
              <a:avLst>
                <a:gd name="adj" fmla="val 50000"/>
              </a:avLst>
            </a:prstGeom>
            <a:gradFill rotWithShape="1">
              <a:gsLst>
                <a:gs pos="0">
                  <a:srgbClr val="C8DAD4"/>
                </a:gs>
                <a:gs pos="100000">
                  <a:srgbClr val="FF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83199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wipe(up)">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前测（</a:t>
            </a:r>
            <a:r>
              <a:rPr lang="en-US" altLang="zh-CN" dirty="0"/>
              <a:t>Pre-assessment</a:t>
            </a:r>
            <a:r>
              <a:rPr lang="zh-CN" altLang="en-US" dirty="0"/>
              <a:t>）</a:t>
            </a:r>
          </a:p>
        </p:txBody>
      </p:sp>
      <p:sp>
        <p:nvSpPr>
          <p:cNvPr id="3" name="卷形: 水平 2">
            <a:extLst>
              <a:ext uri="{FF2B5EF4-FFF2-40B4-BE49-F238E27FC236}">
                <a16:creationId xmlns:a16="http://schemas.microsoft.com/office/drawing/2014/main" id="{6E2FAB11-7F23-4D86-A64E-9725446A617C}"/>
              </a:ext>
            </a:extLst>
          </p:cNvPr>
          <p:cNvSpPr/>
          <p:nvPr/>
        </p:nvSpPr>
        <p:spPr bwMode="auto">
          <a:xfrm>
            <a:off x="539552" y="1851670"/>
            <a:ext cx="4896544" cy="1080120"/>
          </a:xfrm>
          <a:prstGeom prst="horizontalScroll">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4" name="卷形: 水平 3">
            <a:extLst>
              <a:ext uri="{FF2B5EF4-FFF2-40B4-BE49-F238E27FC236}">
                <a16:creationId xmlns:a16="http://schemas.microsoft.com/office/drawing/2014/main" id="{B994A3FB-D31E-423D-8151-C09FD92A2727}"/>
              </a:ext>
            </a:extLst>
          </p:cNvPr>
          <p:cNvSpPr/>
          <p:nvPr/>
        </p:nvSpPr>
        <p:spPr bwMode="auto">
          <a:xfrm>
            <a:off x="691952" y="2004070"/>
            <a:ext cx="7480448" cy="1080120"/>
          </a:xfrm>
          <a:prstGeom prst="horizontalScroll">
            <a:avLst/>
          </a:prstGeom>
          <a:ln w="28575">
            <a:solidFill>
              <a:srgbClr val="0066FF"/>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2800" dirty="0">
                <a:latin typeface="Microsoft YaHei Light" panose="020B0502040204020203" pitchFamily="34" charset="-122"/>
                <a:ea typeface="Microsoft YaHei Light" panose="020B0502040204020203" pitchFamily="34" charset="-122"/>
              </a:rPr>
              <a:t>请同学们现在做“前测</a:t>
            </a:r>
            <a:r>
              <a:rPr lang="en-US" altLang="zh-CN" sz="2800" dirty="0">
                <a:latin typeface="Microsoft YaHei Light" panose="020B0502040204020203" pitchFamily="34" charset="-122"/>
                <a:ea typeface="Microsoft YaHei Light" panose="020B0502040204020203" pitchFamily="34" charset="-122"/>
              </a:rPr>
              <a:t>07-03</a:t>
            </a:r>
            <a:r>
              <a:rPr lang="zh-CN" altLang="en-US" sz="2800" dirty="0">
                <a:latin typeface="Microsoft YaHei Light" panose="020B0502040204020203" pitchFamily="34" charset="-122"/>
                <a:ea typeface="Microsoft YaHei Light" panose="020B0502040204020203" pitchFamily="34" charset="-122"/>
              </a:rPr>
              <a:t>”试卷</a:t>
            </a:r>
            <a:endParaRPr lang="en-US" altLang="zh-CN" sz="2800" dirty="0">
              <a:latin typeface="Microsoft YaHei Light" panose="020B0502040204020203" pitchFamily="34" charset="-122"/>
              <a:ea typeface="Microsoft YaHei Light" panose="020B0502040204020203" pitchFamily="34" charset="-122"/>
            </a:endParaRPr>
          </a:p>
        </p:txBody>
      </p:sp>
    </p:spTree>
    <p:extLst>
      <p:ext uri="{BB962C8B-B14F-4D97-AF65-F5344CB8AC3E}">
        <p14:creationId xmlns:p14="http://schemas.microsoft.com/office/powerpoint/2010/main" val="324722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a:t>
            </a:r>
            <a:r>
              <a:rPr lang="en-US" altLang="zh-CN" dirty="0"/>
              <a:t>Participatory Learning</a:t>
            </a:r>
            <a:r>
              <a:rPr lang="zh-CN" altLang="en-US" dirty="0"/>
              <a:t>）</a:t>
            </a:r>
          </a:p>
        </p:txBody>
      </p:sp>
      <p:sp>
        <p:nvSpPr>
          <p:cNvPr id="52227" name="Rectangle 3"/>
          <p:cNvSpPr>
            <a:spLocks noGrp="1" noChangeArrowheads="1"/>
          </p:cNvSpPr>
          <p:nvPr>
            <p:ph idx="1"/>
          </p:nvPr>
        </p:nvSpPr>
        <p:spPr/>
        <p:txBody>
          <a:bodyPr/>
          <a:lstStyle/>
          <a:p>
            <a:pPr marL="0" indent="0">
              <a:lnSpc>
                <a:spcPct val="200000"/>
              </a:lnSpc>
              <a:spcBef>
                <a:spcPct val="0"/>
              </a:spcBef>
              <a:buNone/>
            </a:pPr>
            <a:r>
              <a:rPr lang="en-US" altLang="zh-CN" dirty="0"/>
              <a:t>1. </a:t>
            </a:r>
            <a:r>
              <a:rPr lang="zh-CN" altLang="en-US" dirty="0"/>
              <a:t>什么是概念结构设计？</a:t>
            </a:r>
            <a:endParaRPr lang="en-US" altLang="zh-CN" dirty="0"/>
          </a:p>
          <a:p>
            <a:pPr marL="0" indent="0">
              <a:lnSpc>
                <a:spcPct val="200000"/>
              </a:lnSpc>
              <a:spcBef>
                <a:spcPct val="0"/>
              </a:spcBef>
              <a:buNone/>
            </a:pPr>
            <a:r>
              <a:rPr lang="zh-CN" altLang="en-US" dirty="0"/>
              <a:t>将需求分析得到的用户需求抽象为信息结构的过程就是概念结构设计</a:t>
            </a:r>
            <a:endParaRPr lang="en-US" altLang="zh-CN" dirty="0"/>
          </a:p>
          <a:p>
            <a:pPr marL="0" indent="0">
              <a:lnSpc>
                <a:spcPct val="200000"/>
              </a:lnSpc>
              <a:spcBef>
                <a:spcPct val="0"/>
              </a:spcBef>
              <a:buNone/>
            </a:pPr>
            <a:r>
              <a:rPr lang="zh-CN" altLang="en-US" dirty="0"/>
              <a:t>概念结构设计的起点：</a:t>
            </a:r>
            <a:r>
              <a:rPr lang="zh-CN" altLang="en-US" dirty="0">
                <a:solidFill>
                  <a:srgbClr val="FF0000"/>
                </a:solidFill>
              </a:rPr>
              <a:t>用户需求（管理需要）抽象出概念</a:t>
            </a:r>
            <a:endParaRPr lang="en-US" altLang="zh-CN" dirty="0">
              <a:solidFill>
                <a:srgbClr val="FF0000"/>
              </a:solidFill>
            </a:endParaRPr>
          </a:p>
          <a:p>
            <a:pPr marL="0" indent="0">
              <a:lnSpc>
                <a:spcPct val="200000"/>
              </a:lnSpc>
              <a:spcBef>
                <a:spcPct val="0"/>
              </a:spcBef>
              <a:buNone/>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wipe(left)">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27">
                                            <p:txEl>
                                              <p:pRg st="2" end="2"/>
                                            </p:txEl>
                                          </p:spTgt>
                                        </p:tgtEl>
                                        <p:attrNameLst>
                                          <p:attrName>style.visibility</p:attrName>
                                        </p:attrNameLst>
                                      </p:cBhvr>
                                      <p:to>
                                        <p:strVal val="visible"/>
                                      </p:to>
                                    </p:set>
                                    <p:animEffect transition="in" filter="wipe(left)">
                                      <p:cBhvr>
                                        <p:cTn id="12" dur="500"/>
                                        <p:tgtEl>
                                          <p:spTgt spid="522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52227" name="Rectangle 3"/>
          <p:cNvSpPr>
            <a:spLocks noGrp="1" noChangeArrowheads="1"/>
          </p:cNvSpPr>
          <p:nvPr>
            <p:ph idx="1"/>
          </p:nvPr>
        </p:nvSpPr>
        <p:spPr/>
        <p:txBody>
          <a:bodyPr/>
          <a:lstStyle/>
          <a:p>
            <a:pPr marL="0" indent="0">
              <a:lnSpc>
                <a:spcPct val="200000"/>
              </a:lnSpc>
              <a:spcBef>
                <a:spcPct val="0"/>
              </a:spcBef>
              <a:buNone/>
            </a:pPr>
            <a:r>
              <a:rPr lang="zh-CN" altLang="en-US" dirty="0"/>
              <a:t>从管理角度，同学们思考一下，画面物品可抽象成什么概念？用一个词描述。</a:t>
            </a:r>
            <a:endParaRPr lang="en-US" dirty="0"/>
          </a:p>
          <a:p>
            <a:pPr marL="0" indent="0">
              <a:lnSpc>
                <a:spcPct val="200000"/>
              </a:lnSpc>
              <a:spcBef>
                <a:spcPct val="0"/>
              </a:spcBef>
              <a:buNone/>
            </a:pPr>
            <a:endParaRPr lang="en-US" altLang="zh-CN" dirty="0"/>
          </a:p>
          <a:p>
            <a:pPr marL="0" indent="0">
              <a:lnSpc>
                <a:spcPct val="200000"/>
              </a:lnSpc>
              <a:spcBef>
                <a:spcPct val="0"/>
              </a:spcBef>
              <a:buNone/>
            </a:pPr>
            <a:endParaRPr lang="en-US" altLang="zh-CN" dirty="0"/>
          </a:p>
          <a:p>
            <a:pPr marL="0" indent="0">
              <a:lnSpc>
                <a:spcPct val="200000"/>
              </a:lnSpc>
              <a:spcBef>
                <a:spcPct val="0"/>
              </a:spcBef>
              <a:buNone/>
            </a:pPr>
            <a:endParaRPr lang="en-US" altLang="zh-CN" dirty="0"/>
          </a:p>
          <a:p>
            <a:pPr marL="0" indent="0">
              <a:lnSpc>
                <a:spcPct val="200000"/>
              </a:lnSpc>
              <a:spcBef>
                <a:spcPct val="0"/>
              </a:spcBef>
              <a:buNone/>
            </a:pPr>
            <a:endParaRPr lang="en-US" altLang="zh-CN" dirty="0"/>
          </a:p>
          <a:p>
            <a:pPr marL="0" indent="0">
              <a:lnSpc>
                <a:spcPct val="200000"/>
              </a:lnSpc>
              <a:spcBef>
                <a:spcPct val="0"/>
              </a:spcBef>
              <a:buNone/>
            </a:pPr>
            <a:r>
              <a:rPr lang="zh-CN" altLang="en-US" dirty="0"/>
              <a:t>这些都是凭经验抽象，结构化设计是如何抽象？</a:t>
            </a:r>
            <a:endParaRPr lang="en-US" altLang="zh-CN" dirty="0"/>
          </a:p>
        </p:txBody>
      </p:sp>
      <p:pic>
        <p:nvPicPr>
          <p:cNvPr id="3" name="图片 2">
            <a:extLst>
              <a:ext uri="{FF2B5EF4-FFF2-40B4-BE49-F238E27FC236}">
                <a16:creationId xmlns:a16="http://schemas.microsoft.com/office/drawing/2014/main" id="{564EB62F-64E1-40D6-8C5E-DFC3DF73239E}"/>
              </a:ext>
            </a:extLst>
          </p:cNvPr>
          <p:cNvPicPr>
            <a:picLocks noChangeAspect="1"/>
          </p:cNvPicPr>
          <p:nvPr/>
        </p:nvPicPr>
        <p:blipFill>
          <a:blip r:embed="rId2"/>
          <a:stretch>
            <a:fillRect/>
          </a:stretch>
        </p:blipFill>
        <p:spPr>
          <a:xfrm>
            <a:off x="565380" y="1347614"/>
            <a:ext cx="2995200" cy="2160000"/>
          </a:xfrm>
          <a:prstGeom prst="rect">
            <a:avLst/>
          </a:prstGeom>
        </p:spPr>
      </p:pic>
      <p:pic>
        <p:nvPicPr>
          <p:cNvPr id="4" name="图片 3">
            <a:extLst>
              <a:ext uri="{FF2B5EF4-FFF2-40B4-BE49-F238E27FC236}">
                <a16:creationId xmlns:a16="http://schemas.microsoft.com/office/drawing/2014/main" id="{5ABCB857-78E5-403C-817C-6D58C610F817}"/>
              </a:ext>
            </a:extLst>
          </p:cNvPr>
          <p:cNvPicPr>
            <a:picLocks noChangeAspect="1"/>
          </p:cNvPicPr>
          <p:nvPr/>
        </p:nvPicPr>
        <p:blipFill>
          <a:blip r:embed="rId3"/>
          <a:stretch>
            <a:fillRect/>
          </a:stretch>
        </p:blipFill>
        <p:spPr>
          <a:xfrm>
            <a:off x="4136644" y="1347614"/>
            <a:ext cx="4107764" cy="2160000"/>
          </a:xfrm>
          <a:prstGeom prst="rect">
            <a:avLst/>
          </a:prstGeom>
        </p:spPr>
      </p:pic>
    </p:spTree>
    <p:extLst>
      <p:ext uri="{BB962C8B-B14F-4D97-AF65-F5344CB8AC3E}">
        <p14:creationId xmlns:p14="http://schemas.microsoft.com/office/powerpoint/2010/main" val="400516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227">
                                            <p:txEl>
                                              <p:pRg st="5" end="5"/>
                                            </p:txEl>
                                          </p:spTgt>
                                        </p:tgtEl>
                                        <p:attrNameLst>
                                          <p:attrName>style.visibility</p:attrName>
                                        </p:attrNameLst>
                                      </p:cBhvr>
                                      <p:to>
                                        <p:strVal val="visible"/>
                                      </p:to>
                                    </p:set>
                                    <p:animEffect transition="in" filter="wipe(left)">
                                      <p:cBhvr>
                                        <p:cTn id="17" dur="500"/>
                                        <p:tgtEl>
                                          <p:spTgt spid="522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52227" name="Rectangle 3"/>
          <p:cNvSpPr>
            <a:spLocks noGrp="1" noChangeArrowheads="1"/>
          </p:cNvSpPr>
          <p:nvPr>
            <p:ph idx="1"/>
          </p:nvPr>
        </p:nvSpPr>
        <p:spPr/>
        <p:txBody>
          <a:bodyPr/>
          <a:lstStyle/>
          <a:p>
            <a:pPr marL="0" indent="0">
              <a:lnSpc>
                <a:spcPct val="200000"/>
              </a:lnSpc>
              <a:spcBef>
                <a:spcPct val="0"/>
              </a:spcBef>
              <a:buNone/>
            </a:pPr>
            <a:r>
              <a:rPr lang="en-US" altLang="zh-CN" dirty="0"/>
              <a:t>2.</a:t>
            </a:r>
            <a:r>
              <a:rPr lang="zh-CN" altLang="en-US" dirty="0"/>
              <a:t>根据结构化设计思想，如何通过需求分析得到概念</a:t>
            </a:r>
            <a:r>
              <a:rPr lang="en-US" altLang="zh-CN" dirty="0"/>
              <a:t>?【</a:t>
            </a:r>
            <a:r>
              <a:rPr lang="zh-CN" altLang="en-US" dirty="0"/>
              <a:t>分组讨论</a:t>
            </a:r>
            <a:r>
              <a:rPr lang="en-US" altLang="zh-CN" dirty="0"/>
              <a:t>】</a:t>
            </a:r>
          </a:p>
          <a:p>
            <a:pPr marL="0" indent="0">
              <a:lnSpc>
                <a:spcPct val="200000"/>
              </a:lnSpc>
              <a:spcBef>
                <a:spcPct val="0"/>
              </a:spcBef>
              <a:buNone/>
            </a:pPr>
            <a:r>
              <a:rPr lang="zh-CN" altLang="en-US" dirty="0"/>
              <a:t>根据</a:t>
            </a:r>
            <a:r>
              <a:rPr lang="zh-CN" altLang="en-US" dirty="0">
                <a:solidFill>
                  <a:srgbClr val="FF0000"/>
                </a:solidFill>
              </a:rPr>
              <a:t>结构化设计</a:t>
            </a:r>
            <a:r>
              <a:rPr lang="zh-CN" altLang="en-US" dirty="0"/>
              <a:t>的方法：一般可以根据数据流程图的</a:t>
            </a:r>
            <a:r>
              <a:rPr lang="zh-CN" altLang="en-US" dirty="0">
                <a:solidFill>
                  <a:srgbClr val="FF0000"/>
                </a:solidFill>
              </a:rPr>
              <a:t>数据存储</a:t>
            </a:r>
            <a:r>
              <a:rPr lang="zh-CN" altLang="en-US" dirty="0"/>
              <a:t>作为概念设计中的概念</a:t>
            </a:r>
            <a:endParaRPr lang="en-US" dirty="0"/>
          </a:p>
          <a:p>
            <a:pPr>
              <a:lnSpc>
                <a:spcPct val="200000"/>
              </a:lnSpc>
              <a:spcBef>
                <a:spcPct val="0"/>
              </a:spcBef>
            </a:pPr>
            <a:endParaRPr lang="en-US" altLang="zh-CN" dirty="0"/>
          </a:p>
        </p:txBody>
      </p:sp>
      <p:pic>
        <p:nvPicPr>
          <p:cNvPr id="4" name="Picture 2">
            <a:extLst>
              <a:ext uri="{FF2B5EF4-FFF2-40B4-BE49-F238E27FC236}">
                <a16:creationId xmlns:a16="http://schemas.microsoft.com/office/drawing/2014/main" id="{DC8069CB-7876-4E33-BA11-9C84E4CA6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211710"/>
            <a:ext cx="3204622" cy="228741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对话气泡: 圆角矩形 4">
            <a:extLst>
              <a:ext uri="{FF2B5EF4-FFF2-40B4-BE49-F238E27FC236}">
                <a16:creationId xmlns:a16="http://schemas.microsoft.com/office/drawing/2014/main" id="{41CF68FC-E505-480F-863D-7ED535131A81}"/>
              </a:ext>
            </a:extLst>
          </p:cNvPr>
          <p:cNvSpPr/>
          <p:nvPr/>
        </p:nvSpPr>
        <p:spPr bwMode="auto">
          <a:xfrm>
            <a:off x="5791819" y="2030558"/>
            <a:ext cx="1914526" cy="1082384"/>
          </a:xfrm>
          <a:prstGeom prst="wedgeRoundRectCallout">
            <a:avLst>
              <a:gd name="adj1" fmla="val -104591"/>
              <a:gd name="adj2" fmla="val 22967"/>
              <a:gd name="adj3" fmla="val 16667"/>
            </a:avLst>
          </a:prstGeom>
          <a:noFill/>
          <a:ln>
            <a:solidFill>
              <a:srgbClr val="0066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 typeface="Arial" pitchFamily="34" charset="0"/>
              <a:buNone/>
              <a:tabLst/>
            </a:pPr>
            <a:r>
              <a:rPr lang="en-US" altLang="zh-CN" sz="2000" dirty="0">
                <a:solidFill>
                  <a:schemeClr val="tx1"/>
                </a:solidFill>
                <a:latin typeface="微软雅黑" pitchFamily="34" charset="-122"/>
                <a:ea typeface="微软雅黑" pitchFamily="34" charset="-122"/>
              </a:rPr>
              <a:t>1.</a:t>
            </a:r>
            <a:r>
              <a:rPr lang="zh-CN" altLang="en-US" sz="2000" dirty="0">
                <a:solidFill>
                  <a:schemeClr val="tx1"/>
                </a:solidFill>
                <a:latin typeface="微软雅黑" pitchFamily="34" charset="-122"/>
                <a:ea typeface="微软雅黑" pitchFamily="34" charset="-122"/>
              </a:rPr>
              <a:t>用料计划</a:t>
            </a:r>
            <a:endParaRPr lang="en-US" altLang="zh-CN" sz="2000" dirty="0">
              <a:solidFill>
                <a:schemeClr val="tx1"/>
              </a:solidFill>
              <a:latin typeface="微软雅黑" pitchFamily="34" charset="-122"/>
              <a:ea typeface="微软雅黑" pitchFamily="34" charset="-122"/>
            </a:endParaRPr>
          </a:p>
          <a:p>
            <a:pPr marL="0" marR="0" indent="0" algn="ctr" defTabSz="914400" rtl="0" eaLnBrk="1" fontAlgn="base" latinLnBrk="0" hangingPunct="1">
              <a:lnSpc>
                <a:spcPct val="150000"/>
              </a:lnSpc>
              <a:spcBef>
                <a:spcPct val="0"/>
              </a:spcBef>
              <a:spcAft>
                <a:spcPct val="0"/>
              </a:spcAft>
              <a:buClrTx/>
              <a:buSzTx/>
              <a:buFont typeface="Arial" pitchFamily="34" charset="0"/>
              <a:buNone/>
              <a:tabLst/>
            </a:pPr>
            <a:r>
              <a:rPr lang="en-US" altLang="zh-CN" sz="2000" dirty="0">
                <a:solidFill>
                  <a:schemeClr val="tx1"/>
                </a:solidFill>
                <a:latin typeface="微软雅黑" pitchFamily="34" charset="-122"/>
                <a:ea typeface="微软雅黑" pitchFamily="34" charset="-122"/>
              </a:rPr>
              <a:t>2.</a:t>
            </a:r>
            <a:r>
              <a:rPr lang="zh-CN" altLang="en-US" sz="2000" dirty="0">
                <a:solidFill>
                  <a:schemeClr val="tx1"/>
                </a:solidFill>
                <a:latin typeface="微软雅黑" pitchFamily="34" charset="-122"/>
                <a:ea typeface="微软雅黑" pitchFamily="34" charset="-122"/>
              </a:rPr>
              <a:t>库存账</a:t>
            </a:r>
          </a:p>
        </p:txBody>
      </p:sp>
    </p:spTree>
    <p:extLst>
      <p:ext uri="{BB962C8B-B14F-4D97-AF65-F5344CB8AC3E}">
        <p14:creationId xmlns:p14="http://schemas.microsoft.com/office/powerpoint/2010/main" val="279439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wipe(left)">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52227" name="Rectangle 3"/>
          <p:cNvSpPr>
            <a:spLocks noGrp="1" noChangeArrowheads="1"/>
          </p:cNvSpPr>
          <p:nvPr>
            <p:ph idx="1"/>
          </p:nvPr>
        </p:nvSpPr>
        <p:spPr/>
        <p:txBody>
          <a:bodyPr/>
          <a:lstStyle/>
          <a:p>
            <a:pPr marL="0" indent="0">
              <a:lnSpc>
                <a:spcPct val="200000"/>
              </a:lnSpc>
              <a:spcBef>
                <a:spcPct val="0"/>
              </a:spcBef>
              <a:buNone/>
            </a:pPr>
            <a:r>
              <a:rPr lang="en-US" altLang="zh-CN" dirty="0"/>
              <a:t>3.</a:t>
            </a:r>
            <a:r>
              <a:rPr lang="zh-CN" altLang="en-US" dirty="0"/>
              <a:t>概念在数据库设计中如何表示？</a:t>
            </a:r>
            <a:endParaRPr lang="en-US" altLang="zh-CN" dirty="0"/>
          </a:p>
          <a:p>
            <a:pPr marL="252000" lvl="1" indent="0">
              <a:lnSpc>
                <a:spcPct val="200000"/>
              </a:lnSpc>
              <a:spcBef>
                <a:spcPct val="0"/>
              </a:spcBef>
              <a:buNone/>
            </a:pPr>
            <a:r>
              <a:rPr lang="en-US" altLang="zh-CN" dirty="0">
                <a:solidFill>
                  <a:srgbClr val="FF0000"/>
                </a:solidFill>
              </a:rPr>
              <a:t>E-R</a:t>
            </a:r>
            <a:r>
              <a:rPr lang="zh-CN" altLang="en-US" dirty="0">
                <a:solidFill>
                  <a:srgbClr val="FF0000"/>
                </a:solidFill>
              </a:rPr>
              <a:t>模型</a:t>
            </a:r>
            <a:endParaRPr lang="en-US" altLang="zh-CN" dirty="0">
              <a:solidFill>
                <a:srgbClr val="FF0000"/>
              </a:solidFill>
            </a:endParaRPr>
          </a:p>
          <a:p>
            <a:pPr marL="0" indent="0">
              <a:lnSpc>
                <a:spcPct val="200000"/>
              </a:lnSpc>
              <a:spcBef>
                <a:spcPct val="0"/>
              </a:spcBef>
              <a:buNone/>
            </a:pPr>
            <a:endParaRPr lang="en-US" altLang="zh-CN" dirty="0"/>
          </a:p>
          <a:p>
            <a:pPr marL="0" indent="0">
              <a:lnSpc>
                <a:spcPct val="200000"/>
              </a:lnSpc>
              <a:spcBef>
                <a:spcPct val="0"/>
              </a:spcBef>
              <a:buNone/>
            </a:pPr>
            <a:endParaRPr lang="en-US" altLang="zh-CN" dirty="0"/>
          </a:p>
          <a:p>
            <a:pPr marL="0" indent="0">
              <a:lnSpc>
                <a:spcPct val="200000"/>
              </a:lnSpc>
              <a:spcBef>
                <a:spcPct val="0"/>
              </a:spcBef>
              <a:buNone/>
            </a:pPr>
            <a:endParaRPr lang="en-US" altLang="zh-CN" dirty="0"/>
          </a:p>
          <a:p>
            <a:pPr marL="0" indent="0">
              <a:lnSpc>
                <a:spcPct val="200000"/>
              </a:lnSpc>
              <a:spcBef>
                <a:spcPct val="0"/>
              </a:spcBef>
              <a:buNone/>
            </a:pPr>
            <a:r>
              <a:rPr lang="en-US" altLang="zh-CN" dirty="0"/>
              <a:t>4. </a:t>
            </a:r>
            <a:r>
              <a:rPr lang="zh-CN" altLang="en-US" dirty="0"/>
              <a:t>拓展：可以用</a:t>
            </a:r>
            <a:r>
              <a:rPr lang="en-US" altLang="zh-CN" dirty="0"/>
              <a:t>UML</a:t>
            </a:r>
            <a:r>
              <a:rPr lang="zh-CN" altLang="en-US" dirty="0"/>
              <a:t>语言来表示概念</a:t>
            </a:r>
            <a:endParaRPr lang="en-US" altLang="zh-CN" dirty="0"/>
          </a:p>
        </p:txBody>
      </p:sp>
      <p:grpSp>
        <p:nvGrpSpPr>
          <p:cNvPr id="6" name="组合 5">
            <a:extLst>
              <a:ext uri="{FF2B5EF4-FFF2-40B4-BE49-F238E27FC236}">
                <a16:creationId xmlns:a16="http://schemas.microsoft.com/office/drawing/2014/main" id="{DBF3AE91-FC05-43E8-85B4-F07949FC4C7E}"/>
              </a:ext>
            </a:extLst>
          </p:cNvPr>
          <p:cNvGrpSpPr/>
          <p:nvPr/>
        </p:nvGrpSpPr>
        <p:grpSpPr>
          <a:xfrm>
            <a:off x="323528" y="1851670"/>
            <a:ext cx="7704856" cy="1728192"/>
            <a:chOff x="323528" y="1851670"/>
            <a:chExt cx="7704856" cy="1728192"/>
          </a:xfrm>
        </p:grpSpPr>
        <p:pic>
          <p:nvPicPr>
            <p:cNvPr id="4" name="图片 3" descr="112">
              <a:extLst>
                <a:ext uri="{FF2B5EF4-FFF2-40B4-BE49-F238E27FC236}">
                  <a16:creationId xmlns:a16="http://schemas.microsoft.com/office/drawing/2014/main" id="{D77B6B29-29B2-4E25-8614-997AD8676A10}"/>
                </a:ext>
              </a:extLst>
            </p:cNvP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23528" y="1923678"/>
              <a:ext cx="4576581" cy="1129287"/>
            </a:xfrm>
            <a:prstGeom prst="rect">
              <a:avLst/>
            </a:prstGeom>
            <a:noFill/>
            <a:ln w="9525">
              <a:noFill/>
              <a:miter lim="800000"/>
              <a:headEnd/>
              <a:tailEnd/>
            </a:ln>
          </p:spPr>
        </p:pic>
        <p:pic>
          <p:nvPicPr>
            <p:cNvPr id="5" name="图片 3" descr="113">
              <a:extLst>
                <a:ext uri="{FF2B5EF4-FFF2-40B4-BE49-F238E27FC236}">
                  <a16:creationId xmlns:a16="http://schemas.microsoft.com/office/drawing/2014/main" id="{960B8F57-4042-4EC8-9629-7D7F6F7427ED}"/>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220072" y="1851670"/>
              <a:ext cx="2808312" cy="1294266"/>
            </a:xfrm>
            <a:prstGeom prst="rect">
              <a:avLst/>
            </a:prstGeom>
            <a:noFill/>
            <a:ln w="9525">
              <a:noFill/>
              <a:miter lim="800000"/>
              <a:headEnd/>
              <a:tailEnd/>
            </a:ln>
          </p:spPr>
        </p:pic>
        <p:sp>
          <p:nvSpPr>
            <p:cNvPr id="3" name="矩形 2">
              <a:extLst>
                <a:ext uri="{FF2B5EF4-FFF2-40B4-BE49-F238E27FC236}">
                  <a16:creationId xmlns:a16="http://schemas.microsoft.com/office/drawing/2014/main" id="{428761AB-51D1-454B-8623-D3B93C286DE1}"/>
                </a:ext>
              </a:extLst>
            </p:cNvPr>
            <p:cNvSpPr/>
            <p:nvPr/>
          </p:nvSpPr>
          <p:spPr bwMode="auto">
            <a:xfrm>
              <a:off x="395536" y="3145936"/>
              <a:ext cx="7632848" cy="433926"/>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lang="en-US" altLang="zh-CN" sz="1400" dirty="0"/>
                <a:t>                          E</a:t>
              </a:r>
              <a:r>
                <a:rPr lang="zh-CN" altLang="en-US" sz="1400" dirty="0"/>
                <a:t>图（实体图）                                                           </a:t>
              </a:r>
              <a:r>
                <a:rPr lang="en-US" altLang="zh-CN" sz="1400" dirty="0"/>
                <a:t> R</a:t>
              </a:r>
              <a:r>
                <a:rPr lang="zh-CN" altLang="en-US" sz="1400" dirty="0"/>
                <a:t>图（实体关系图）</a:t>
              </a:r>
              <a:endParaRPr kumimoji="0" lang="zh-CN" altLang="en-US" sz="1400" b="0" i="0" u="none" strike="noStrike" cap="none" normalizeH="0" baseline="0" dirty="0">
                <a:ln>
                  <a:noFill/>
                </a:ln>
                <a:solidFill>
                  <a:schemeClr val="tx1"/>
                </a:solidFill>
                <a:effectLst/>
                <a:latin typeface="Arial" pitchFamily="34" charset="0"/>
                <a:ea typeface="宋体" pitchFamily="2" charset="-122"/>
              </a:endParaRPr>
            </a:p>
          </p:txBody>
        </p:sp>
      </p:grpSp>
    </p:spTree>
    <p:extLst>
      <p:ext uri="{BB962C8B-B14F-4D97-AF65-F5344CB8AC3E}">
        <p14:creationId xmlns:p14="http://schemas.microsoft.com/office/powerpoint/2010/main" val="365977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wipe(left)">
                                      <p:cBhvr>
                                        <p:cTn id="7" dur="500"/>
                                        <p:tgtEl>
                                          <p:spTgt spid="522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227">
                                            <p:txEl>
                                              <p:pRg st="5" end="5"/>
                                            </p:txEl>
                                          </p:spTgt>
                                        </p:tgtEl>
                                        <p:attrNameLst>
                                          <p:attrName>style.visibility</p:attrName>
                                        </p:attrNameLst>
                                      </p:cBhvr>
                                      <p:to>
                                        <p:strVal val="visible"/>
                                      </p:to>
                                    </p:set>
                                    <p:animEffect transition="in" filter="wipe(left)">
                                      <p:cBhvr>
                                        <p:cTn id="17" dur="500"/>
                                        <p:tgtEl>
                                          <p:spTgt spid="522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65539" name="内容占位符 2"/>
          <p:cNvSpPr>
            <a:spLocks noGrp="1"/>
          </p:cNvSpPr>
          <p:nvPr>
            <p:ph idx="1"/>
          </p:nvPr>
        </p:nvSpPr>
        <p:spPr/>
        <p:txBody>
          <a:bodyPr/>
          <a:lstStyle/>
          <a:p>
            <a:pPr marL="0" indent="0">
              <a:buNone/>
            </a:pPr>
            <a:r>
              <a:rPr lang="en-US" altLang="zh-CN" dirty="0"/>
              <a:t>5. E</a:t>
            </a:r>
            <a:r>
              <a:rPr lang="zh-CN" altLang="en-US" dirty="0"/>
              <a:t>图分组课堂练习</a:t>
            </a:r>
          </a:p>
          <a:p>
            <a:r>
              <a:rPr lang="zh-CN" altLang="en-US" dirty="0"/>
              <a:t>某个工厂物资管理的概念模型。物资管理涉及的实体有：</a:t>
            </a:r>
          </a:p>
          <a:p>
            <a:pPr lvl="1">
              <a:buSzPct val="87000"/>
              <a:buFont typeface="Wingdings" pitchFamily="2" charset="2"/>
              <a:buChar char="l"/>
            </a:pPr>
            <a:r>
              <a:rPr lang="zh-CN" altLang="en-US" dirty="0"/>
              <a:t>仓库：属性有仓库号、面积、电话号码</a:t>
            </a:r>
          </a:p>
          <a:p>
            <a:pPr lvl="1">
              <a:buSzPct val="87000"/>
              <a:buFont typeface="Wingdings" pitchFamily="2" charset="2"/>
              <a:buChar char="l"/>
            </a:pPr>
            <a:r>
              <a:rPr lang="zh-CN" altLang="en-US" dirty="0"/>
              <a:t>零件：属性有零件号、名称、规格、单价、描述</a:t>
            </a:r>
          </a:p>
          <a:p>
            <a:pPr lvl="1">
              <a:buSzPct val="87000"/>
              <a:buFont typeface="Wingdings" pitchFamily="2" charset="2"/>
              <a:buChar char="l"/>
            </a:pPr>
            <a:r>
              <a:rPr lang="zh-CN" altLang="en-US" dirty="0"/>
              <a:t>供应商：属性有供应商号、姓名、地址、电话号码、账号</a:t>
            </a:r>
          </a:p>
          <a:p>
            <a:pPr lvl="1">
              <a:buSzPct val="87000"/>
              <a:buFont typeface="Wingdings" pitchFamily="2" charset="2"/>
              <a:buChar char="l"/>
            </a:pPr>
            <a:r>
              <a:rPr lang="zh-CN" altLang="en-US" dirty="0"/>
              <a:t>项目：属性有项目号、预算、开工日期</a:t>
            </a:r>
          </a:p>
          <a:p>
            <a:pPr lvl="1">
              <a:buSzPct val="87000"/>
              <a:buFont typeface="Wingdings" pitchFamily="2" charset="2"/>
              <a:buChar char="l"/>
            </a:pPr>
            <a:r>
              <a:rPr lang="zh-CN" altLang="en-US" dirty="0"/>
              <a:t>职工：属性有职工号、姓名、年龄、职称</a:t>
            </a:r>
            <a:endParaRPr lang="en-US" altLang="zh-CN" dirty="0"/>
          </a:p>
          <a:p>
            <a:pPr marL="0" indent="0">
              <a:buSzPct val="87000"/>
              <a:buNone/>
            </a:pPr>
            <a:r>
              <a:rPr lang="zh-CN" altLang="en-US" dirty="0"/>
              <a:t>请绘制物资管理实体图（</a:t>
            </a:r>
            <a:r>
              <a:rPr lang="en-US" altLang="zh-CN" dirty="0"/>
              <a:t>E</a:t>
            </a:r>
            <a:r>
              <a:rPr lang="zh-CN" altLang="en-US" dirty="0"/>
              <a:t>图）</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1" name="图片 3"/>
          <p:cNvPicPr>
            <a:picLocks noChangeAspect="1" noChangeArrowheads="1"/>
          </p:cNvPicPr>
          <p:nvPr/>
        </p:nvPicPr>
        <p:blipFill rotWithShape="1">
          <a:blip r:embed="rId2" cstate="print">
            <a:clrChange>
              <a:clrFrom>
                <a:srgbClr val="FFFFFF"/>
              </a:clrFrom>
              <a:clrTo>
                <a:srgbClr val="FFFFFF">
                  <a:alpha val="0"/>
                </a:srgbClr>
              </a:clrTo>
            </a:clrChange>
          </a:blip>
          <a:srcRect b="7449"/>
          <a:stretch/>
        </p:blipFill>
        <p:spPr bwMode="auto">
          <a:xfrm>
            <a:off x="323528" y="1285875"/>
            <a:ext cx="8280920" cy="2870051"/>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dirty="0"/>
              <a:t>参与式学习：基础知识</a:t>
            </a:r>
          </a:p>
        </p:txBody>
      </p:sp>
      <p:sp>
        <p:nvSpPr>
          <p:cNvPr id="4" name="内容占位符 3"/>
          <p:cNvSpPr>
            <a:spLocks noGrp="1"/>
          </p:cNvSpPr>
          <p:nvPr>
            <p:ph idx="1"/>
          </p:nvPr>
        </p:nvSpPr>
        <p:spPr>
          <a:xfrm>
            <a:off x="-32" y="642925"/>
            <a:ext cx="9141820" cy="560674"/>
          </a:xfrm>
        </p:spPr>
        <p:txBody>
          <a:bodyPr/>
          <a:lstStyle/>
          <a:p>
            <a:r>
              <a:rPr lang="en-US" altLang="zh-CN" dirty="0"/>
              <a:t>E</a:t>
            </a:r>
            <a:r>
              <a:rPr lang="zh-CN" altLang="en-US" dirty="0"/>
              <a:t>图参考答案</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66563" name="内容占位符 2"/>
          <p:cNvSpPr>
            <a:spLocks noGrp="1"/>
          </p:cNvSpPr>
          <p:nvPr>
            <p:ph idx="1"/>
          </p:nvPr>
        </p:nvSpPr>
        <p:spPr>
          <a:xfrm>
            <a:off x="-32" y="642924"/>
            <a:ext cx="9144032" cy="4206583"/>
          </a:xfrm>
        </p:spPr>
        <p:txBody>
          <a:bodyPr/>
          <a:lstStyle/>
          <a:p>
            <a:pPr marL="0" lvl="1" indent="0">
              <a:buNone/>
            </a:pPr>
            <a:r>
              <a:rPr lang="en-US" altLang="zh-CN" dirty="0"/>
              <a:t>5. R</a:t>
            </a:r>
            <a:r>
              <a:rPr lang="zh-CN" altLang="en-US" dirty="0"/>
              <a:t>图分组课堂练习</a:t>
            </a:r>
          </a:p>
          <a:p>
            <a:pPr marL="342900" lvl="1" indent="-342900">
              <a:buFont typeface="Wingdings" pitchFamily="2" charset="2"/>
              <a:buChar char="v"/>
            </a:pPr>
            <a:r>
              <a:rPr lang="zh-CN" altLang="en-US" dirty="0">
                <a:cs typeface="+mn-cs"/>
              </a:rPr>
              <a:t>物资管理中实体之间的联系如下： </a:t>
            </a:r>
            <a:endParaRPr lang="en-US" altLang="zh-CN" dirty="0">
              <a:cs typeface="+mn-cs"/>
            </a:endParaRPr>
          </a:p>
          <a:p>
            <a:pPr lvl="1">
              <a:buSzPct val="87000"/>
              <a:buFont typeface="Wingdings" pitchFamily="2" charset="2"/>
              <a:buChar char="l"/>
            </a:pPr>
            <a:r>
              <a:rPr lang="zh-CN" altLang="en-US" dirty="0"/>
              <a:t> 一个仓库可以存放多种零件，一种零件可以存放在多个仓库中。</a:t>
            </a:r>
            <a:endParaRPr lang="en-US" altLang="zh-CN" dirty="0"/>
          </a:p>
          <a:p>
            <a:pPr lvl="1">
              <a:buSzPct val="87000"/>
              <a:buFont typeface="Wingdings" pitchFamily="2" charset="2"/>
              <a:buChar char="l"/>
            </a:pPr>
            <a:r>
              <a:rPr lang="zh-CN" altLang="en-US" dirty="0"/>
              <a:t>用</a:t>
            </a:r>
            <a:r>
              <a:rPr lang="zh-CN" altLang="en-US" dirty="0">
                <a:solidFill>
                  <a:srgbClr val="FF0000"/>
                </a:solidFill>
              </a:rPr>
              <a:t>库存量</a:t>
            </a:r>
            <a:r>
              <a:rPr lang="zh-CN" altLang="en-US" dirty="0"/>
              <a:t>来表示某种零件在某个仓库中的数量。</a:t>
            </a:r>
            <a:endParaRPr lang="en-US" altLang="zh-CN" dirty="0"/>
          </a:p>
          <a:p>
            <a:pPr lvl="1">
              <a:buSzPct val="87000"/>
              <a:buFont typeface="Wingdings" pitchFamily="2" charset="2"/>
              <a:buChar char="l"/>
            </a:pPr>
            <a:r>
              <a:rPr lang="zh-CN" altLang="en-US" dirty="0"/>
              <a:t> 一个仓库有多个职工当仓库保管员，一个职工只能在一个仓库工作。</a:t>
            </a:r>
            <a:endParaRPr lang="en-US" altLang="zh-CN" dirty="0"/>
          </a:p>
          <a:p>
            <a:pPr lvl="1">
              <a:buSzPct val="87000"/>
              <a:buFont typeface="Wingdings" pitchFamily="2" charset="2"/>
              <a:buChar char="l"/>
            </a:pPr>
            <a:r>
              <a:rPr lang="zh-CN" altLang="en-US" dirty="0"/>
              <a:t>职工之间具有领导与被领导关系。</a:t>
            </a:r>
          </a:p>
          <a:p>
            <a:pPr lvl="1">
              <a:buSzPct val="87000"/>
              <a:buFont typeface="Wingdings" pitchFamily="2" charset="2"/>
              <a:buChar char="l"/>
            </a:pPr>
            <a:r>
              <a:rPr lang="zh-CN" altLang="en-US" dirty="0"/>
              <a:t>供应商、项目和零件三者之间具有多对多的联系</a:t>
            </a:r>
            <a:endParaRPr lang="en-US" altLang="zh-CN" dirty="0"/>
          </a:p>
          <a:p>
            <a:pPr marL="342900" lvl="1" indent="-342900">
              <a:buFont typeface="Wingdings" pitchFamily="2" charset="2"/>
              <a:buChar char="v"/>
            </a:pPr>
            <a:r>
              <a:rPr lang="zh-CN" altLang="en-US" dirty="0">
                <a:cs typeface="+mn-cs"/>
              </a:rPr>
              <a:t>请绘制物资管理中实体之间联系图（</a:t>
            </a:r>
            <a:r>
              <a:rPr lang="en-US" altLang="zh-CN" dirty="0">
                <a:cs typeface="+mn-cs"/>
              </a:rPr>
              <a:t>R</a:t>
            </a:r>
            <a:r>
              <a:rPr lang="zh-CN" altLang="en-US" dirty="0">
                <a:cs typeface="+mn-cs"/>
              </a:rPr>
              <a:t>图）</a:t>
            </a:r>
            <a:endParaRPr lang="en-US" altLang="zh-CN" dirty="0">
              <a:cs typeface="+mn-cs"/>
            </a:endParaRPr>
          </a:p>
          <a:p>
            <a:pPr lvl="1">
              <a:buSzPct val="87000"/>
              <a:buFont typeface="Wingdings" pitchFamily="2" charset="2"/>
              <a:buChar char="l"/>
            </a:pPr>
            <a:endParaRPr lang="zh-CN" altLang="en-US" dirty="0"/>
          </a:p>
          <a:p>
            <a:pPr marL="360000" lvl="1" indent="0">
              <a:buFont typeface="Wingdings" pitchFamily="2" charset="2"/>
              <a:buNone/>
            </a:pPr>
            <a:endParaRPr lang="zh-CN" alt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4" name="内容占位符 3"/>
          <p:cNvSpPr>
            <a:spLocks noGrp="1"/>
          </p:cNvSpPr>
          <p:nvPr>
            <p:ph idx="1"/>
          </p:nvPr>
        </p:nvSpPr>
        <p:spPr>
          <a:xfrm>
            <a:off x="-32" y="642924"/>
            <a:ext cx="9141820" cy="4214841"/>
          </a:xfrm>
        </p:spPr>
        <p:txBody>
          <a:bodyPr/>
          <a:lstStyle/>
          <a:p>
            <a:r>
              <a:rPr lang="en-US" altLang="zh-CN" dirty="0"/>
              <a:t>R</a:t>
            </a:r>
            <a:r>
              <a:rPr lang="zh-CN" altLang="en-US" dirty="0"/>
              <a:t>图参考答案</a:t>
            </a:r>
          </a:p>
        </p:txBody>
      </p:sp>
      <p:pic>
        <p:nvPicPr>
          <p:cNvPr id="69635" name="图片 3"/>
          <p:cNvPicPr>
            <a:picLocks noChangeAspect="1" noChangeArrowheads="1"/>
          </p:cNvPicPr>
          <p:nvPr/>
        </p:nvPicPr>
        <p:blipFill rotWithShape="1">
          <a:blip r:embed="rId2" cstate="print">
            <a:clrChange>
              <a:clrFrom>
                <a:srgbClr val="FFFFFF"/>
              </a:clrFrom>
              <a:clrTo>
                <a:srgbClr val="FFFFFF">
                  <a:alpha val="0"/>
                </a:srgbClr>
              </a:clrTo>
            </a:clrChange>
          </a:blip>
          <a:srcRect b="9526"/>
          <a:stretch/>
        </p:blipFill>
        <p:spPr bwMode="auto">
          <a:xfrm>
            <a:off x="899592" y="1132323"/>
            <a:ext cx="7036995" cy="273557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dirty="0"/>
              <a:t>示例完整</a:t>
            </a:r>
            <a:r>
              <a:rPr lang="en-US" altLang="zh-CN" dirty="0"/>
              <a:t>E-R</a:t>
            </a:r>
            <a:r>
              <a:rPr lang="zh-CN" altLang="en-US" dirty="0"/>
              <a:t>图</a:t>
            </a:r>
          </a:p>
        </p:txBody>
      </p:sp>
      <p:pic>
        <p:nvPicPr>
          <p:cNvPr id="70659" name="图片 3"/>
          <p:cNvPicPr>
            <a:picLocks noChangeAspect="1" noChangeArrowheads="1"/>
          </p:cNvPicPr>
          <p:nvPr/>
        </p:nvPicPr>
        <p:blipFill rotWithShape="1">
          <a:blip r:embed="rId2" cstate="print">
            <a:clrChange>
              <a:clrFrom>
                <a:srgbClr val="FFFFFF"/>
              </a:clrFrom>
              <a:clrTo>
                <a:srgbClr val="FFFFFF">
                  <a:alpha val="0"/>
                </a:srgbClr>
              </a:clrTo>
            </a:clrChange>
          </a:blip>
          <a:srcRect b="6188"/>
          <a:stretch/>
        </p:blipFill>
        <p:spPr bwMode="auto">
          <a:xfrm>
            <a:off x="975519" y="1059582"/>
            <a:ext cx="7192962" cy="3384376"/>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dirty="0"/>
              <a:t>参与式学习：基础知识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73731" name="内容占位符 2"/>
          <p:cNvSpPr>
            <a:spLocks noGrp="1"/>
          </p:cNvSpPr>
          <p:nvPr>
            <p:ph idx="1"/>
          </p:nvPr>
        </p:nvSpPr>
        <p:spPr/>
        <p:txBody>
          <a:bodyPr/>
          <a:lstStyle/>
          <a:p>
            <a:pPr>
              <a:lnSpc>
                <a:spcPct val="200000"/>
              </a:lnSpc>
              <a:buFont typeface="Wingdings" pitchFamily="2" charset="2"/>
              <a:buNone/>
            </a:pPr>
            <a:r>
              <a:rPr lang="en-US" altLang="zh-CN" dirty="0"/>
              <a:t>6.  </a:t>
            </a:r>
            <a:r>
              <a:rPr lang="zh-CN" altLang="en-US" dirty="0"/>
              <a:t>在简化</a:t>
            </a:r>
            <a:r>
              <a:rPr lang="en-US" altLang="zh-CN" dirty="0"/>
              <a:t>E-R</a:t>
            </a:r>
            <a:r>
              <a:rPr lang="zh-CN" altLang="zh-CN" dirty="0"/>
              <a:t>图</a:t>
            </a:r>
            <a:r>
              <a:rPr lang="zh-CN" altLang="en-US" dirty="0"/>
              <a:t>时，实体与属性的划分准则 </a:t>
            </a:r>
            <a:r>
              <a:rPr lang="en-US" altLang="zh-CN" dirty="0"/>
              <a:t>?</a:t>
            </a:r>
            <a:endParaRPr lang="en-US" dirty="0"/>
          </a:p>
          <a:p>
            <a:pPr marL="514350" lvl="1" indent="0">
              <a:lnSpc>
                <a:spcPct val="200000"/>
              </a:lnSpc>
              <a:buSzPct val="87000"/>
              <a:buNone/>
            </a:pPr>
            <a:r>
              <a:rPr lang="zh-CN" altLang="en-US" dirty="0"/>
              <a:t>准则</a:t>
            </a:r>
            <a:r>
              <a:rPr lang="en-US" altLang="zh-CN" dirty="0"/>
              <a:t>1</a:t>
            </a:r>
            <a:r>
              <a:rPr lang="zh-CN" altLang="en-US" dirty="0"/>
              <a:t>：作为属性，不能再具有需要描述的性质。</a:t>
            </a:r>
          </a:p>
          <a:p>
            <a:pPr marL="514350" lvl="1" indent="0">
              <a:lnSpc>
                <a:spcPct val="200000"/>
              </a:lnSpc>
              <a:buSzPct val="87000"/>
              <a:buNone/>
            </a:pPr>
            <a:r>
              <a:rPr lang="zh-CN" altLang="en-US" dirty="0"/>
              <a:t>准则</a:t>
            </a:r>
            <a:r>
              <a:rPr lang="en-US" altLang="zh-CN" dirty="0"/>
              <a:t>2</a:t>
            </a:r>
            <a:r>
              <a:rPr lang="zh-CN" altLang="en-US" dirty="0"/>
              <a:t>：属性不能与其他实体具有联系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animEffect transition="in" filter="wipe(left)">
                                      <p:cBhvr>
                                        <p:cTn id="7" dur="500"/>
                                        <p:tgtEl>
                                          <p:spTgt spid="73731">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500"/>
                                  </p:stCondLst>
                                  <p:childTnLst>
                                    <p:set>
                                      <p:cBhvr>
                                        <p:cTn id="10" dur="1" fill="hold">
                                          <p:stCondLst>
                                            <p:cond delay="0"/>
                                          </p:stCondLst>
                                        </p:cTn>
                                        <p:tgtEl>
                                          <p:spTgt spid="73731">
                                            <p:txEl>
                                              <p:pRg st="2" end="2"/>
                                            </p:txEl>
                                          </p:spTgt>
                                        </p:tgtEl>
                                        <p:attrNameLst>
                                          <p:attrName>style.visibility</p:attrName>
                                        </p:attrNameLst>
                                      </p:cBhvr>
                                      <p:to>
                                        <p:strVal val="visible"/>
                                      </p:to>
                                    </p:set>
                                    <p:animEffect transition="in" filter="wipe(left)">
                                      <p:cBhvr>
                                        <p:cTn id="11" dur="500"/>
                                        <p:tgtEl>
                                          <p:spTgt spid="737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74755" name="内容占位符 2"/>
          <p:cNvSpPr>
            <a:spLocks noGrp="1"/>
          </p:cNvSpPr>
          <p:nvPr>
            <p:ph idx="1"/>
          </p:nvPr>
        </p:nvSpPr>
        <p:spPr/>
        <p:txBody>
          <a:bodyPr/>
          <a:lstStyle/>
          <a:p>
            <a:pPr>
              <a:buFont typeface="Wingdings" pitchFamily="2" charset="2"/>
              <a:buNone/>
            </a:pPr>
            <a:r>
              <a:rPr lang="zh-CN" altLang="en-US" dirty="0"/>
              <a:t>假如把上图简化成下图，请问运用了哪条准则，理由？</a:t>
            </a:r>
            <a:endParaRPr lang="en-US" altLang="zh-CN" dirty="0"/>
          </a:p>
        </p:txBody>
      </p:sp>
      <p:pic>
        <p:nvPicPr>
          <p:cNvPr id="74756" name="Picture 5" descr="C:\Users\wamdm\Desktop\1.png"/>
          <p:cNvPicPr>
            <a:picLocks noChangeAspect="1" noChangeArrowheads="1"/>
          </p:cNvPicPr>
          <p:nvPr/>
        </p:nvPicPr>
        <p:blipFill rotWithShape="1">
          <a:blip r:embed="rId2" cstate="print">
            <a:clrChange>
              <a:clrFrom>
                <a:srgbClr val="FFFFFF"/>
              </a:clrFrom>
              <a:clrTo>
                <a:srgbClr val="FFFFFF">
                  <a:alpha val="0"/>
                </a:srgbClr>
              </a:clrTo>
            </a:clrChange>
          </a:blip>
          <a:srcRect l="18987" r="21927" b="59943"/>
          <a:stretch/>
        </p:blipFill>
        <p:spPr bwMode="auto">
          <a:xfrm>
            <a:off x="611558" y="1275604"/>
            <a:ext cx="2644577" cy="1208653"/>
          </a:xfrm>
          <a:prstGeom prst="rect">
            <a:avLst/>
          </a:prstGeom>
          <a:noFill/>
          <a:ln w="9525">
            <a:noFill/>
            <a:miter lim="800000"/>
            <a:headEnd/>
            <a:tailEnd/>
          </a:ln>
        </p:spPr>
      </p:pic>
      <p:pic>
        <p:nvPicPr>
          <p:cNvPr id="5" name="Picture 5" descr="C:\Users\wamdm\Desktop\1.png"/>
          <p:cNvPicPr>
            <a:picLocks noChangeAspect="1" noChangeArrowheads="1"/>
          </p:cNvPicPr>
          <p:nvPr/>
        </p:nvPicPr>
        <p:blipFill rotWithShape="1">
          <a:blip r:embed="rId2" cstate="print">
            <a:clrChange>
              <a:clrFrom>
                <a:srgbClr val="FFFFFF"/>
              </a:clrFrom>
              <a:clrTo>
                <a:srgbClr val="FFFFFF">
                  <a:alpha val="0"/>
                </a:srgbClr>
              </a:clrTo>
            </a:clrChange>
          </a:blip>
          <a:srcRect t="54462"/>
          <a:stretch/>
        </p:blipFill>
        <p:spPr bwMode="auto">
          <a:xfrm>
            <a:off x="323525" y="2917783"/>
            <a:ext cx="4548000" cy="1396195"/>
          </a:xfrm>
          <a:prstGeom prst="rect">
            <a:avLst/>
          </a:prstGeom>
          <a:noFill/>
          <a:ln w="9525">
            <a:noFill/>
            <a:miter lim="800000"/>
            <a:headEnd/>
            <a:tailEnd/>
          </a:ln>
        </p:spPr>
      </p:pic>
      <p:sp>
        <p:nvSpPr>
          <p:cNvPr id="7" name="对话气泡: 圆角矩形 6">
            <a:extLst>
              <a:ext uri="{FF2B5EF4-FFF2-40B4-BE49-F238E27FC236}">
                <a16:creationId xmlns:a16="http://schemas.microsoft.com/office/drawing/2014/main" id="{95D10B4B-1EAA-4701-8749-02192798F878}"/>
              </a:ext>
            </a:extLst>
          </p:cNvPr>
          <p:cNvSpPr/>
          <p:nvPr/>
        </p:nvSpPr>
        <p:spPr bwMode="auto">
          <a:xfrm>
            <a:off x="5364088" y="2715766"/>
            <a:ext cx="2660949" cy="1802464"/>
          </a:xfrm>
          <a:prstGeom prst="wedgeRoundRectCallout">
            <a:avLst>
              <a:gd name="adj1" fmla="val -94034"/>
              <a:gd name="adj2" fmla="val -24172"/>
              <a:gd name="adj3" fmla="val 16667"/>
            </a:avLst>
          </a:prstGeom>
          <a:noFill/>
          <a:ln>
            <a:solidFill>
              <a:srgbClr val="0066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50000"/>
              </a:lnSpc>
              <a:spcBef>
                <a:spcPct val="0"/>
              </a:spcBef>
              <a:spcAft>
                <a:spcPct val="0"/>
              </a:spcAft>
              <a:buClrTx/>
              <a:buSzTx/>
              <a:buFont typeface="Arial" pitchFamily="34" charset="0"/>
              <a:buNone/>
              <a:tabLst/>
            </a:pPr>
            <a:r>
              <a:rPr lang="zh-CN" altLang="en-US" sz="2000" dirty="0">
                <a:solidFill>
                  <a:schemeClr val="tx1"/>
                </a:solidFill>
                <a:latin typeface="微软雅黑" pitchFamily="34" charset="-122"/>
                <a:ea typeface="微软雅黑" pitchFamily="34" charset="-122"/>
              </a:rPr>
              <a:t>准则</a:t>
            </a:r>
            <a:r>
              <a:rPr lang="en-US" altLang="zh-CN" sz="2000" dirty="0">
                <a:solidFill>
                  <a:schemeClr val="tx1"/>
                </a:solidFill>
                <a:latin typeface="微软雅黑" pitchFamily="34" charset="-122"/>
                <a:ea typeface="微软雅黑" pitchFamily="34" charset="-122"/>
              </a:rPr>
              <a:t>1</a:t>
            </a:r>
          </a:p>
          <a:p>
            <a:pPr marL="0" marR="0" indent="0" algn="ctr" defTabSz="914400" rtl="0" eaLnBrk="1" fontAlgn="base" latinLnBrk="0" hangingPunct="1">
              <a:lnSpc>
                <a:spcPct val="150000"/>
              </a:lnSpc>
              <a:spcBef>
                <a:spcPct val="0"/>
              </a:spcBef>
              <a:spcAft>
                <a:spcPct val="0"/>
              </a:spcAft>
              <a:buClrTx/>
              <a:buSzTx/>
              <a:buFont typeface="Arial" pitchFamily="34" charset="0"/>
              <a:buNone/>
              <a:tabLst/>
            </a:pPr>
            <a:r>
              <a:rPr lang="zh-CN" altLang="en-US" sz="2000" dirty="0">
                <a:solidFill>
                  <a:schemeClr val="tx1"/>
                </a:solidFill>
                <a:latin typeface="微软雅黑" pitchFamily="34" charset="-122"/>
                <a:ea typeface="微软雅黑" pitchFamily="34" charset="-122"/>
              </a:rPr>
              <a:t>职称还有可描述的特征（属性）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75779" name="内容占位符 2"/>
          <p:cNvSpPr>
            <a:spLocks noGrp="1"/>
          </p:cNvSpPr>
          <p:nvPr>
            <p:ph idx="1"/>
          </p:nvPr>
        </p:nvSpPr>
        <p:spPr/>
        <p:txBody>
          <a:bodyPr/>
          <a:lstStyle/>
          <a:p>
            <a:pPr>
              <a:buFont typeface="Wingdings" pitchFamily="2" charset="2"/>
              <a:buNone/>
            </a:pPr>
            <a:r>
              <a:rPr lang="zh-CN" altLang="en-US" sz="1800" dirty="0"/>
              <a:t>假如一个病人只能住在一个病房，病房号为病人实体的一个属性；一个医生负责几个病房的病人的医疗工作。下图正确吗？理由</a:t>
            </a:r>
          </a:p>
        </p:txBody>
      </p:sp>
      <p:grpSp>
        <p:nvGrpSpPr>
          <p:cNvPr id="5" name="组合 4">
            <a:extLst>
              <a:ext uri="{FF2B5EF4-FFF2-40B4-BE49-F238E27FC236}">
                <a16:creationId xmlns:a16="http://schemas.microsoft.com/office/drawing/2014/main" id="{6E9D2BF8-8653-4412-B2DB-3EFA13FBB6A2}"/>
              </a:ext>
            </a:extLst>
          </p:cNvPr>
          <p:cNvGrpSpPr/>
          <p:nvPr/>
        </p:nvGrpSpPr>
        <p:grpSpPr>
          <a:xfrm>
            <a:off x="251520" y="1882119"/>
            <a:ext cx="2924564" cy="2705855"/>
            <a:chOff x="251520" y="1347614"/>
            <a:chExt cx="2924564" cy="2705855"/>
          </a:xfrm>
        </p:grpSpPr>
        <p:sp>
          <p:nvSpPr>
            <p:cNvPr id="6" name="矩形 5">
              <a:extLst>
                <a:ext uri="{FF2B5EF4-FFF2-40B4-BE49-F238E27FC236}">
                  <a16:creationId xmlns:a16="http://schemas.microsoft.com/office/drawing/2014/main" id="{D4FA2785-0DF7-4AD5-97E5-52CAC17A99A9}"/>
                </a:ext>
              </a:extLst>
            </p:cNvPr>
            <p:cNvSpPr/>
            <p:nvPr/>
          </p:nvSpPr>
          <p:spPr bwMode="auto">
            <a:xfrm>
              <a:off x="1267991" y="1347614"/>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rPr>
                <a:t>病人</a:t>
              </a:r>
            </a:p>
          </p:txBody>
        </p:sp>
        <p:sp>
          <p:nvSpPr>
            <p:cNvPr id="7" name="矩形 6">
              <a:extLst>
                <a:ext uri="{FF2B5EF4-FFF2-40B4-BE49-F238E27FC236}">
                  <a16:creationId xmlns:a16="http://schemas.microsoft.com/office/drawing/2014/main" id="{1131C062-585E-43E3-B56E-83204F5F569C}"/>
                </a:ext>
              </a:extLst>
            </p:cNvPr>
            <p:cNvSpPr/>
            <p:nvPr/>
          </p:nvSpPr>
          <p:spPr bwMode="auto">
            <a:xfrm>
              <a:off x="2204095" y="3651870"/>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rPr>
                <a:t>医生</a:t>
              </a:r>
            </a:p>
          </p:txBody>
        </p:sp>
        <p:sp>
          <p:nvSpPr>
            <p:cNvPr id="8" name="椭圆 7">
              <a:extLst>
                <a:ext uri="{FF2B5EF4-FFF2-40B4-BE49-F238E27FC236}">
                  <a16:creationId xmlns:a16="http://schemas.microsoft.com/office/drawing/2014/main" id="{C6E00A04-0654-49B0-9DB6-08F4E7163AB0}"/>
                </a:ext>
              </a:extLst>
            </p:cNvPr>
            <p:cNvSpPr/>
            <p:nvPr/>
          </p:nvSpPr>
          <p:spPr bwMode="auto">
            <a:xfrm>
              <a:off x="251520" y="2106610"/>
              <a:ext cx="880814" cy="46514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住院号</a:t>
              </a:r>
            </a:p>
          </p:txBody>
        </p:sp>
        <p:sp>
          <p:nvSpPr>
            <p:cNvPr id="9" name="椭圆 8">
              <a:extLst>
                <a:ext uri="{FF2B5EF4-FFF2-40B4-BE49-F238E27FC236}">
                  <a16:creationId xmlns:a16="http://schemas.microsoft.com/office/drawing/2014/main" id="{9176AB93-D08F-4098-86DB-4BF7CE95CD80}"/>
                </a:ext>
              </a:extLst>
            </p:cNvPr>
            <p:cNvSpPr/>
            <p:nvPr/>
          </p:nvSpPr>
          <p:spPr bwMode="auto">
            <a:xfrm>
              <a:off x="1187624" y="2106610"/>
              <a:ext cx="880814" cy="46514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姓名</a:t>
              </a:r>
            </a:p>
          </p:txBody>
        </p:sp>
        <p:sp>
          <p:nvSpPr>
            <p:cNvPr id="10" name="椭圆 9">
              <a:extLst>
                <a:ext uri="{FF2B5EF4-FFF2-40B4-BE49-F238E27FC236}">
                  <a16:creationId xmlns:a16="http://schemas.microsoft.com/office/drawing/2014/main" id="{461EEE0E-7D70-49F1-BE12-16B4D6D7C7AE}"/>
                </a:ext>
              </a:extLst>
            </p:cNvPr>
            <p:cNvSpPr/>
            <p:nvPr/>
          </p:nvSpPr>
          <p:spPr bwMode="auto">
            <a:xfrm>
              <a:off x="2123728" y="2106610"/>
              <a:ext cx="880814" cy="46514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病房号</a:t>
              </a:r>
            </a:p>
          </p:txBody>
        </p:sp>
        <p:cxnSp>
          <p:nvCxnSpPr>
            <p:cNvPr id="11" name="直接连接符 10">
              <a:extLst>
                <a:ext uri="{FF2B5EF4-FFF2-40B4-BE49-F238E27FC236}">
                  <a16:creationId xmlns:a16="http://schemas.microsoft.com/office/drawing/2014/main" id="{AA7CA6D4-AFAB-4030-997C-1611A3593671}"/>
                </a:ext>
              </a:extLst>
            </p:cNvPr>
            <p:cNvCxnSpPr>
              <a:cxnSpLocks/>
              <a:stCxn id="6" idx="2"/>
              <a:endCxn id="9" idx="0"/>
            </p:cNvCxnSpPr>
            <p:nvPr/>
          </p:nvCxnSpPr>
          <p:spPr bwMode="auto">
            <a:xfrm>
              <a:off x="1628031" y="1749213"/>
              <a:ext cx="0" cy="357397"/>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12" name="直接连接符 11">
              <a:extLst>
                <a:ext uri="{FF2B5EF4-FFF2-40B4-BE49-F238E27FC236}">
                  <a16:creationId xmlns:a16="http://schemas.microsoft.com/office/drawing/2014/main" id="{4ACADAC9-785F-4DC2-9BBD-E3A900EB1C19}"/>
                </a:ext>
              </a:extLst>
            </p:cNvPr>
            <p:cNvCxnSpPr>
              <a:cxnSpLocks/>
              <a:stCxn id="6" idx="2"/>
              <a:endCxn id="10" idx="0"/>
            </p:cNvCxnSpPr>
            <p:nvPr/>
          </p:nvCxnSpPr>
          <p:spPr bwMode="auto">
            <a:xfrm>
              <a:off x="1628031" y="1749213"/>
              <a:ext cx="936104" cy="357397"/>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13" name="直接连接符 12">
              <a:extLst>
                <a:ext uri="{FF2B5EF4-FFF2-40B4-BE49-F238E27FC236}">
                  <a16:creationId xmlns:a16="http://schemas.microsoft.com/office/drawing/2014/main" id="{87661501-9FA3-43DE-AC2A-CC8C9A5C0F21}"/>
                </a:ext>
              </a:extLst>
            </p:cNvPr>
            <p:cNvCxnSpPr>
              <a:cxnSpLocks/>
              <a:stCxn id="6" idx="2"/>
              <a:endCxn id="8" idx="0"/>
            </p:cNvCxnSpPr>
            <p:nvPr/>
          </p:nvCxnSpPr>
          <p:spPr bwMode="auto">
            <a:xfrm flipH="1">
              <a:off x="691927" y="1749213"/>
              <a:ext cx="936104" cy="357397"/>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14" name="流程图: 决策 13">
              <a:extLst>
                <a:ext uri="{FF2B5EF4-FFF2-40B4-BE49-F238E27FC236}">
                  <a16:creationId xmlns:a16="http://schemas.microsoft.com/office/drawing/2014/main" id="{C2B310C1-95A0-4C38-80E8-8E6CA3D4F29F}"/>
                </a:ext>
              </a:extLst>
            </p:cNvPr>
            <p:cNvSpPr/>
            <p:nvPr/>
          </p:nvSpPr>
          <p:spPr bwMode="auto">
            <a:xfrm>
              <a:off x="1960307" y="2859782"/>
              <a:ext cx="1215777" cy="465140"/>
            </a:xfrm>
            <a:prstGeom prst="flowChartDecision">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医疗</a:t>
              </a:r>
            </a:p>
          </p:txBody>
        </p:sp>
        <p:cxnSp>
          <p:nvCxnSpPr>
            <p:cNvPr id="15" name="直接连接符 14">
              <a:extLst>
                <a:ext uri="{FF2B5EF4-FFF2-40B4-BE49-F238E27FC236}">
                  <a16:creationId xmlns:a16="http://schemas.microsoft.com/office/drawing/2014/main" id="{2D48328B-48C3-4643-98C3-2E530E824B2A}"/>
                </a:ext>
              </a:extLst>
            </p:cNvPr>
            <p:cNvCxnSpPr>
              <a:cxnSpLocks/>
              <a:stCxn id="10" idx="4"/>
              <a:endCxn id="14" idx="0"/>
            </p:cNvCxnSpPr>
            <p:nvPr/>
          </p:nvCxnSpPr>
          <p:spPr bwMode="auto">
            <a:xfrm>
              <a:off x="2564135" y="2571750"/>
              <a:ext cx="4061" cy="288032"/>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16" name="直接连接符 15">
              <a:extLst>
                <a:ext uri="{FF2B5EF4-FFF2-40B4-BE49-F238E27FC236}">
                  <a16:creationId xmlns:a16="http://schemas.microsoft.com/office/drawing/2014/main" id="{AE207164-7CD2-4A69-87C1-EDD0DFF507EF}"/>
                </a:ext>
              </a:extLst>
            </p:cNvPr>
            <p:cNvCxnSpPr>
              <a:cxnSpLocks/>
              <a:stCxn id="14" idx="2"/>
              <a:endCxn id="7" idx="0"/>
            </p:cNvCxnSpPr>
            <p:nvPr/>
          </p:nvCxnSpPr>
          <p:spPr bwMode="auto">
            <a:xfrm flipH="1">
              <a:off x="2564135" y="3324922"/>
              <a:ext cx="4061" cy="326948"/>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grpSp>
      <p:grpSp>
        <p:nvGrpSpPr>
          <p:cNvPr id="17" name="组合 16">
            <a:extLst>
              <a:ext uri="{FF2B5EF4-FFF2-40B4-BE49-F238E27FC236}">
                <a16:creationId xmlns:a16="http://schemas.microsoft.com/office/drawing/2014/main" id="{7443477A-B693-41B2-9353-56D13A867183}"/>
              </a:ext>
            </a:extLst>
          </p:cNvPr>
          <p:cNvGrpSpPr/>
          <p:nvPr/>
        </p:nvGrpSpPr>
        <p:grpSpPr>
          <a:xfrm>
            <a:off x="3491880" y="2277750"/>
            <a:ext cx="5256584" cy="2124649"/>
            <a:chOff x="3491880" y="1743245"/>
            <a:chExt cx="5256584" cy="2124649"/>
          </a:xfrm>
        </p:grpSpPr>
        <p:sp>
          <p:nvSpPr>
            <p:cNvPr id="18" name="矩形 17">
              <a:extLst>
                <a:ext uri="{FF2B5EF4-FFF2-40B4-BE49-F238E27FC236}">
                  <a16:creationId xmlns:a16="http://schemas.microsoft.com/office/drawing/2014/main" id="{4D464D3E-0933-4AB2-886E-A931EFE89154}"/>
                </a:ext>
              </a:extLst>
            </p:cNvPr>
            <p:cNvSpPr/>
            <p:nvPr/>
          </p:nvSpPr>
          <p:spPr bwMode="auto">
            <a:xfrm>
              <a:off x="4508351" y="1882119"/>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rPr>
                <a:t>病人</a:t>
              </a:r>
            </a:p>
          </p:txBody>
        </p:sp>
        <p:sp>
          <p:nvSpPr>
            <p:cNvPr id="19" name="矩形 18">
              <a:extLst>
                <a:ext uri="{FF2B5EF4-FFF2-40B4-BE49-F238E27FC236}">
                  <a16:creationId xmlns:a16="http://schemas.microsoft.com/office/drawing/2014/main" id="{1AFB092E-1B07-4C0D-9DA2-658C1AF57D07}"/>
                </a:ext>
              </a:extLst>
            </p:cNvPr>
            <p:cNvSpPr/>
            <p:nvPr/>
          </p:nvSpPr>
          <p:spPr bwMode="auto">
            <a:xfrm>
              <a:off x="7776475" y="3466295"/>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6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rPr>
                <a:t>医生</a:t>
              </a:r>
            </a:p>
          </p:txBody>
        </p:sp>
        <p:sp>
          <p:nvSpPr>
            <p:cNvPr id="20" name="椭圆 19">
              <a:extLst>
                <a:ext uri="{FF2B5EF4-FFF2-40B4-BE49-F238E27FC236}">
                  <a16:creationId xmlns:a16="http://schemas.microsoft.com/office/drawing/2014/main" id="{ADF8B6F1-2711-4FBD-B13B-851EF5928E23}"/>
                </a:ext>
              </a:extLst>
            </p:cNvPr>
            <p:cNvSpPr/>
            <p:nvPr/>
          </p:nvSpPr>
          <p:spPr bwMode="auto">
            <a:xfrm>
              <a:off x="3491880" y="2641115"/>
              <a:ext cx="880814" cy="46514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住院号</a:t>
              </a:r>
            </a:p>
          </p:txBody>
        </p:sp>
        <p:sp>
          <p:nvSpPr>
            <p:cNvPr id="21" name="椭圆 20">
              <a:extLst>
                <a:ext uri="{FF2B5EF4-FFF2-40B4-BE49-F238E27FC236}">
                  <a16:creationId xmlns:a16="http://schemas.microsoft.com/office/drawing/2014/main" id="{2071E656-677C-4747-920C-02A8DB7E7293}"/>
                </a:ext>
              </a:extLst>
            </p:cNvPr>
            <p:cNvSpPr/>
            <p:nvPr/>
          </p:nvSpPr>
          <p:spPr bwMode="auto">
            <a:xfrm>
              <a:off x="4427984" y="2641115"/>
              <a:ext cx="880814" cy="46514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姓名</a:t>
              </a:r>
            </a:p>
          </p:txBody>
        </p:sp>
        <p:sp>
          <p:nvSpPr>
            <p:cNvPr id="22" name="椭圆 21">
              <a:extLst>
                <a:ext uri="{FF2B5EF4-FFF2-40B4-BE49-F238E27FC236}">
                  <a16:creationId xmlns:a16="http://schemas.microsoft.com/office/drawing/2014/main" id="{29A2D9D2-525D-46F1-B6A7-58D78FDCDCC8}"/>
                </a:ext>
              </a:extLst>
            </p:cNvPr>
            <p:cNvSpPr/>
            <p:nvPr/>
          </p:nvSpPr>
          <p:spPr bwMode="auto">
            <a:xfrm>
              <a:off x="5364088" y="2641115"/>
              <a:ext cx="880814" cy="465140"/>
            </a:xfrm>
            <a:prstGeom prst="ellips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45720" rIns="0" bIns="4572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病房号</a:t>
              </a:r>
            </a:p>
          </p:txBody>
        </p:sp>
        <p:cxnSp>
          <p:nvCxnSpPr>
            <p:cNvPr id="23" name="直接连接符 22">
              <a:extLst>
                <a:ext uri="{FF2B5EF4-FFF2-40B4-BE49-F238E27FC236}">
                  <a16:creationId xmlns:a16="http://schemas.microsoft.com/office/drawing/2014/main" id="{92DA616A-A66D-48D5-879E-92C593DE675F}"/>
                </a:ext>
              </a:extLst>
            </p:cNvPr>
            <p:cNvCxnSpPr>
              <a:cxnSpLocks/>
              <a:stCxn id="18" idx="2"/>
              <a:endCxn id="21" idx="0"/>
            </p:cNvCxnSpPr>
            <p:nvPr/>
          </p:nvCxnSpPr>
          <p:spPr bwMode="auto">
            <a:xfrm>
              <a:off x="4868391" y="2283718"/>
              <a:ext cx="0" cy="357397"/>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24" name="直接连接符 23">
              <a:extLst>
                <a:ext uri="{FF2B5EF4-FFF2-40B4-BE49-F238E27FC236}">
                  <a16:creationId xmlns:a16="http://schemas.microsoft.com/office/drawing/2014/main" id="{3E4E32E5-E133-4826-9B5E-59EDF6C84B8E}"/>
                </a:ext>
              </a:extLst>
            </p:cNvPr>
            <p:cNvCxnSpPr>
              <a:cxnSpLocks/>
              <a:stCxn id="18" idx="2"/>
              <a:endCxn id="22" idx="0"/>
            </p:cNvCxnSpPr>
            <p:nvPr/>
          </p:nvCxnSpPr>
          <p:spPr bwMode="auto">
            <a:xfrm>
              <a:off x="4868391" y="2283718"/>
              <a:ext cx="936104" cy="357397"/>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25" name="直接连接符 24">
              <a:extLst>
                <a:ext uri="{FF2B5EF4-FFF2-40B4-BE49-F238E27FC236}">
                  <a16:creationId xmlns:a16="http://schemas.microsoft.com/office/drawing/2014/main" id="{06EBFAC1-2D07-414C-B14F-9B1C3F5C4E68}"/>
                </a:ext>
              </a:extLst>
            </p:cNvPr>
            <p:cNvCxnSpPr>
              <a:cxnSpLocks/>
              <a:stCxn id="18" idx="2"/>
              <a:endCxn id="20" idx="0"/>
            </p:cNvCxnSpPr>
            <p:nvPr/>
          </p:nvCxnSpPr>
          <p:spPr bwMode="auto">
            <a:xfrm flipH="1">
              <a:off x="3932287" y="2283718"/>
              <a:ext cx="936104" cy="357397"/>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26" name="流程图: 决策 25">
              <a:extLst>
                <a:ext uri="{FF2B5EF4-FFF2-40B4-BE49-F238E27FC236}">
                  <a16:creationId xmlns:a16="http://schemas.microsoft.com/office/drawing/2014/main" id="{BB498A87-C945-4387-BAEE-F0C9E789D10E}"/>
                </a:ext>
              </a:extLst>
            </p:cNvPr>
            <p:cNvSpPr/>
            <p:nvPr/>
          </p:nvSpPr>
          <p:spPr bwMode="auto">
            <a:xfrm>
              <a:off x="7532687" y="2674207"/>
              <a:ext cx="1215777" cy="465140"/>
            </a:xfrm>
            <a:prstGeom prst="flowChartDecision">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医疗</a:t>
              </a:r>
            </a:p>
          </p:txBody>
        </p:sp>
        <p:cxnSp>
          <p:nvCxnSpPr>
            <p:cNvPr id="27" name="直接连接符 26">
              <a:extLst>
                <a:ext uri="{FF2B5EF4-FFF2-40B4-BE49-F238E27FC236}">
                  <a16:creationId xmlns:a16="http://schemas.microsoft.com/office/drawing/2014/main" id="{A78D01C7-D8C7-450D-974F-114D7F025B0F}"/>
                </a:ext>
              </a:extLst>
            </p:cNvPr>
            <p:cNvCxnSpPr>
              <a:cxnSpLocks/>
              <a:stCxn id="30" idx="2"/>
              <a:endCxn id="26" idx="0"/>
            </p:cNvCxnSpPr>
            <p:nvPr/>
          </p:nvCxnSpPr>
          <p:spPr bwMode="auto">
            <a:xfrm>
              <a:off x="8135734" y="2283718"/>
              <a:ext cx="4842" cy="390489"/>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28" name="直接连接符 27">
              <a:extLst>
                <a:ext uri="{FF2B5EF4-FFF2-40B4-BE49-F238E27FC236}">
                  <a16:creationId xmlns:a16="http://schemas.microsoft.com/office/drawing/2014/main" id="{0711B938-D558-4258-A138-76596046AE2A}"/>
                </a:ext>
              </a:extLst>
            </p:cNvPr>
            <p:cNvCxnSpPr>
              <a:cxnSpLocks/>
              <a:stCxn id="26" idx="2"/>
              <a:endCxn id="19" idx="0"/>
            </p:cNvCxnSpPr>
            <p:nvPr/>
          </p:nvCxnSpPr>
          <p:spPr bwMode="auto">
            <a:xfrm flipH="1">
              <a:off x="8136515" y="3139347"/>
              <a:ext cx="4061" cy="326948"/>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29" name="流程图: 决策 28">
              <a:extLst>
                <a:ext uri="{FF2B5EF4-FFF2-40B4-BE49-F238E27FC236}">
                  <a16:creationId xmlns:a16="http://schemas.microsoft.com/office/drawing/2014/main" id="{6EE81C42-5403-4F70-BD9C-7868E9F99123}"/>
                </a:ext>
              </a:extLst>
            </p:cNvPr>
            <p:cNvSpPr/>
            <p:nvPr/>
          </p:nvSpPr>
          <p:spPr bwMode="auto">
            <a:xfrm>
              <a:off x="6043484" y="1848074"/>
              <a:ext cx="1215777" cy="465140"/>
            </a:xfrm>
            <a:prstGeom prst="flowChartDecision">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0" compatLnSpc="1">
              <a:prstTxWarp prst="textNoShape">
                <a:avLst/>
              </a:prstTxWarp>
            </a:bodyPr>
            <a:lstStyle/>
            <a:p>
              <a:pPr algn="ctr"/>
              <a:r>
                <a:rPr lang="zh-CN" altLang="en-US" sz="1600" dirty="0">
                  <a:solidFill>
                    <a:schemeClr val="tx1"/>
                  </a:solidFill>
                  <a:latin typeface="Microsoft YaHei Light" panose="020B0502040204020203" pitchFamily="34" charset="-122"/>
                  <a:ea typeface="Microsoft YaHei Light" panose="020B0502040204020203" pitchFamily="34" charset="-122"/>
                </a:rPr>
                <a:t>安排</a:t>
              </a:r>
            </a:p>
          </p:txBody>
        </p:sp>
        <p:sp>
          <p:nvSpPr>
            <p:cNvPr id="30" name="矩形 29">
              <a:extLst>
                <a:ext uri="{FF2B5EF4-FFF2-40B4-BE49-F238E27FC236}">
                  <a16:creationId xmlns:a16="http://schemas.microsoft.com/office/drawing/2014/main" id="{5B6A46F8-90A3-4EBC-A905-607A5619A45D}"/>
                </a:ext>
              </a:extLst>
            </p:cNvPr>
            <p:cNvSpPr/>
            <p:nvPr/>
          </p:nvSpPr>
          <p:spPr bwMode="auto">
            <a:xfrm>
              <a:off x="7775694" y="1882119"/>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zh-CN" altLang="en-US" sz="1600" dirty="0">
                  <a:solidFill>
                    <a:schemeClr val="tx1"/>
                  </a:solidFill>
                  <a:latin typeface="Microsoft YaHei Light" panose="020B0502040204020203" pitchFamily="34" charset="-122"/>
                  <a:ea typeface="Microsoft YaHei Light" panose="020B0502040204020203" pitchFamily="34" charset="-122"/>
                </a:rPr>
                <a:t>病房</a:t>
              </a:r>
              <a:endParaRPr kumimoji="0" lang="zh-CN" altLang="en-US" sz="16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31" name="直接连接符 30">
              <a:extLst>
                <a:ext uri="{FF2B5EF4-FFF2-40B4-BE49-F238E27FC236}">
                  <a16:creationId xmlns:a16="http://schemas.microsoft.com/office/drawing/2014/main" id="{9279D76E-589A-4C0C-856E-351F07864686}"/>
                </a:ext>
              </a:extLst>
            </p:cNvPr>
            <p:cNvCxnSpPr>
              <a:stCxn id="29" idx="1"/>
              <a:endCxn id="18" idx="3"/>
            </p:cNvCxnSpPr>
            <p:nvPr/>
          </p:nvCxnSpPr>
          <p:spPr bwMode="auto">
            <a:xfrm flipH="1">
              <a:off x="5228431" y="2080644"/>
              <a:ext cx="815053" cy="2275"/>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32" name="直接连接符 31">
              <a:extLst>
                <a:ext uri="{FF2B5EF4-FFF2-40B4-BE49-F238E27FC236}">
                  <a16:creationId xmlns:a16="http://schemas.microsoft.com/office/drawing/2014/main" id="{532102AB-65CC-4DDF-ABE8-19EBDDBA19C6}"/>
                </a:ext>
              </a:extLst>
            </p:cNvPr>
            <p:cNvCxnSpPr>
              <a:stCxn id="29" idx="3"/>
              <a:endCxn id="30" idx="1"/>
            </p:cNvCxnSpPr>
            <p:nvPr/>
          </p:nvCxnSpPr>
          <p:spPr bwMode="auto">
            <a:xfrm>
              <a:off x="7259261" y="2080644"/>
              <a:ext cx="516433" cy="2275"/>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33" name="文本框 32">
              <a:extLst>
                <a:ext uri="{FF2B5EF4-FFF2-40B4-BE49-F238E27FC236}">
                  <a16:creationId xmlns:a16="http://schemas.microsoft.com/office/drawing/2014/main" id="{7778362A-0C51-4201-A981-567E8739CCB6}"/>
                </a:ext>
              </a:extLst>
            </p:cNvPr>
            <p:cNvSpPr txBox="1"/>
            <p:nvPr/>
          </p:nvSpPr>
          <p:spPr>
            <a:xfrm>
              <a:off x="8186506" y="3078980"/>
              <a:ext cx="193059" cy="369332"/>
            </a:xfrm>
            <a:prstGeom prst="rect">
              <a:avLst/>
            </a:prstGeom>
            <a:noFill/>
          </p:spPr>
          <p:txBody>
            <a:bodyPr wrap="square" rtlCol="0">
              <a:spAutoFit/>
            </a:bodyPr>
            <a:lstStyle/>
            <a:p>
              <a:r>
                <a:rPr lang="en-US" altLang="zh-CN" dirty="0"/>
                <a:t>M</a:t>
              </a:r>
              <a:endParaRPr lang="zh-CN" altLang="en-US" dirty="0"/>
            </a:p>
          </p:txBody>
        </p:sp>
        <p:sp>
          <p:nvSpPr>
            <p:cNvPr id="34" name="文本框 33">
              <a:extLst>
                <a:ext uri="{FF2B5EF4-FFF2-40B4-BE49-F238E27FC236}">
                  <a16:creationId xmlns:a16="http://schemas.microsoft.com/office/drawing/2014/main" id="{9D5E05EA-AD5F-46ED-810A-6631144D1E6D}"/>
                </a:ext>
              </a:extLst>
            </p:cNvPr>
            <p:cNvSpPr txBox="1"/>
            <p:nvPr/>
          </p:nvSpPr>
          <p:spPr>
            <a:xfrm>
              <a:off x="8174230" y="2294296"/>
              <a:ext cx="193059" cy="369332"/>
            </a:xfrm>
            <a:prstGeom prst="rect">
              <a:avLst/>
            </a:prstGeom>
            <a:noFill/>
          </p:spPr>
          <p:txBody>
            <a:bodyPr wrap="square" rtlCol="0">
              <a:spAutoFit/>
            </a:bodyPr>
            <a:lstStyle/>
            <a:p>
              <a:r>
                <a:rPr lang="en-US" altLang="zh-CN" dirty="0"/>
                <a:t>N</a:t>
              </a:r>
              <a:endParaRPr lang="zh-CN" altLang="en-US" dirty="0"/>
            </a:p>
          </p:txBody>
        </p:sp>
        <p:sp>
          <p:nvSpPr>
            <p:cNvPr id="35" name="文本框 34">
              <a:extLst>
                <a:ext uri="{FF2B5EF4-FFF2-40B4-BE49-F238E27FC236}">
                  <a16:creationId xmlns:a16="http://schemas.microsoft.com/office/drawing/2014/main" id="{D3CFEA11-3312-4CCD-AD4E-22B522939050}"/>
                </a:ext>
              </a:extLst>
            </p:cNvPr>
            <p:cNvSpPr txBox="1"/>
            <p:nvPr/>
          </p:nvSpPr>
          <p:spPr>
            <a:xfrm>
              <a:off x="5539427" y="1743245"/>
              <a:ext cx="193059" cy="369332"/>
            </a:xfrm>
            <a:prstGeom prst="rect">
              <a:avLst/>
            </a:prstGeom>
            <a:noFill/>
          </p:spPr>
          <p:txBody>
            <a:bodyPr wrap="square" rtlCol="0">
              <a:spAutoFit/>
            </a:bodyPr>
            <a:lstStyle/>
            <a:p>
              <a:r>
                <a:rPr lang="en-US" altLang="zh-CN" dirty="0"/>
                <a:t>N</a:t>
              </a:r>
              <a:endParaRPr lang="zh-CN" altLang="en-US" dirty="0"/>
            </a:p>
          </p:txBody>
        </p:sp>
        <p:sp>
          <p:nvSpPr>
            <p:cNvPr id="36" name="文本框 35">
              <a:extLst>
                <a:ext uri="{FF2B5EF4-FFF2-40B4-BE49-F238E27FC236}">
                  <a16:creationId xmlns:a16="http://schemas.microsoft.com/office/drawing/2014/main" id="{DAA1C378-9BB7-46BC-9EB8-E71CEC3F3A92}"/>
                </a:ext>
              </a:extLst>
            </p:cNvPr>
            <p:cNvSpPr txBox="1"/>
            <p:nvPr/>
          </p:nvSpPr>
          <p:spPr>
            <a:xfrm>
              <a:off x="7356576" y="1749213"/>
              <a:ext cx="193059" cy="369332"/>
            </a:xfrm>
            <a:prstGeom prst="rect">
              <a:avLst/>
            </a:prstGeom>
            <a:noFill/>
          </p:spPr>
          <p:txBody>
            <a:bodyPr wrap="square" rtlCol="0">
              <a:spAutoFit/>
            </a:bodyPr>
            <a:lstStyle/>
            <a:p>
              <a:r>
                <a:rPr lang="en-US" altLang="zh-CN" dirty="0"/>
                <a:t>1</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82947" name="内容占位符 2"/>
          <p:cNvSpPr>
            <a:spLocks noGrp="1"/>
          </p:cNvSpPr>
          <p:nvPr>
            <p:ph idx="1"/>
          </p:nvPr>
        </p:nvSpPr>
        <p:spPr/>
        <p:txBody>
          <a:bodyPr/>
          <a:lstStyle/>
          <a:p>
            <a:pPr>
              <a:buFont typeface="Wingdings" pitchFamily="2" charset="2"/>
              <a:buNone/>
            </a:pPr>
            <a:r>
              <a:rPr lang="en-US" altLang="zh-CN" dirty="0"/>
              <a:t>7. E-R</a:t>
            </a:r>
            <a:r>
              <a:rPr lang="zh-CN" altLang="en-US" dirty="0"/>
              <a:t>图的集成</a:t>
            </a:r>
          </a:p>
          <a:p>
            <a:pPr lvl="1"/>
            <a:r>
              <a:rPr lang="en-US" altLang="zh-CN" dirty="0"/>
              <a:t>E-R</a:t>
            </a:r>
            <a:r>
              <a:rPr lang="zh-CN" altLang="en-US" dirty="0"/>
              <a:t>图的集成一般需要分两步</a:t>
            </a:r>
          </a:p>
          <a:p>
            <a:pPr marL="914400" lvl="1" indent="-457200">
              <a:buSzPct val="87000"/>
              <a:buFont typeface="+mj-ea"/>
              <a:buAutoNum type="circleNumDbPlain"/>
            </a:pPr>
            <a:r>
              <a:rPr lang="zh-CN" altLang="en-US" dirty="0"/>
              <a:t> 合并</a:t>
            </a:r>
          </a:p>
          <a:p>
            <a:pPr marL="914400" lvl="1" indent="-457200">
              <a:buSzPct val="87000"/>
              <a:buFont typeface="+mj-ea"/>
              <a:buAutoNum type="circleNumDbPlain"/>
            </a:pPr>
            <a:r>
              <a:rPr lang="zh-CN" altLang="en-US" dirty="0"/>
              <a:t> 重构</a:t>
            </a:r>
          </a:p>
          <a:p>
            <a:endParaRPr lang="zh-CN" altLang="en-US" dirty="0"/>
          </a:p>
        </p:txBody>
      </p:sp>
      <p:pic>
        <p:nvPicPr>
          <p:cNvPr id="82948"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699792" y="1810519"/>
            <a:ext cx="4333875" cy="27908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2948"/>
                                        </p:tgtEl>
                                        <p:attrNameLst>
                                          <p:attrName>style.visibility</p:attrName>
                                        </p:attrNameLst>
                                      </p:cBhvr>
                                      <p:to>
                                        <p:strVal val="visible"/>
                                      </p:to>
                                    </p:set>
                                    <p:animEffect transition="in" filter="wipe(up)">
                                      <p:cBhvr>
                                        <p:cTn id="7" dur="500"/>
                                        <p:tgtEl>
                                          <p:spTgt spid="82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83971" name="内容占位符 2"/>
          <p:cNvSpPr>
            <a:spLocks noGrp="1"/>
          </p:cNvSpPr>
          <p:nvPr>
            <p:ph idx="1"/>
          </p:nvPr>
        </p:nvSpPr>
        <p:spPr>
          <a:xfrm>
            <a:off x="-32" y="642924"/>
            <a:ext cx="9144032" cy="4206583"/>
          </a:xfrm>
        </p:spPr>
        <p:txBody>
          <a:bodyPr/>
          <a:lstStyle/>
          <a:p>
            <a:pPr marL="0" lvl="1" indent="0">
              <a:buFont typeface="Wingdings" pitchFamily="2" charset="2"/>
              <a:buNone/>
            </a:pPr>
            <a:r>
              <a:rPr lang="en-US" altLang="zh-CN" dirty="0"/>
              <a:t>8.</a:t>
            </a:r>
            <a:r>
              <a:rPr lang="zh-CN" altLang="en-US" dirty="0"/>
              <a:t>在</a:t>
            </a:r>
            <a:r>
              <a:rPr lang="en-US" altLang="zh-CN" dirty="0"/>
              <a:t>ER</a:t>
            </a:r>
            <a:r>
              <a:rPr lang="zh-CN" altLang="en-US" dirty="0"/>
              <a:t>图集成如何消除属性冲突、命名冲突、结构冲突？</a:t>
            </a:r>
            <a:endParaRPr lang="en-US" altLang="zh-CN" dirty="0"/>
          </a:p>
          <a:p>
            <a:pPr lvl="1"/>
            <a:r>
              <a:rPr lang="zh-CN" altLang="en-US" dirty="0"/>
              <a:t>属性冲突</a:t>
            </a:r>
          </a:p>
          <a:p>
            <a:pPr marL="900000" lvl="3">
              <a:buNone/>
            </a:pPr>
            <a:r>
              <a:rPr lang="zh-CN" altLang="zh-CN" dirty="0"/>
              <a:t>①</a:t>
            </a:r>
            <a:r>
              <a:rPr lang="zh-CN" altLang="en-US" dirty="0"/>
              <a:t>属性域冲突，即属性值的类型、取值范围或取值集合不同。</a:t>
            </a:r>
          </a:p>
          <a:p>
            <a:pPr marL="900000" lvl="3">
              <a:buNone/>
            </a:pPr>
            <a:r>
              <a:rPr lang="zh-CN" altLang="zh-CN" dirty="0"/>
              <a:t>②</a:t>
            </a:r>
            <a:r>
              <a:rPr lang="zh-CN" altLang="en-US" dirty="0"/>
              <a:t>属性取值单位冲突。</a:t>
            </a:r>
          </a:p>
          <a:p>
            <a:pPr marL="1080000" lvl="3">
              <a:buFont typeface="Arial" pitchFamily="34" charset="0"/>
              <a:buNone/>
            </a:pPr>
            <a:endParaRPr lang="zh-CN" altLang="en-US" dirty="0"/>
          </a:p>
        </p:txBody>
      </p:sp>
      <p:sp>
        <p:nvSpPr>
          <p:cNvPr id="4" name="卷形: 水平 3">
            <a:extLst>
              <a:ext uri="{FF2B5EF4-FFF2-40B4-BE49-F238E27FC236}">
                <a16:creationId xmlns:a16="http://schemas.microsoft.com/office/drawing/2014/main" id="{A2442CCE-87D2-474C-B927-3F3407DCD30B}"/>
              </a:ext>
            </a:extLst>
          </p:cNvPr>
          <p:cNvSpPr/>
          <p:nvPr/>
        </p:nvSpPr>
        <p:spPr bwMode="auto">
          <a:xfrm>
            <a:off x="611560" y="2787774"/>
            <a:ext cx="7776864" cy="1080120"/>
          </a:xfrm>
          <a:prstGeom prst="horizontalScroll">
            <a:avLst/>
          </a:prstGeom>
          <a:ln w="28575">
            <a:solidFill>
              <a:srgbClr val="0066FF"/>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2800" dirty="0">
                <a:latin typeface="Microsoft YaHei Light" panose="020B0502040204020203" pitchFamily="34" charset="-122"/>
                <a:ea typeface="Microsoft YaHei Light" panose="020B0502040204020203" pitchFamily="34" charset="-122"/>
              </a:rPr>
              <a:t>解决方案：由规划部分牵头，各部门协商解决</a:t>
            </a:r>
            <a:endParaRPr lang="en-US" altLang="zh-CN" sz="2800"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83971" name="内容占位符 2"/>
          <p:cNvSpPr>
            <a:spLocks noGrp="1"/>
          </p:cNvSpPr>
          <p:nvPr>
            <p:ph idx="1"/>
          </p:nvPr>
        </p:nvSpPr>
        <p:spPr>
          <a:xfrm>
            <a:off x="-32" y="642924"/>
            <a:ext cx="9144032" cy="4206583"/>
          </a:xfrm>
        </p:spPr>
        <p:txBody>
          <a:bodyPr/>
          <a:lstStyle/>
          <a:p>
            <a:pPr marL="0" lvl="1" indent="0">
              <a:buFont typeface="Wingdings" pitchFamily="2" charset="2"/>
              <a:buNone/>
            </a:pPr>
            <a:r>
              <a:rPr lang="en-US" altLang="zh-CN" dirty="0"/>
              <a:t>7.</a:t>
            </a:r>
            <a:r>
              <a:rPr lang="zh-CN" altLang="en-US" dirty="0"/>
              <a:t>在</a:t>
            </a:r>
            <a:r>
              <a:rPr lang="en-US" altLang="zh-CN" dirty="0"/>
              <a:t>ER</a:t>
            </a:r>
            <a:r>
              <a:rPr lang="zh-CN" altLang="en-US" dirty="0"/>
              <a:t>图集成如何消除属性冲突、命名冲突、结构冲突？</a:t>
            </a:r>
            <a:endParaRPr lang="en-US" altLang="zh-CN" dirty="0"/>
          </a:p>
          <a:p>
            <a:pPr lvl="1"/>
            <a:r>
              <a:rPr lang="zh-CN" altLang="en-US" dirty="0"/>
              <a:t>命名冲突</a:t>
            </a:r>
          </a:p>
          <a:p>
            <a:pPr marL="900000" lvl="3">
              <a:buSzPct val="87000"/>
              <a:buNone/>
            </a:pPr>
            <a:r>
              <a:rPr lang="zh-CN" altLang="zh-CN" dirty="0"/>
              <a:t>①</a:t>
            </a:r>
            <a:r>
              <a:rPr lang="zh-CN" altLang="en-US" dirty="0"/>
              <a:t>同名异义</a:t>
            </a:r>
          </a:p>
          <a:p>
            <a:pPr marL="900000" lvl="3">
              <a:buSzPct val="87000"/>
              <a:buNone/>
            </a:pPr>
            <a:r>
              <a:rPr lang="zh-CN" altLang="zh-CN" dirty="0"/>
              <a:t>②</a:t>
            </a:r>
            <a:r>
              <a:rPr lang="zh-CN" altLang="en-US" dirty="0"/>
              <a:t>异名同义</a:t>
            </a:r>
            <a:endParaRPr lang="en-US" altLang="zh-CN" dirty="0"/>
          </a:p>
          <a:p>
            <a:pPr marL="900000" lvl="3">
              <a:buSzPct val="87000"/>
              <a:buNone/>
            </a:pPr>
            <a:r>
              <a:rPr lang="zh-CN" altLang="en-US" dirty="0"/>
              <a:t>③命名冲突</a:t>
            </a:r>
            <a:endParaRPr lang="en-US" altLang="zh-CN" dirty="0"/>
          </a:p>
          <a:p>
            <a:pPr marL="1080000" lvl="3">
              <a:buFont typeface="Arial" pitchFamily="34" charset="0"/>
              <a:buNone/>
            </a:pPr>
            <a:endParaRPr lang="zh-CN" altLang="en-US" dirty="0"/>
          </a:p>
          <a:p>
            <a:endParaRPr lang="zh-CN" altLang="en-US" dirty="0"/>
          </a:p>
        </p:txBody>
      </p:sp>
      <p:sp>
        <p:nvSpPr>
          <p:cNvPr id="5" name="卷形: 水平 4">
            <a:extLst>
              <a:ext uri="{FF2B5EF4-FFF2-40B4-BE49-F238E27FC236}">
                <a16:creationId xmlns:a16="http://schemas.microsoft.com/office/drawing/2014/main" id="{AF7B305B-D5B9-4F92-AA49-1C01100A4296}"/>
              </a:ext>
            </a:extLst>
          </p:cNvPr>
          <p:cNvSpPr/>
          <p:nvPr/>
        </p:nvSpPr>
        <p:spPr bwMode="auto">
          <a:xfrm>
            <a:off x="611560" y="3147814"/>
            <a:ext cx="7776864" cy="1080120"/>
          </a:xfrm>
          <a:prstGeom prst="horizontalScroll">
            <a:avLst/>
          </a:prstGeom>
          <a:ln w="28575">
            <a:solidFill>
              <a:srgbClr val="0066FF"/>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2800" dirty="0">
                <a:latin typeface="Microsoft YaHei Light" panose="020B0502040204020203" pitchFamily="34" charset="-122"/>
                <a:ea typeface="Microsoft YaHei Light" panose="020B0502040204020203" pitchFamily="34" charset="-122"/>
              </a:rPr>
              <a:t>解决方案：讨论、协商用行政手段解决</a:t>
            </a:r>
            <a:endParaRPr lang="en-US" altLang="zh-CN" sz="2800" dirty="0">
              <a:latin typeface="Microsoft YaHei Light" panose="020B0502040204020203" pitchFamily="34" charset="-122"/>
              <a:ea typeface="Microsoft YaHei Light" panose="020B0502040204020203" pitchFamily="34" charset="-122"/>
            </a:endParaRPr>
          </a:p>
        </p:txBody>
      </p:sp>
    </p:spTree>
    <p:extLst>
      <p:ext uri="{BB962C8B-B14F-4D97-AF65-F5344CB8AC3E}">
        <p14:creationId xmlns:p14="http://schemas.microsoft.com/office/powerpoint/2010/main" val="117040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7.3.5  </a:t>
            </a:r>
            <a:r>
              <a:rPr lang="zh-CN" altLang="en-US" dirty="0"/>
              <a:t>概念结构设计</a:t>
            </a:r>
          </a:p>
        </p:txBody>
      </p:sp>
      <p:sp>
        <p:nvSpPr>
          <p:cNvPr id="87043" name="内容占位符 2"/>
          <p:cNvSpPr>
            <a:spLocks noGrp="1"/>
          </p:cNvSpPr>
          <p:nvPr>
            <p:ph idx="1"/>
          </p:nvPr>
        </p:nvSpPr>
        <p:spPr/>
        <p:txBody>
          <a:bodyPr/>
          <a:lstStyle/>
          <a:p>
            <a:pPr>
              <a:buNone/>
            </a:pPr>
            <a:r>
              <a:rPr lang="en-US" altLang="zh-CN" dirty="0"/>
              <a:t>7.</a:t>
            </a:r>
            <a:r>
              <a:rPr lang="zh-CN" altLang="en-US" dirty="0"/>
              <a:t>在</a:t>
            </a:r>
            <a:r>
              <a:rPr lang="en-US" altLang="zh-CN" dirty="0"/>
              <a:t>ER</a:t>
            </a:r>
            <a:r>
              <a:rPr lang="zh-CN" altLang="en-US" dirty="0"/>
              <a:t>图集成如何消除属性冲突、命名冲突、结构冲突？</a:t>
            </a:r>
            <a:endParaRPr lang="en-US" altLang="zh-CN" dirty="0"/>
          </a:p>
          <a:p>
            <a:pPr lvl="1"/>
            <a:r>
              <a:rPr lang="zh-CN" altLang="en-US" dirty="0"/>
              <a:t>结构冲突</a:t>
            </a:r>
          </a:p>
          <a:p>
            <a:pPr marL="900000" lvl="3">
              <a:buSzPct val="87000"/>
              <a:buNone/>
            </a:pPr>
            <a:r>
              <a:rPr lang="zh-CN" altLang="en-US" dirty="0"/>
              <a:t>①同一对象在不同应用中具有不同的抽象</a:t>
            </a:r>
            <a:endParaRPr lang="en-US" dirty="0"/>
          </a:p>
          <a:p>
            <a:pPr marL="900000" lvl="3">
              <a:buSzPct val="87000"/>
              <a:buNone/>
            </a:pPr>
            <a:r>
              <a:rPr lang="zh-CN" altLang="en-US" dirty="0"/>
              <a:t>②同一实体在不同</a:t>
            </a:r>
            <a:r>
              <a:rPr lang="en-US" altLang="zh-CN" dirty="0"/>
              <a:t>E-R</a:t>
            </a:r>
            <a:r>
              <a:rPr lang="zh-CN" altLang="en-US" dirty="0"/>
              <a:t>图中所包含的属性个数和属性排列次序不完全相同</a:t>
            </a:r>
            <a:endParaRPr lang="en-US" altLang="zh-CN" dirty="0"/>
          </a:p>
          <a:p>
            <a:pPr marL="900000" lvl="3">
              <a:buSzPct val="87000"/>
              <a:buNone/>
            </a:pPr>
            <a:r>
              <a:rPr lang="zh-CN" altLang="zh-CN" dirty="0"/>
              <a:t>③</a:t>
            </a:r>
            <a:r>
              <a:rPr lang="zh-CN" altLang="en-US" dirty="0"/>
              <a:t>实体间的联系在不同的</a:t>
            </a:r>
            <a:r>
              <a:rPr lang="en-US" altLang="zh-CN" dirty="0"/>
              <a:t>E-R</a:t>
            </a:r>
            <a:r>
              <a:rPr lang="zh-CN" altLang="en-US" dirty="0"/>
              <a:t>图中为不同的类型。</a:t>
            </a:r>
            <a:endParaRPr lang="en-US" altLang="zh-CN" dirty="0"/>
          </a:p>
          <a:p>
            <a:pPr lvl="1">
              <a:buSzPct val="87000"/>
              <a:buNone/>
            </a:pPr>
            <a:endParaRPr lang="zh-CN" altLang="en-US" dirty="0"/>
          </a:p>
        </p:txBody>
      </p:sp>
      <p:sp>
        <p:nvSpPr>
          <p:cNvPr id="4" name="卷形: 水平 3">
            <a:extLst>
              <a:ext uri="{FF2B5EF4-FFF2-40B4-BE49-F238E27FC236}">
                <a16:creationId xmlns:a16="http://schemas.microsoft.com/office/drawing/2014/main" id="{C3C4C22E-83D2-4D4F-A87F-86AA8A10D402}"/>
              </a:ext>
            </a:extLst>
          </p:cNvPr>
          <p:cNvSpPr/>
          <p:nvPr/>
        </p:nvSpPr>
        <p:spPr bwMode="auto">
          <a:xfrm>
            <a:off x="663402" y="2885052"/>
            <a:ext cx="7480448" cy="1774930"/>
          </a:xfrm>
          <a:prstGeom prst="horizontalScroll">
            <a:avLst/>
          </a:prstGeom>
          <a:ln w="28575">
            <a:solidFill>
              <a:srgbClr val="0066FF"/>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2000" b="1" dirty="0">
                <a:latin typeface="Microsoft YaHei Light" panose="020B0502040204020203" pitchFamily="34" charset="-122"/>
                <a:ea typeface="Microsoft YaHei Light" panose="020B0502040204020203" pitchFamily="34" charset="-122"/>
              </a:rPr>
              <a:t>情况</a:t>
            </a:r>
            <a:r>
              <a:rPr lang="en-US" altLang="zh-CN" sz="2000" b="1" dirty="0">
                <a:latin typeface="Microsoft YaHei Light" panose="020B0502040204020203" pitchFamily="34" charset="-122"/>
                <a:ea typeface="Microsoft YaHei Light" panose="020B0502040204020203" pitchFamily="34" charset="-122"/>
              </a:rPr>
              <a:t>1</a:t>
            </a:r>
            <a:r>
              <a:rPr lang="zh-CN" altLang="en-US" sz="2000" b="1" dirty="0">
                <a:latin typeface="Microsoft YaHei Light" panose="020B0502040204020203" pitchFamily="34" charset="-122"/>
                <a:ea typeface="Microsoft YaHei Light" panose="020B0502040204020203" pitchFamily="34" charset="-122"/>
              </a:rPr>
              <a:t>：用实体与属性两个准则解决</a:t>
            </a:r>
            <a:endParaRPr lang="en-US" altLang="zh-CN" sz="2000" b="1" dirty="0">
              <a:latin typeface="Microsoft YaHei Light" panose="020B0502040204020203" pitchFamily="34" charset="-122"/>
              <a:ea typeface="Microsoft YaHei Light" panose="020B0502040204020203" pitchFamily="34" charset="-122"/>
            </a:endParaRPr>
          </a:p>
          <a:p>
            <a:pPr algn="ctr"/>
            <a:r>
              <a:rPr lang="zh-CN" altLang="en-US" sz="2000" b="1" dirty="0">
                <a:latin typeface="Microsoft YaHei Light" panose="020B0502040204020203" pitchFamily="34" charset="-122"/>
                <a:ea typeface="Microsoft YaHei Light" panose="020B0502040204020203" pitchFamily="34" charset="-122"/>
              </a:rPr>
              <a:t>情况</a:t>
            </a:r>
            <a:r>
              <a:rPr lang="en-US" altLang="zh-CN" sz="2000" b="1" dirty="0">
                <a:latin typeface="Microsoft YaHei Light" panose="020B0502040204020203" pitchFamily="34" charset="-122"/>
                <a:ea typeface="Microsoft YaHei Light" panose="020B0502040204020203" pitchFamily="34" charset="-122"/>
              </a:rPr>
              <a:t>2</a:t>
            </a:r>
            <a:r>
              <a:rPr lang="zh-CN" altLang="en-US" sz="2000" b="1" dirty="0">
                <a:latin typeface="Microsoft YaHei Light" panose="020B0502040204020203" pitchFamily="34" charset="-122"/>
                <a:ea typeface="Microsoft YaHei Light" panose="020B0502040204020203" pitchFamily="34" charset="-122"/>
              </a:rPr>
              <a:t>：实体的属性作并并集</a:t>
            </a:r>
            <a:endParaRPr lang="en-US" altLang="zh-CN" sz="2000" b="1" dirty="0">
              <a:latin typeface="Microsoft YaHei Light" panose="020B0502040204020203" pitchFamily="34" charset="-122"/>
              <a:ea typeface="Microsoft YaHei Light" panose="020B0502040204020203" pitchFamily="34" charset="-122"/>
            </a:endParaRPr>
          </a:p>
          <a:p>
            <a:pPr algn="ctr"/>
            <a:r>
              <a:rPr lang="zh-CN" altLang="en-US" sz="2000" b="1" dirty="0">
                <a:latin typeface="Microsoft YaHei Light" panose="020B0502040204020203" pitchFamily="34" charset="-122"/>
                <a:ea typeface="Microsoft YaHei Light" panose="020B0502040204020203" pitchFamily="34" charset="-122"/>
              </a:rPr>
              <a:t>情况</a:t>
            </a:r>
            <a:r>
              <a:rPr lang="en-US" altLang="zh-CN" sz="2000" b="1" dirty="0">
                <a:latin typeface="Microsoft YaHei Light" panose="020B0502040204020203" pitchFamily="34" charset="-122"/>
                <a:ea typeface="Microsoft YaHei Light" panose="020B0502040204020203" pitchFamily="34" charset="-122"/>
              </a:rPr>
              <a:t>3</a:t>
            </a:r>
            <a:r>
              <a:rPr lang="zh-CN" altLang="en-US" sz="2000" b="1" dirty="0">
                <a:latin typeface="Microsoft YaHei Light" panose="020B0502040204020203" pitchFamily="34" charset="-122"/>
                <a:ea typeface="Microsoft YaHei Light" panose="020B0502040204020203" pitchFamily="34" charset="-122"/>
              </a:rPr>
              <a:t>：保留联系，确保联系的属性名不相同</a:t>
            </a:r>
            <a:endParaRPr lang="en-US" altLang="zh-CN" sz="2000" b="1" dirty="0">
              <a:latin typeface="Microsoft YaHei Light" panose="020B0502040204020203" pitchFamily="34" charset="-122"/>
              <a:ea typeface="Microsoft YaHei Light" panose="020B0502040204020203" pitchFamily="34" charset="-122"/>
            </a:endParaRPr>
          </a:p>
          <a:p>
            <a:pPr algn="ctr"/>
            <a:endParaRPr lang="en-US" altLang="zh-CN" sz="2000" b="1"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p:txBody>
          <a:bodyPr/>
          <a:lstStyle/>
          <a:p>
            <a:r>
              <a:rPr lang="zh-CN" altLang="en-US" dirty="0">
                <a:solidFill>
                  <a:srgbClr val="000000"/>
                </a:solidFill>
              </a:rPr>
              <a:t>结构冲突情况</a:t>
            </a:r>
            <a:r>
              <a:rPr lang="en-US" altLang="zh-CN" dirty="0">
                <a:solidFill>
                  <a:srgbClr val="000000"/>
                </a:solidFill>
              </a:rPr>
              <a:t>3</a:t>
            </a:r>
            <a:r>
              <a:rPr lang="zh-CN" altLang="en-US" dirty="0">
                <a:solidFill>
                  <a:srgbClr val="000000"/>
                </a:solidFill>
              </a:rPr>
              <a:t>说明示例：</a:t>
            </a:r>
            <a:endParaRPr lang="zh-CN" altLang="en-US" dirty="0"/>
          </a:p>
        </p:txBody>
      </p:sp>
      <p:pic>
        <p:nvPicPr>
          <p:cNvPr id="90123" name="Picture 1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55576" y="1270433"/>
            <a:ext cx="1400175" cy="1528763"/>
          </a:xfrm>
          <a:prstGeom prst="rect">
            <a:avLst/>
          </a:prstGeom>
          <a:noFill/>
          <a:ln w="9525">
            <a:noFill/>
            <a:miter lim="800000"/>
            <a:headEnd/>
            <a:tailEnd/>
          </a:ln>
        </p:spPr>
      </p:pic>
      <p:pic>
        <p:nvPicPr>
          <p:cNvPr id="90124" name="Picture 1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55576" y="3094150"/>
            <a:ext cx="2233613" cy="1504950"/>
          </a:xfrm>
          <a:prstGeom prst="rect">
            <a:avLst/>
          </a:prstGeom>
          <a:noFill/>
          <a:ln w="9525">
            <a:noFill/>
            <a:miter lim="800000"/>
            <a:headEnd/>
            <a:tailEnd/>
          </a:ln>
        </p:spPr>
      </p:pic>
      <p:pic>
        <p:nvPicPr>
          <p:cNvPr id="90125" name="Picture 1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275856" y="1995686"/>
            <a:ext cx="4406900" cy="142279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dirty="0"/>
              <a:t>参与式学习：基础知识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0123"/>
                                        </p:tgtEl>
                                        <p:attrNameLst>
                                          <p:attrName>style.visibility</p:attrName>
                                        </p:attrNameLst>
                                      </p:cBhvr>
                                      <p:to>
                                        <p:strVal val="visible"/>
                                      </p:to>
                                    </p:set>
                                    <p:anim calcmode="lin" valueType="num">
                                      <p:cBhvr additive="base">
                                        <p:cTn id="7" dur="500" fill="hold"/>
                                        <p:tgtEl>
                                          <p:spTgt spid="90123"/>
                                        </p:tgtEl>
                                        <p:attrNameLst>
                                          <p:attrName>ppt_x</p:attrName>
                                        </p:attrNameLst>
                                      </p:cBhvr>
                                      <p:tavLst>
                                        <p:tav tm="0">
                                          <p:val>
                                            <p:strVal val="0-#ppt_w/2"/>
                                          </p:val>
                                        </p:tav>
                                        <p:tav tm="100000">
                                          <p:val>
                                            <p:strVal val="#ppt_x"/>
                                          </p:val>
                                        </p:tav>
                                      </p:tavLst>
                                    </p:anim>
                                    <p:anim calcmode="lin" valueType="num">
                                      <p:cBhvr additive="base">
                                        <p:cTn id="8" dur="500" fill="hold"/>
                                        <p:tgtEl>
                                          <p:spTgt spid="90123"/>
                                        </p:tgtEl>
                                        <p:attrNameLst>
                                          <p:attrName>ppt_y</p:attrName>
                                        </p:attrNameLst>
                                      </p:cBhvr>
                                      <p:tavLst>
                                        <p:tav tm="0">
                                          <p:val>
                                            <p:strVal val="#ppt_y"/>
                                          </p:val>
                                        </p:tav>
                                        <p:tav tm="100000">
                                          <p:val>
                                            <p:strVal val="#ppt_y"/>
                                          </p:val>
                                        </p:tav>
                                      </p:tavLst>
                                    </p:anim>
                                  </p:childTnLst>
                                </p:cTn>
                              </p:par>
                              <p:par>
                                <p:cTn id="9" presetID="4" presetClass="entr" presetSubtype="16" fill="hold" nodeType="withEffect">
                                  <p:stCondLst>
                                    <p:cond delay="0"/>
                                  </p:stCondLst>
                                  <p:childTnLst>
                                    <p:set>
                                      <p:cBhvr>
                                        <p:cTn id="10" dur="1" fill="hold">
                                          <p:stCondLst>
                                            <p:cond delay="0"/>
                                          </p:stCondLst>
                                        </p:cTn>
                                        <p:tgtEl>
                                          <p:spTgt spid="90124"/>
                                        </p:tgtEl>
                                        <p:attrNameLst>
                                          <p:attrName>style.visibility</p:attrName>
                                        </p:attrNameLst>
                                      </p:cBhvr>
                                      <p:to>
                                        <p:strVal val="visible"/>
                                      </p:to>
                                    </p:set>
                                    <p:animEffect transition="in" filter="box(in)">
                                      <p:cBhvr>
                                        <p:cTn id="11" dur="500"/>
                                        <p:tgtEl>
                                          <p:spTgt spid="90124"/>
                                        </p:tgtEl>
                                      </p:cBhvr>
                                    </p:animEffect>
                                  </p:childTnLst>
                                </p:cTn>
                              </p:par>
                              <p:par>
                                <p:cTn id="12" presetID="21" presetClass="entr" presetSubtype="4" fill="hold" nodeType="withEffect">
                                  <p:stCondLst>
                                    <p:cond delay="0"/>
                                  </p:stCondLst>
                                  <p:childTnLst>
                                    <p:set>
                                      <p:cBhvr>
                                        <p:cTn id="13" dur="1" fill="hold">
                                          <p:stCondLst>
                                            <p:cond delay="0"/>
                                          </p:stCondLst>
                                        </p:cTn>
                                        <p:tgtEl>
                                          <p:spTgt spid="90125"/>
                                        </p:tgtEl>
                                        <p:attrNameLst>
                                          <p:attrName>style.visibility</p:attrName>
                                        </p:attrNameLst>
                                      </p:cBhvr>
                                      <p:to>
                                        <p:strVal val="visible"/>
                                      </p:to>
                                    </p:set>
                                    <p:animEffect transition="in" filter="wheel(4)">
                                      <p:cBhvr>
                                        <p:cTn id="14" dur="500"/>
                                        <p:tgtEl>
                                          <p:spTgt spid="90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90115" name="内容占位符 2"/>
          <p:cNvSpPr>
            <a:spLocks noGrp="1"/>
          </p:cNvSpPr>
          <p:nvPr>
            <p:ph idx="1"/>
          </p:nvPr>
        </p:nvSpPr>
        <p:spPr>
          <a:xfrm>
            <a:off x="-32" y="642924"/>
            <a:ext cx="9144032" cy="4206583"/>
          </a:xfrm>
        </p:spPr>
        <p:txBody>
          <a:bodyPr/>
          <a:lstStyle/>
          <a:p>
            <a:pPr>
              <a:lnSpc>
                <a:spcPct val="120000"/>
              </a:lnSpc>
              <a:buNone/>
            </a:pPr>
            <a:r>
              <a:rPr lang="en-US" altLang="zh-CN" dirty="0"/>
              <a:t>8. </a:t>
            </a:r>
            <a:r>
              <a:rPr lang="zh-CN" altLang="en-US" dirty="0"/>
              <a:t>分组讨论：</a:t>
            </a:r>
            <a:r>
              <a:rPr lang="en-US" altLang="zh-CN" dirty="0"/>
              <a:t>ER</a:t>
            </a:r>
            <a:r>
              <a:rPr lang="zh-CN" altLang="en-US" dirty="0"/>
              <a:t>图如何优化？提示：优化就是消除冗余，即消除冗余数据和冗余联系</a:t>
            </a:r>
            <a:endParaRPr lang="en-US" altLang="zh-CN" dirty="0"/>
          </a:p>
          <a:p>
            <a:pPr>
              <a:lnSpc>
                <a:spcPct val="120000"/>
              </a:lnSpc>
              <a:buFont typeface="Wingdings" pitchFamily="2" charset="2"/>
              <a:buNone/>
            </a:pPr>
            <a:endParaRPr lang="en-US" dirty="0"/>
          </a:p>
          <a:p>
            <a:pPr lvl="2"/>
            <a:endParaRPr lang="zh-CN" altLang="en-US" dirty="0"/>
          </a:p>
        </p:txBody>
      </p:sp>
      <p:sp>
        <p:nvSpPr>
          <p:cNvPr id="4" name="卷形: 水平 3">
            <a:extLst>
              <a:ext uri="{FF2B5EF4-FFF2-40B4-BE49-F238E27FC236}">
                <a16:creationId xmlns:a16="http://schemas.microsoft.com/office/drawing/2014/main" id="{BF519941-5141-4AED-9332-92C2889F6000}"/>
              </a:ext>
            </a:extLst>
          </p:cNvPr>
          <p:cNvSpPr/>
          <p:nvPr/>
        </p:nvSpPr>
        <p:spPr bwMode="auto">
          <a:xfrm>
            <a:off x="467544" y="1588908"/>
            <a:ext cx="7480448" cy="2278986"/>
          </a:xfrm>
          <a:prstGeom prst="horizontalScroll">
            <a:avLst/>
          </a:prstGeom>
          <a:ln w="28575">
            <a:solidFill>
              <a:srgbClr val="0066FF"/>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algn="ctr">
              <a:lnSpc>
                <a:spcPct val="150000"/>
              </a:lnSpc>
            </a:pPr>
            <a:r>
              <a:rPr lang="zh-CN" altLang="en-US" sz="2000" b="1" dirty="0">
                <a:solidFill>
                  <a:srgbClr val="FF0000"/>
                </a:solidFill>
                <a:latin typeface="Microsoft YaHei Light" panose="020B0502040204020203" pitchFamily="34" charset="-122"/>
                <a:ea typeface="Microsoft YaHei Light" panose="020B0502040204020203" pitchFamily="34" charset="-122"/>
              </a:rPr>
              <a:t>优化方案：</a:t>
            </a:r>
            <a:endParaRPr lang="en-US" altLang="zh-CN" sz="2000" b="1" dirty="0">
              <a:solidFill>
                <a:srgbClr val="FF0000"/>
              </a:solidFill>
              <a:latin typeface="Microsoft YaHei Light" panose="020B0502040204020203" pitchFamily="34" charset="-122"/>
              <a:ea typeface="Microsoft YaHei Light" panose="020B0502040204020203" pitchFamily="34" charset="-122"/>
            </a:endParaRPr>
          </a:p>
          <a:p>
            <a:pPr algn="ctr">
              <a:lnSpc>
                <a:spcPct val="150000"/>
              </a:lnSpc>
            </a:pPr>
            <a:r>
              <a:rPr lang="zh-CN" altLang="en-US" sz="2000" b="1" dirty="0">
                <a:latin typeface="Microsoft YaHei Light" panose="020B0502040204020203" pitchFamily="34" charset="-122"/>
                <a:ea typeface="Microsoft YaHei Light" panose="020B0502040204020203" pitchFamily="34" charset="-122"/>
              </a:rPr>
              <a:t>消除冗余数据：实体的属性是不可拆分项且不能通过计算得到</a:t>
            </a:r>
            <a:endParaRPr lang="en-US" altLang="zh-CN" sz="2000" b="1" dirty="0">
              <a:latin typeface="Microsoft YaHei Light" panose="020B0502040204020203" pitchFamily="34" charset="-122"/>
              <a:ea typeface="Microsoft YaHei Light" panose="020B0502040204020203" pitchFamily="34" charset="-122"/>
            </a:endParaRPr>
          </a:p>
          <a:p>
            <a:pPr algn="ctr">
              <a:lnSpc>
                <a:spcPct val="150000"/>
              </a:lnSpc>
            </a:pPr>
            <a:r>
              <a:rPr lang="zh-CN" altLang="en-US" sz="2000" b="1" dirty="0">
                <a:latin typeface="Microsoft YaHei Light" panose="020B0502040204020203" pitchFamily="34" charset="-122"/>
                <a:ea typeface="Microsoft YaHei Light" panose="020B0502040204020203" pitchFamily="34" charset="-122"/>
              </a:rPr>
              <a:t>消除冗余联系 </a:t>
            </a:r>
            <a:r>
              <a:rPr lang="en-US" altLang="zh-CN" sz="2000" b="1" dirty="0">
                <a:latin typeface="Microsoft YaHei Light" panose="020B0502040204020203" pitchFamily="34" charset="-122"/>
                <a:ea typeface="Microsoft YaHei Light" panose="020B0502040204020203" pitchFamily="34" charset="-122"/>
              </a:rPr>
              <a:t>: </a:t>
            </a:r>
            <a:r>
              <a:rPr lang="zh-CN" altLang="en-US" sz="2000" b="1" dirty="0">
                <a:latin typeface="Microsoft YaHei Light" panose="020B0502040204020203" pitchFamily="34" charset="-122"/>
                <a:ea typeface="Microsoft YaHei Light" panose="020B0502040204020203" pitchFamily="34" charset="-122"/>
              </a:rPr>
              <a:t>基本思路是消除实体之间形成闭环的联系。</a:t>
            </a:r>
          </a:p>
          <a:p>
            <a:pPr algn="ctr"/>
            <a:endParaRPr lang="en-US" altLang="zh-CN" sz="2000" b="1"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内容占位符 2"/>
          <p:cNvSpPr>
            <a:spLocks noGrp="1"/>
          </p:cNvSpPr>
          <p:nvPr>
            <p:ph idx="1"/>
          </p:nvPr>
        </p:nvSpPr>
        <p:spPr/>
        <p:txBody>
          <a:bodyPr/>
          <a:lstStyle/>
          <a:p>
            <a:pPr>
              <a:lnSpc>
                <a:spcPct val="120000"/>
              </a:lnSpc>
              <a:buFont typeface="Wingdings" pitchFamily="2" charset="2"/>
              <a:buNone/>
            </a:pPr>
            <a:r>
              <a:rPr lang="zh-CN" altLang="en-US" dirty="0"/>
              <a:t>消除冗余联系说明 </a:t>
            </a:r>
            <a:r>
              <a:rPr lang="en-US" altLang="zh-CN" dirty="0"/>
              <a:t>: </a:t>
            </a:r>
            <a:r>
              <a:rPr lang="zh-CN" altLang="en-US" dirty="0"/>
              <a:t>基本思路是消除实体之间形成闭环的联系。</a:t>
            </a:r>
            <a:endParaRPr lang="en-US" altLang="zh-CN" dirty="0"/>
          </a:p>
          <a:p>
            <a:pPr lvl="2">
              <a:lnSpc>
                <a:spcPct val="120000"/>
              </a:lnSpc>
              <a:buSzPct val="87000"/>
              <a:buFont typeface="Wingdings" pitchFamily="2" charset="2"/>
              <a:buChar char="l"/>
            </a:pPr>
            <a:endParaRPr lang="en-US" altLang="zh-CN" dirty="0"/>
          </a:p>
          <a:p>
            <a:pPr lvl="2">
              <a:lnSpc>
                <a:spcPct val="120000"/>
              </a:lnSpc>
              <a:buSzPct val="87000"/>
              <a:buFont typeface="Wingdings" pitchFamily="2" charset="2"/>
              <a:buChar char="l"/>
            </a:pPr>
            <a:endParaRPr lang="en-US" altLang="zh-CN" dirty="0"/>
          </a:p>
          <a:p>
            <a:pPr lvl="2">
              <a:lnSpc>
                <a:spcPct val="120000"/>
              </a:lnSpc>
              <a:buSzPct val="87000"/>
              <a:buFont typeface="Wingdings" pitchFamily="2" charset="2"/>
              <a:buChar char="l"/>
            </a:pPr>
            <a:endParaRPr lang="en-US" altLang="zh-CN" dirty="0"/>
          </a:p>
          <a:p>
            <a:pPr lvl="2">
              <a:lnSpc>
                <a:spcPct val="120000"/>
              </a:lnSpc>
              <a:buSzPct val="87000"/>
              <a:buFont typeface="Wingdings" pitchFamily="2" charset="2"/>
              <a:buChar char="l"/>
            </a:pPr>
            <a:endParaRPr lang="en-US" altLang="zh-CN" dirty="0"/>
          </a:p>
          <a:p>
            <a:pPr lvl="2">
              <a:lnSpc>
                <a:spcPct val="120000"/>
              </a:lnSpc>
              <a:buSzPct val="87000"/>
              <a:buFont typeface="Wingdings" pitchFamily="2" charset="2"/>
              <a:buChar char="l"/>
            </a:pPr>
            <a:endParaRPr lang="en-US" altLang="zh-CN" dirty="0"/>
          </a:p>
          <a:p>
            <a:pPr lvl="2">
              <a:lnSpc>
                <a:spcPct val="120000"/>
              </a:lnSpc>
              <a:buSzPct val="87000"/>
              <a:buFont typeface="Wingdings" pitchFamily="2" charset="2"/>
              <a:buChar char="l"/>
            </a:pPr>
            <a:endParaRPr lang="en-US" altLang="zh-CN" dirty="0"/>
          </a:p>
          <a:p>
            <a:pPr marL="914400" lvl="2" indent="0">
              <a:lnSpc>
                <a:spcPct val="120000"/>
              </a:lnSpc>
              <a:buSzPct val="87000"/>
              <a:buNone/>
            </a:pPr>
            <a:endParaRPr lang="zh-CN" altLang="en-US" dirty="0"/>
          </a:p>
        </p:txBody>
      </p:sp>
      <p:sp>
        <p:nvSpPr>
          <p:cNvPr id="2" name="标题 1"/>
          <p:cNvSpPr>
            <a:spLocks noGrp="1"/>
          </p:cNvSpPr>
          <p:nvPr>
            <p:ph type="title"/>
          </p:nvPr>
        </p:nvSpPr>
        <p:spPr/>
        <p:txBody>
          <a:bodyPr/>
          <a:lstStyle/>
          <a:p>
            <a:r>
              <a:rPr lang="zh-CN" altLang="en-US" dirty="0"/>
              <a:t>参与式学习：基础知识</a:t>
            </a:r>
          </a:p>
        </p:txBody>
      </p:sp>
      <p:sp>
        <p:nvSpPr>
          <p:cNvPr id="7" name="矩形 6">
            <a:extLst>
              <a:ext uri="{FF2B5EF4-FFF2-40B4-BE49-F238E27FC236}">
                <a16:creationId xmlns:a16="http://schemas.microsoft.com/office/drawing/2014/main" id="{61010BF5-41EC-45D8-8D7B-4B5E7F2638E0}"/>
              </a:ext>
            </a:extLst>
          </p:cNvPr>
          <p:cNvSpPr/>
          <p:nvPr/>
        </p:nvSpPr>
        <p:spPr bwMode="auto">
          <a:xfrm>
            <a:off x="2492127" y="1558496"/>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en-US" altLang="zh-CN" sz="1600" b="1" dirty="0">
                <a:solidFill>
                  <a:schemeClr val="tx1"/>
                </a:solidFill>
                <a:latin typeface="Microsoft YaHei Light" panose="020B0502040204020203" pitchFamily="34" charset="-122"/>
                <a:ea typeface="Microsoft YaHei Light" panose="020B0502040204020203" pitchFamily="34" charset="-122"/>
              </a:rPr>
              <a:t>A</a:t>
            </a:r>
            <a:endParaRPr kumimoji="0" lang="zh-CN" altLang="en-US" sz="16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sp>
        <p:nvSpPr>
          <p:cNvPr id="8" name="矩形 7">
            <a:extLst>
              <a:ext uri="{FF2B5EF4-FFF2-40B4-BE49-F238E27FC236}">
                <a16:creationId xmlns:a16="http://schemas.microsoft.com/office/drawing/2014/main" id="{7D77ED08-CE05-47EF-A3FD-8F323072619A}"/>
              </a:ext>
            </a:extLst>
          </p:cNvPr>
          <p:cNvSpPr/>
          <p:nvPr/>
        </p:nvSpPr>
        <p:spPr bwMode="auto">
          <a:xfrm>
            <a:off x="5760251" y="3142672"/>
            <a:ext cx="720080"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6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rPr>
              <a:t>C</a:t>
            </a:r>
            <a:endParaRPr kumimoji="0" lang="zh-CN" altLang="en-US" sz="16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sp>
        <p:nvSpPr>
          <p:cNvPr id="15" name="流程图: 决策 14">
            <a:extLst>
              <a:ext uri="{FF2B5EF4-FFF2-40B4-BE49-F238E27FC236}">
                <a16:creationId xmlns:a16="http://schemas.microsoft.com/office/drawing/2014/main" id="{C627ABCF-29C7-45E8-9A17-5AE77F52E8EB}"/>
              </a:ext>
            </a:extLst>
          </p:cNvPr>
          <p:cNvSpPr/>
          <p:nvPr/>
        </p:nvSpPr>
        <p:spPr bwMode="auto">
          <a:xfrm>
            <a:off x="5516463" y="2350584"/>
            <a:ext cx="1215777" cy="465140"/>
          </a:xfrm>
          <a:prstGeom prst="flowChartDecision">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0" compatLnSpc="1">
            <a:prstTxWarp prst="textNoShape">
              <a:avLst/>
            </a:prstTxWarp>
          </a:bodyPr>
          <a:lstStyle/>
          <a:p>
            <a:pPr algn="ctr"/>
            <a:endParaRPr lang="zh-CN" altLang="en-US" sz="1600" dirty="0">
              <a:solidFill>
                <a:schemeClr val="tx1"/>
              </a:solidFill>
              <a:latin typeface="Microsoft YaHei Light" panose="020B0502040204020203" pitchFamily="34" charset="-122"/>
              <a:ea typeface="Microsoft YaHei Light" panose="020B0502040204020203" pitchFamily="34" charset="-122"/>
            </a:endParaRPr>
          </a:p>
        </p:txBody>
      </p:sp>
      <p:cxnSp>
        <p:nvCxnSpPr>
          <p:cNvPr id="16" name="直接连接符 15">
            <a:extLst>
              <a:ext uri="{FF2B5EF4-FFF2-40B4-BE49-F238E27FC236}">
                <a16:creationId xmlns:a16="http://schemas.microsoft.com/office/drawing/2014/main" id="{18E60CE3-7278-4DFE-BA91-083B8F35993B}"/>
              </a:ext>
            </a:extLst>
          </p:cNvPr>
          <p:cNvCxnSpPr>
            <a:cxnSpLocks/>
            <a:stCxn id="19" idx="2"/>
            <a:endCxn id="15" idx="0"/>
          </p:cNvCxnSpPr>
          <p:nvPr/>
        </p:nvCxnSpPr>
        <p:spPr bwMode="auto">
          <a:xfrm>
            <a:off x="6119901" y="1960095"/>
            <a:ext cx="4451" cy="390489"/>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17" name="直接连接符 16">
            <a:extLst>
              <a:ext uri="{FF2B5EF4-FFF2-40B4-BE49-F238E27FC236}">
                <a16:creationId xmlns:a16="http://schemas.microsoft.com/office/drawing/2014/main" id="{2DC640FD-9FB9-4893-8253-FCE6A874F182}"/>
              </a:ext>
            </a:extLst>
          </p:cNvPr>
          <p:cNvCxnSpPr>
            <a:cxnSpLocks/>
            <a:stCxn id="15" idx="2"/>
            <a:endCxn id="8" idx="0"/>
          </p:cNvCxnSpPr>
          <p:nvPr/>
        </p:nvCxnSpPr>
        <p:spPr bwMode="auto">
          <a:xfrm flipH="1">
            <a:off x="6120291" y="2815724"/>
            <a:ext cx="4061" cy="326948"/>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18" name="流程图: 决策 17">
            <a:extLst>
              <a:ext uri="{FF2B5EF4-FFF2-40B4-BE49-F238E27FC236}">
                <a16:creationId xmlns:a16="http://schemas.microsoft.com/office/drawing/2014/main" id="{2D7FCA1F-07CA-431F-BB92-968C1A853855}"/>
              </a:ext>
            </a:extLst>
          </p:cNvPr>
          <p:cNvSpPr/>
          <p:nvPr/>
        </p:nvSpPr>
        <p:spPr bwMode="auto">
          <a:xfrm>
            <a:off x="4027260" y="1524451"/>
            <a:ext cx="1215777" cy="465140"/>
          </a:xfrm>
          <a:prstGeom prst="flowChartDecision">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0" compatLnSpc="1">
            <a:prstTxWarp prst="textNoShape">
              <a:avLst/>
            </a:prstTxWarp>
          </a:bodyPr>
          <a:lstStyle/>
          <a:p>
            <a:pPr algn="ctr"/>
            <a:endParaRPr lang="zh-CN" altLang="en-US" sz="1600" dirty="0">
              <a:solidFill>
                <a:schemeClr val="tx1"/>
              </a:solidFill>
              <a:latin typeface="Microsoft YaHei Light" panose="020B0502040204020203" pitchFamily="34" charset="-122"/>
              <a:ea typeface="Microsoft YaHei Light" panose="020B0502040204020203" pitchFamily="34" charset="-122"/>
            </a:endParaRPr>
          </a:p>
        </p:txBody>
      </p:sp>
      <p:sp>
        <p:nvSpPr>
          <p:cNvPr id="19" name="矩形 18">
            <a:extLst>
              <a:ext uri="{FF2B5EF4-FFF2-40B4-BE49-F238E27FC236}">
                <a16:creationId xmlns:a16="http://schemas.microsoft.com/office/drawing/2014/main" id="{82200A4D-3E4A-4A3D-A3EE-8723F53C944C}"/>
              </a:ext>
            </a:extLst>
          </p:cNvPr>
          <p:cNvSpPr/>
          <p:nvPr/>
        </p:nvSpPr>
        <p:spPr bwMode="auto">
          <a:xfrm>
            <a:off x="5759470" y="1558496"/>
            <a:ext cx="720861" cy="401599"/>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en-US" altLang="zh-CN" sz="1600" b="1" dirty="0">
                <a:solidFill>
                  <a:schemeClr val="tx1"/>
                </a:solidFill>
                <a:latin typeface="Microsoft YaHei Light" panose="020B0502040204020203" pitchFamily="34" charset="-122"/>
                <a:ea typeface="Microsoft YaHei Light" panose="020B0502040204020203" pitchFamily="34" charset="-122"/>
              </a:rPr>
              <a:t>B</a:t>
            </a:r>
            <a:endParaRPr kumimoji="0" lang="zh-CN" altLang="en-US" sz="16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20" name="直接连接符 19">
            <a:extLst>
              <a:ext uri="{FF2B5EF4-FFF2-40B4-BE49-F238E27FC236}">
                <a16:creationId xmlns:a16="http://schemas.microsoft.com/office/drawing/2014/main" id="{420AD995-43FD-4D1D-B24F-45E87C9DC9A8}"/>
              </a:ext>
            </a:extLst>
          </p:cNvPr>
          <p:cNvCxnSpPr>
            <a:stCxn id="18" idx="1"/>
            <a:endCxn id="7" idx="3"/>
          </p:cNvCxnSpPr>
          <p:nvPr/>
        </p:nvCxnSpPr>
        <p:spPr bwMode="auto">
          <a:xfrm flipH="1">
            <a:off x="3212207" y="1757021"/>
            <a:ext cx="815053" cy="2275"/>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21" name="直接连接符 20">
            <a:extLst>
              <a:ext uri="{FF2B5EF4-FFF2-40B4-BE49-F238E27FC236}">
                <a16:creationId xmlns:a16="http://schemas.microsoft.com/office/drawing/2014/main" id="{0680D94B-4952-4AA4-A10E-DABE350496FC}"/>
              </a:ext>
            </a:extLst>
          </p:cNvPr>
          <p:cNvCxnSpPr>
            <a:cxnSpLocks/>
            <a:stCxn id="18" idx="3"/>
            <a:endCxn id="19" idx="1"/>
          </p:cNvCxnSpPr>
          <p:nvPr/>
        </p:nvCxnSpPr>
        <p:spPr bwMode="auto">
          <a:xfrm>
            <a:off x="5243037" y="1757021"/>
            <a:ext cx="516433" cy="2275"/>
          </a:xfrm>
          <a:prstGeom prst="line">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22" name="文本框 21">
            <a:extLst>
              <a:ext uri="{FF2B5EF4-FFF2-40B4-BE49-F238E27FC236}">
                <a16:creationId xmlns:a16="http://schemas.microsoft.com/office/drawing/2014/main" id="{018BB46C-94BB-4DCD-8159-CACBFB48C8A6}"/>
              </a:ext>
            </a:extLst>
          </p:cNvPr>
          <p:cNvSpPr txBox="1"/>
          <p:nvPr/>
        </p:nvSpPr>
        <p:spPr>
          <a:xfrm>
            <a:off x="6170282" y="2755357"/>
            <a:ext cx="193059" cy="369332"/>
          </a:xfrm>
          <a:prstGeom prst="rect">
            <a:avLst/>
          </a:prstGeom>
          <a:noFill/>
        </p:spPr>
        <p:txBody>
          <a:bodyPr wrap="square" rtlCol="0">
            <a:spAutoFit/>
          </a:bodyPr>
          <a:lstStyle/>
          <a:p>
            <a:r>
              <a:rPr lang="en-US" altLang="zh-CN" dirty="0"/>
              <a:t>1</a:t>
            </a:r>
            <a:endParaRPr lang="zh-CN" altLang="en-US" dirty="0"/>
          </a:p>
        </p:txBody>
      </p:sp>
      <p:sp>
        <p:nvSpPr>
          <p:cNvPr id="23" name="文本框 22">
            <a:extLst>
              <a:ext uri="{FF2B5EF4-FFF2-40B4-BE49-F238E27FC236}">
                <a16:creationId xmlns:a16="http://schemas.microsoft.com/office/drawing/2014/main" id="{DA85DF09-6FBA-4BC9-9D0A-3E539864FEB5}"/>
              </a:ext>
            </a:extLst>
          </p:cNvPr>
          <p:cNvSpPr txBox="1"/>
          <p:nvPr/>
        </p:nvSpPr>
        <p:spPr>
          <a:xfrm>
            <a:off x="6158006" y="1970673"/>
            <a:ext cx="193059" cy="369332"/>
          </a:xfrm>
          <a:prstGeom prst="rect">
            <a:avLst/>
          </a:prstGeom>
          <a:noFill/>
        </p:spPr>
        <p:txBody>
          <a:bodyPr wrap="square" rtlCol="0">
            <a:spAutoFit/>
          </a:bodyPr>
          <a:lstStyle/>
          <a:p>
            <a:r>
              <a:rPr lang="en-US" altLang="zh-CN" dirty="0"/>
              <a:t>N</a:t>
            </a:r>
            <a:endParaRPr lang="zh-CN" altLang="en-US" dirty="0"/>
          </a:p>
        </p:txBody>
      </p:sp>
      <p:sp>
        <p:nvSpPr>
          <p:cNvPr id="24" name="文本框 23">
            <a:extLst>
              <a:ext uri="{FF2B5EF4-FFF2-40B4-BE49-F238E27FC236}">
                <a16:creationId xmlns:a16="http://schemas.microsoft.com/office/drawing/2014/main" id="{EBF60DED-D5F9-46F0-A3D2-17636B2E7B9D}"/>
              </a:ext>
            </a:extLst>
          </p:cNvPr>
          <p:cNvSpPr txBox="1"/>
          <p:nvPr/>
        </p:nvSpPr>
        <p:spPr>
          <a:xfrm>
            <a:off x="3523203" y="1419622"/>
            <a:ext cx="193059" cy="369332"/>
          </a:xfrm>
          <a:prstGeom prst="rect">
            <a:avLst/>
          </a:prstGeom>
          <a:noFill/>
        </p:spPr>
        <p:txBody>
          <a:bodyPr wrap="square" rtlCol="0">
            <a:spAutoFit/>
          </a:bodyPr>
          <a:lstStyle/>
          <a:p>
            <a:r>
              <a:rPr lang="en-US" altLang="zh-CN" dirty="0"/>
              <a:t>N</a:t>
            </a:r>
            <a:endParaRPr lang="zh-CN" altLang="en-US" dirty="0"/>
          </a:p>
        </p:txBody>
      </p:sp>
      <p:sp>
        <p:nvSpPr>
          <p:cNvPr id="25" name="文本框 24">
            <a:extLst>
              <a:ext uri="{FF2B5EF4-FFF2-40B4-BE49-F238E27FC236}">
                <a16:creationId xmlns:a16="http://schemas.microsoft.com/office/drawing/2014/main" id="{870D9FA9-9F6F-4507-872E-E8358CA06AC2}"/>
              </a:ext>
            </a:extLst>
          </p:cNvPr>
          <p:cNvSpPr txBox="1"/>
          <p:nvPr/>
        </p:nvSpPr>
        <p:spPr>
          <a:xfrm>
            <a:off x="5340352" y="1425590"/>
            <a:ext cx="193059" cy="369332"/>
          </a:xfrm>
          <a:prstGeom prst="rect">
            <a:avLst/>
          </a:prstGeom>
          <a:noFill/>
        </p:spPr>
        <p:txBody>
          <a:bodyPr wrap="square" rtlCol="0">
            <a:spAutoFit/>
          </a:bodyPr>
          <a:lstStyle/>
          <a:p>
            <a:r>
              <a:rPr lang="en-US" altLang="zh-CN" dirty="0"/>
              <a:t>1</a:t>
            </a:r>
            <a:endParaRPr lang="zh-CN" altLang="en-US" dirty="0"/>
          </a:p>
        </p:txBody>
      </p:sp>
      <p:sp>
        <p:nvSpPr>
          <p:cNvPr id="26" name="流程图: 决策 25">
            <a:extLst>
              <a:ext uri="{FF2B5EF4-FFF2-40B4-BE49-F238E27FC236}">
                <a16:creationId xmlns:a16="http://schemas.microsoft.com/office/drawing/2014/main" id="{C0CABB36-4C98-4EB1-9385-4BA416AAD596}"/>
              </a:ext>
            </a:extLst>
          </p:cNvPr>
          <p:cNvSpPr/>
          <p:nvPr/>
        </p:nvSpPr>
        <p:spPr bwMode="auto">
          <a:xfrm>
            <a:off x="2246312" y="3129578"/>
            <a:ext cx="1215777" cy="465140"/>
          </a:xfrm>
          <a:prstGeom prst="flowChartDecision">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0" tIns="0" rIns="0" bIns="0" numCol="1" rtlCol="0" anchor="ctr" anchorCtr="0" compatLnSpc="1">
            <a:prstTxWarp prst="textNoShape">
              <a:avLst/>
            </a:prstTxWarp>
          </a:bodyPr>
          <a:lstStyle/>
          <a:p>
            <a:pPr algn="ctr"/>
            <a:endParaRPr lang="zh-CN" altLang="en-US" sz="1600" dirty="0">
              <a:solidFill>
                <a:schemeClr val="tx1"/>
              </a:solidFill>
              <a:latin typeface="Microsoft YaHei Light" panose="020B0502040204020203" pitchFamily="34" charset="-122"/>
              <a:ea typeface="Microsoft YaHei Light" panose="020B0502040204020203" pitchFamily="34" charset="-122"/>
            </a:endParaRPr>
          </a:p>
        </p:txBody>
      </p:sp>
      <p:cxnSp>
        <p:nvCxnSpPr>
          <p:cNvPr id="31" name="直接连接符 30">
            <a:extLst>
              <a:ext uri="{FF2B5EF4-FFF2-40B4-BE49-F238E27FC236}">
                <a16:creationId xmlns:a16="http://schemas.microsoft.com/office/drawing/2014/main" id="{01617A39-C4F6-48E5-BE16-347D42D8CF9B}"/>
              </a:ext>
            </a:extLst>
          </p:cNvPr>
          <p:cNvCxnSpPr>
            <a:cxnSpLocks/>
            <a:stCxn id="26" idx="0"/>
            <a:endCxn id="7" idx="2"/>
          </p:cNvCxnSpPr>
          <p:nvPr/>
        </p:nvCxnSpPr>
        <p:spPr bwMode="auto">
          <a:xfrm flipH="1" flipV="1">
            <a:off x="2852167" y="1960095"/>
            <a:ext cx="2034" cy="1169483"/>
          </a:xfrm>
          <a:prstGeom prst="line">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cxnSp>
      <p:cxnSp>
        <p:nvCxnSpPr>
          <p:cNvPr id="34" name="直接连接符 33">
            <a:extLst>
              <a:ext uri="{FF2B5EF4-FFF2-40B4-BE49-F238E27FC236}">
                <a16:creationId xmlns:a16="http://schemas.microsoft.com/office/drawing/2014/main" id="{16443987-C368-4A13-B8C6-040A0CD5EA1D}"/>
              </a:ext>
            </a:extLst>
          </p:cNvPr>
          <p:cNvCxnSpPr>
            <a:cxnSpLocks/>
            <a:stCxn id="8" idx="1"/>
            <a:endCxn id="26" idx="3"/>
          </p:cNvCxnSpPr>
          <p:nvPr/>
        </p:nvCxnSpPr>
        <p:spPr bwMode="auto">
          <a:xfrm flipH="1">
            <a:off x="3462089" y="3343472"/>
            <a:ext cx="2298162" cy="18676"/>
          </a:xfrm>
          <a:prstGeom prst="line">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cxnSp>
      <p:sp>
        <p:nvSpPr>
          <p:cNvPr id="38" name="文本框 37">
            <a:extLst>
              <a:ext uri="{FF2B5EF4-FFF2-40B4-BE49-F238E27FC236}">
                <a16:creationId xmlns:a16="http://schemas.microsoft.com/office/drawing/2014/main" id="{79082AD7-D191-4DEC-84BE-FEB8C2315FB0}"/>
              </a:ext>
            </a:extLst>
          </p:cNvPr>
          <p:cNvSpPr txBox="1"/>
          <p:nvPr/>
        </p:nvSpPr>
        <p:spPr>
          <a:xfrm>
            <a:off x="2843808" y="2355726"/>
            <a:ext cx="193059" cy="369332"/>
          </a:xfrm>
          <a:prstGeom prst="rect">
            <a:avLst/>
          </a:prstGeom>
          <a:noFill/>
        </p:spPr>
        <p:txBody>
          <a:bodyPr wrap="square" rtlCol="0">
            <a:spAutoFit/>
          </a:bodyPr>
          <a:lstStyle/>
          <a:p>
            <a:r>
              <a:rPr lang="en-US" altLang="zh-CN" dirty="0"/>
              <a:t>1</a:t>
            </a:r>
            <a:endParaRPr lang="zh-CN" altLang="en-US" dirty="0"/>
          </a:p>
        </p:txBody>
      </p:sp>
      <p:sp>
        <p:nvSpPr>
          <p:cNvPr id="39" name="文本框 38">
            <a:extLst>
              <a:ext uri="{FF2B5EF4-FFF2-40B4-BE49-F238E27FC236}">
                <a16:creationId xmlns:a16="http://schemas.microsoft.com/office/drawing/2014/main" id="{A429B7A0-DDA1-4013-B4FC-B941823A740A}"/>
              </a:ext>
            </a:extLst>
          </p:cNvPr>
          <p:cNvSpPr txBox="1"/>
          <p:nvPr/>
        </p:nvSpPr>
        <p:spPr>
          <a:xfrm>
            <a:off x="4355976" y="2994506"/>
            <a:ext cx="193059" cy="369332"/>
          </a:xfrm>
          <a:prstGeom prst="rect">
            <a:avLst/>
          </a:prstGeom>
          <a:noFill/>
        </p:spPr>
        <p:txBody>
          <a:bodyPr wrap="square" rtlCol="0">
            <a:spAutoFit/>
          </a:bodyPr>
          <a:lstStyle/>
          <a:p>
            <a:r>
              <a:rPr lang="en-US" altLang="zh-CN" dirty="0"/>
              <a:t>N</a:t>
            </a:r>
            <a:endParaRPr lang="zh-CN" altLang="en-US" dirty="0"/>
          </a:p>
        </p:txBody>
      </p:sp>
    </p:spTree>
    <p:extLst>
      <p:ext uri="{BB962C8B-B14F-4D97-AF65-F5344CB8AC3E}">
        <p14:creationId xmlns:p14="http://schemas.microsoft.com/office/powerpoint/2010/main" val="2632336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内容占位符 2"/>
          <p:cNvSpPr>
            <a:spLocks noGrp="1"/>
          </p:cNvSpPr>
          <p:nvPr>
            <p:ph idx="1"/>
          </p:nvPr>
        </p:nvSpPr>
        <p:spPr/>
        <p:txBody>
          <a:bodyPr/>
          <a:lstStyle/>
          <a:p>
            <a:pPr>
              <a:buNone/>
            </a:pPr>
            <a:r>
              <a:rPr lang="zh-CN" altLang="en-US" sz="1800" dirty="0"/>
              <a:t>思考：如何集成某工厂管理信息系统的</a:t>
            </a:r>
            <a:r>
              <a:rPr lang="en-US" altLang="zh-CN" sz="1800" dirty="0"/>
              <a:t>ER</a:t>
            </a:r>
            <a:r>
              <a:rPr lang="zh-CN" altLang="en-US" sz="1800" dirty="0"/>
              <a:t>图（提示：消除冲突和冗余后遭受集成）</a:t>
            </a:r>
          </a:p>
          <a:p>
            <a:endParaRPr lang="zh-CN" altLang="en-US" sz="1800" dirty="0"/>
          </a:p>
        </p:txBody>
      </p:sp>
      <p:sp>
        <p:nvSpPr>
          <p:cNvPr id="2" name="标题 1"/>
          <p:cNvSpPr>
            <a:spLocks noGrp="1"/>
          </p:cNvSpPr>
          <p:nvPr>
            <p:ph type="title"/>
          </p:nvPr>
        </p:nvSpPr>
        <p:spPr/>
        <p:txBody>
          <a:bodyPr/>
          <a:lstStyle/>
          <a:p>
            <a:r>
              <a:rPr lang="zh-CN" altLang="en-US" dirty="0"/>
              <a:t>参与式学习：基础知识</a:t>
            </a:r>
          </a:p>
        </p:txBody>
      </p:sp>
      <p:pic>
        <p:nvPicPr>
          <p:cNvPr id="5" name="图片 3"/>
          <p:cNvPicPr>
            <a:picLocks noChangeAspect="1" noChangeArrowheads="1"/>
          </p:cNvPicPr>
          <p:nvPr/>
        </p:nvPicPr>
        <p:blipFill>
          <a:blip r:embed="rId2" cstate="print">
            <a:clrChange>
              <a:clrFrom>
                <a:srgbClr val="FFFFFF"/>
              </a:clrFrom>
              <a:clrTo>
                <a:srgbClr val="FFFFFF">
                  <a:alpha val="0"/>
                </a:srgbClr>
              </a:clrTo>
            </a:clrChange>
          </a:blip>
          <a:srcRect b="8408"/>
          <a:stretch>
            <a:fillRect/>
          </a:stretch>
        </p:blipFill>
        <p:spPr bwMode="auto">
          <a:xfrm>
            <a:off x="117154" y="1131590"/>
            <a:ext cx="3954780" cy="1556384"/>
          </a:xfrm>
          <a:prstGeom prst="rect">
            <a:avLst/>
          </a:prstGeom>
          <a:noFill/>
          <a:ln w="9525">
            <a:noFill/>
            <a:miter lim="800000"/>
            <a:headEnd/>
            <a:tailEnd/>
          </a:ln>
        </p:spPr>
      </p:pic>
      <p:pic>
        <p:nvPicPr>
          <p:cNvPr id="6"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259632" y="2746215"/>
            <a:ext cx="2985516" cy="1911096"/>
          </a:xfrm>
          <a:prstGeom prst="rect">
            <a:avLst/>
          </a:prstGeom>
          <a:noFill/>
          <a:ln w="9525">
            <a:noFill/>
            <a:miter lim="800000"/>
            <a:headEnd/>
            <a:tailEnd/>
          </a:ln>
        </p:spPr>
      </p:pic>
      <p:pic>
        <p:nvPicPr>
          <p:cNvPr id="7" name="Picture 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27984" y="1131590"/>
            <a:ext cx="2499360" cy="1158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参与式学习：基础知识</a:t>
            </a:r>
          </a:p>
        </p:txBody>
      </p:sp>
      <p:sp>
        <p:nvSpPr>
          <p:cNvPr id="97283" name="内容占位符 2"/>
          <p:cNvSpPr>
            <a:spLocks noGrp="1"/>
          </p:cNvSpPr>
          <p:nvPr>
            <p:ph idx="1"/>
          </p:nvPr>
        </p:nvSpPr>
        <p:spPr/>
        <p:txBody>
          <a:bodyPr/>
          <a:lstStyle/>
          <a:p>
            <a:pPr>
              <a:buNone/>
            </a:pPr>
            <a:r>
              <a:rPr lang="zh-CN" altLang="en-US" sz="1800" dirty="0"/>
              <a:t>例</a:t>
            </a:r>
            <a:r>
              <a:rPr lang="en-US" altLang="zh-CN" sz="1800" dirty="0"/>
              <a:t>2  </a:t>
            </a:r>
            <a:r>
              <a:rPr lang="zh-CN" altLang="en-US" sz="1800" dirty="0"/>
              <a:t>某工厂管理信息系统的视图集成。</a:t>
            </a:r>
          </a:p>
          <a:p>
            <a:endParaRPr lang="zh-CN" altLang="en-US" sz="1800" dirty="0"/>
          </a:p>
        </p:txBody>
      </p:sp>
      <p:pic>
        <p:nvPicPr>
          <p:cNvPr id="2050"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5536" y="1203598"/>
            <a:ext cx="6248400" cy="3207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85737-0659-4266-B38B-73D79F84F57A}"/>
              </a:ext>
            </a:extLst>
          </p:cNvPr>
          <p:cNvSpPr>
            <a:spLocks noGrp="1"/>
          </p:cNvSpPr>
          <p:nvPr>
            <p:ph type="title"/>
          </p:nvPr>
        </p:nvSpPr>
        <p:spPr/>
        <p:txBody>
          <a:bodyPr/>
          <a:lstStyle/>
          <a:p>
            <a:r>
              <a:rPr lang="zh-CN" altLang="en-US" dirty="0"/>
              <a:t>参与式学习：能力提升</a:t>
            </a:r>
          </a:p>
        </p:txBody>
      </p:sp>
      <p:sp>
        <p:nvSpPr>
          <p:cNvPr id="3" name="内容占位符 2">
            <a:extLst>
              <a:ext uri="{FF2B5EF4-FFF2-40B4-BE49-F238E27FC236}">
                <a16:creationId xmlns:a16="http://schemas.microsoft.com/office/drawing/2014/main" id="{79F8BA96-2FA7-448B-BA55-CBFB975745DD}"/>
              </a:ext>
            </a:extLst>
          </p:cNvPr>
          <p:cNvSpPr>
            <a:spLocks noGrp="1"/>
          </p:cNvSpPr>
          <p:nvPr>
            <p:ph idx="1"/>
          </p:nvPr>
        </p:nvSpPr>
        <p:spPr/>
        <p:txBody>
          <a:bodyPr/>
          <a:lstStyle/>
          <a:p>
            <a:pPr marL="0" indent="0">
              <a:buNone/>
            </a:pPr>
            <a:r>
              <a:rPr lang="zh-CN" altLang="en-US" dirty="0"/>
              <a:t>各小组根据课程平台上提供需求分析报告，进行概念结构设计。</a:t>
            </a:r>
            <a:endParaRPr lang="en-US" altLang="zh-CN" dirty="0"/>
          </a:p>
          <a:p>
            <a:pPr marL="0" indent="0">
              <a:buNone/>
            </a:pPr>
            <a:r>
              <a:rPr lang="zh-CN" altLang="en-US" dirty="0">
                <a:solidFill>
                  <a:srgbClr val="FF0000"/>
                </a:solidFill>
              </a:rPr>
              <a:t>提示：</a:t>
            </a:r>
            <a:r>
              <a:rPr lang="en-US" altLang="zh-CN" dirty="0">
                <a:solidFill>
                  <a:srgbClr val="FF0000"/>
                </a:solidFill>
              </a:rPr>
              <a:t>【</a:t>
            </a:r>
            <a:r>
              <a:rPr lang="zh-CN" altLang="en-US" dirty="0">
                <a:solidFill>
                  <a:srgbClr val="FF0000"/>
                </a:solidFill>
              </a:rPr>
              <a:t>时间关系，平台时只放置自研项目的部分应用，可参考下面步骤</a:t>
            </a:r>
            <a:r>
              <a:rPr lang="en-US" altLang="zh-CN" dirty="0">
                <a:solidFill>
                  <a:srgbClr val="FF0000"/>
                </a:solidFill>
              </a:rPr>
              <a:t>】</a:t>
            </a:r>
          </a:p>
          <a:p>
            <a:pPr marL="0" indent="0">
              <a:buNone/>
            </a:pPr>
            <a:r>
              <a:rPr lang="zh-CN" altLang="en-US" dirty="0"/>
              <a:t>步骤</a:t>
            </a:r>
            <a:r>
              <a:rPr lang="en-US" altLang="zh-CN" dirty="0"/>
              <a:t>1</a:t>
            </a:r>
            <a:r>
              <a:rPr lang="zh-CN" altLang="en-US" dirty="0"/>
              <a:t>：根据需求分析你就这样抽象出若干概念</a:t>
            </a:r>
            <a:endParaRPr lang="en-US" altLang="zh-CN" dirty="0"/>
          </a:p>
          <a:p>
            <a:pPr marL="0" indent="0">
              <a:buNone/>
            </a:pPr>
            <a:r>
              <a:rPr lang="zh-CN" altLang="en-US" dirty="0"/>
              <a:t>步骤</a:t>
            </a:r>
            <a:r>
              <a:rPr lang="en-US" altLang="zh-CN" dirty="0"/>
              <a:t>2</a:t>
            </a:r>
            <a:r>
              <a:rPr lang="zh-CN" altLang="en-US" dirty="0"/>
              <a:t>：结合需求分析绘制出实体图并优化实体图</a:t>
            </a:r>
            <a:endParaRPr lang="en-US" altLang="zh-CN" dirty="0"/>
          </a:p>
          <a:p>
            <a:pPr marL="0" indent="0">
              <a:buNone/>
            </a:pPr>
            <a:r>
              <a:rPr lang="zh-CN" altLang="en-US" dirty="0"/>
              <a:t>步骤</a:t>
            </a:r>
            <a:r>
              <a:rPr lang="en-US" altLang="zh-CN" dirty="0"/>
              <a:t>3</a:t>
            </a:r>
            <a:r>
              <a:rPr lang="zh-CN" altLang="en-US" dirty="0"/>
              <a:t>：结合需求分析语义绘制出实体之间联系图</a:t>
            </a:r>
            <a:endParaRPr lang="en-US" altLang="zh-CN" dirty="0"/>
          </a:p>
          <a:p>
            <a:pPr marL="0" indent="0">
              <a:buNone/>
            </a:pPr>
            <a:r>
              <a:rPr lang="zh-CN" altLang="en-US" dirty="0"/>
              <a:t>步骤</a:t>
            </a:r>
            <a:r>
              <a:rPr lang="en-US" altLang="zh-CN" dirty="0"/>
              <a:t>4</a:t>
            </a:r>
            <a:r>
              <a:rPr lang="zh-CN" altLang="en-US" dirty="0"/>
              <a:t>：优化实体之间联系图，得出基本</a:t>
            </a:r>
            <a:r>
              <a:rPr lang="en-US" altLang="zh-CN" dirty="0"/>
              <a:t>ER</a:t>
            </a:r>
            <a:r>
              <a:rPr lang="zh-CN" altLang="en-US" dirty="0"/>
              <a:t>图，完成概念结构设计</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zh-CN" altLang="en-US" dirty="0"/>
          </a:p>
          <a:p>
            <a:pPr marL="0" indent="0">
              <a:buNone/>
            </a:pPr>
            <a:endParaRPr lang="zh-CN" altLang="en-US" dirty="0"/>
          </a:p>
        </p:txBody>
      </p:sp>
    </p:spTree>
    <p:extLst>
      <p:ext uri="{BB962C8B-B14F-4D97-AF65-F5344CB8AC3E}">
        <p14:creationId xmlns:p14="http://schemas.microsoft.com/office/powerpoint/2010/main" val="756091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96A85-FB6C-4B68-B1C3-65AF13F583BA}"/>
              </a:ext>
            </a:extLst>
          </p:cNvPr>
          <p:cNvSpPr>
            <a:spLocks noGrp="1"/>
          </p:cNvSpPr>
          <p:nvPr>
            <p:ph type="title"/>
          </p:nvPr>
        </p:nvSpPr>
        <p:spPr/>
        <p:txBody>
          <a:bodyPr/>
          <a:lstStyle/>
          <a:p>
            <a:r>
              <a:rPr lang="zh-CN" altLang="en-US" dirty="0"/>
              <a:t>后测（</a:t>
            </a:r>
            <a:r>
              <a:rPr lang="en-US" altLang="zh-CN" dirty="0"/>
              <a:t>Post-assessment</a:t>
            </a:r>
            <a:r>
              <a:rPr lang="zh-CN" altLang="en-US" dirty="0"/>
              <a:t>）</a:t>
            </a:r>
          </a:p>
        </p:txBody>
      </p:sp>
      <p:sp>
        <p:nvSpPr>
          <p:cNvPr id="5" name="卷形: 水平 4">
            <a:extLst>
              <a:ext uri="{FF2B5EF4-FFF2-40B4-BE49-F238E27FC236}">
                <a16:creationId xmlns:a16="http://schemas.microsoft.com/office/drawing/2014/main" id="{27A40C9D-7BEE-4EE2-8ED7-1A33F80A245C}"/>
              </a:ext>
            </a:extLst>
          </p:cNvPr>
          <p:cNvSpPr/>
          <p:nvPr/>
        </p:nvSpPr>
        <p:spPr bwMode="auto">
          <a:xfrm>
            <a:off x="691952" y="2004070"/>
            <a:ext cx="7480448" cy="1080120"/>
          </a:xfrm>
          <a:prstGeom prst="horizontalScroll">
            <a:avLst/>
          </a:prstGeom>
          <a:ln w="28575">
            <a:solidFill>
              <a:srgbClr val="0066FF"/>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algn="ctr"/>
            <a:r>
              <a:rPr lang="zh-CN" altLang="en-US" sz="2800" dirty="0">
                <a:latin typeface="Microsoft YaHei Light" panose="020B0502040204020203" pitchFamily="34" charset="-122"/>
                <a:ea typeface="Microsoft YaHei Light" panose="020B0502040204020203" pitchFamily="34" charset="-122"/>
              </a:rPr>
              <a:t>请同学们现在做“后测</a:t>
            </a:r>
            <a:r>
              <a:rPr lang="en-US" altLang="zh-CN" sz="2800" dirty="0">
                <a:latin typeface="Microsoft YaHei Light" panose="020B0502040204020203" pitchFamily="34" charset="-122"/>
                <a:ea typeface="Microsoft YaHei Light" panose="020B0502040204020203" pitchFamily="34" charset="-122"/>
              </a:rPr>
              <a:t>07-03</a:t>
            </a:r>
            <a:r>
              <a:rPr lang="zh-CN" altLang="en-US" sz="2800" dirty="0">
                <a:latin typeface="Microsoft YaHei Light" panose="020B0502040204020203" pitchFamily="34" charset="-122"/>
                <a:ea typeface="Microsoft YaHei Light" panose="020B0502040204020203" pitchFamily="34" charset="-122"/>
              </a:rPr>
              <a:t>”试卷</a:t>
            </a:r>
            <a:endParaRPr lang="en-US" altLang="zh-CN" sz="2800" dirty="0">
              <a:latin typeface="Microsoft YaHei Light" panose="020B0502040204020203" pitchFamily="34" charset="-122"/>
              <a:ea typeface="Microsoft YaHei Light" panose="020B0502040204020203" pitchFamily="34" charset="-122"/>
            </a:endParaRPr>
          </a:p>
        </p:txBody>
      </p:sp>
    </p:spTree>
    <p:extLst>
      <p:ext uri="{BB962C8B-B14F-4D97-AF65-F5344CB8AC3E}">
        <p14:creationId xmlns:p14="http://schemas.microsoft.com/office/powerpoint/2010/main" val="416608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96A85-FB6C-4B68-B1C3-65AF13F583BA}"/>
              </a:ext>
            </a:extLst>
          </p:cNvPr>
          <p:cNvSpPr>
            <a:spLocks noGrp="1"/>
          </p:cNvSpPr>
          <p:nvPr>
            <p:ph type="title"/>
          </p:nvPr>
        </p:nvSpPr>
        <p:spPr/>
        <p:txBody>
          <a:bodyPr/>
          <a:lstStyle/>
          <a:p>
            <a:r>
              <a:rPr lang="zh-CN" altLang="en-US" dirty="0"/>
              <a:t>总结（</a:t>
            </a:r>
            <a:r>
              <a:rPr lang="en-US" altLang="zh-CN" dirty="0"/>
              <a:t>Summary</a:t>
            </a:r>
            <a:r>
              <a:rPr lang="zh-CN" altLang="en-US" dirty="0"/>
              <a:t>）</a:t>
            </a:r>
          </a:p>
        </p:txBody>
      </p:sp>
      <p:pic>
        <p:nvPicPr>
          <p:cNvPr id="5" name="内容占位符 4">
            <a:extLst>
              <a:ext uri="{FF2B5EF4-FFF2-40B4-BE49-F238E27FC236}">
                <a16:creationId xmlns:a16="http://schemas.microsoft.com/office/drawing/2014/main" id="{B53EC9BB-A17B-4F91-9E21-2F356B7AD33F}"/>
              </a:ext>
            </a:extLst>
          </p:cNvPr>
          <p:cNvPicPr>
            <a:picLocks noGrp="1" noChangeAspect="1"/>
          </p:cNvPicPr>
          <p:nvPr>
            <p:ph idx="1"/>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543" y="1498428"/>
            <a:ext cx="9101089" cy="2225450"/>
          </a:xfrm>
        </p:spPr>
      </p:pic>
    </p:spTree>
    <p:extLst>
      <p:ext uri="{BB962C8B-B14F-4D97-AF65-F5344CB8AC3E}">
        <p14:creationId xmlns:p14="http://schemas.microsoft.com/office/powerpoint/2010/main" val="2023516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096A85-FB6C-4B68-B1C3-65AF13F583BA}"/>
              </a:ext>
            </a:extLst>
          </p:cNvPr>
          <p:cNvSpPr>
            <a:spLocks noGrp="1"/>
          </p:cNvSpPr>
          <p:nvPr>
            <p:ph type="title"/>
          </p:nvPr>
        </p:nvSpPr>
        <p:spPr/>
        <p:txBody>
          <a:bodyPr/>
          <a:lstStyle/>
          <a:p>
            <a:r>
              <a:rPr lang="zh-CN" altLang="en-US" dirty="0"/>
              <a:t>总结</a:t>
            </a:r>
          </a:p>
        </p:txBody>
      </p:sp>
      <p:sp>
        <p:nvSpPr>
          <p:cNvPr id="3" name="内容占位符 2">
            <a:extLst>
              <a:ext uri="{FF2B5EF4-FFF2-40B4-BE49-F238E27FC236}">
                <a16:creationId xmlns:a16="http://schemas.microsoft.com/office/drawing/2014/main" id="{78A325A6-E6DF-4846-A251-1C9B2F2084A6}"/>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A7C1331C-1082-49E0-996B-6120674634E7}"/>
              </a:ext>
            </a:extLst>
          </p:cNvPr>
          <p:cNvPicPr>
            <a:picLocks noChangeAspect="1"/>
          </p:cNvPicPr>
          <p:nvPr/>
        </p:nvPicPr>
        <p:blipFill rotWithShape="1">
          <a:blip r:embed="rId2">
            <a:lum bright="70000" contrast="-70000"/>
          </a:blip>
          <a:srcRect b="16669"/>
          <a:stretch/>
        </p:blipFill>
        <p:spPr>
          <a:xfrm>
            <a:off x="-49352" y="-206456"/>
            <a:ext cx="12184167" cy="7270912"/>
          </a:xfrm>
          <a:prstGeom prst="rect">
            <a:avLst/>
          </a:prstGeom>
        </p:spPr>
      </p:pic>
      <p:grpSp>
        <p:nvGrpSpPr>
          <p:cNvPr id="5" name="组合 4">
            <a:extLst>
              <a:ext uri="{FF2B5EF4-FFF2-40B4-BE49-F238E27FC236}">
                <a16:creationId xmlns:a16="http://schemas.microsoft.com/office/drawing/2014/main" id="{9EB2708E-35CD-4528-AE1D-1D098EA74593}"/>
              </a:ext>
            </a:extLst>
          </p:cNvPr>
          <p:cNvGrpSpPr/>
          <p:nvPr/>
        </p:nvGrpSpPr>
        <p:grpSpPr>
          <a:xfrm>
            <a:off x="1002405" y="1347215"/>
            <a:ext cx="7031037" cy="2822972"/>
            <a:chOff x="1921867" y="2321816"/>
            <a:chExt cx="7031037" cy="3763962"/>
          </a:xfrm>
        </p:grpSpPr>
        <p:pic>
          <p:nvPicPr>
            <p:cNvPr id="6" name="图片 5">
              <a:extLst>
                <a:ext uri="{FF2B5EF4-FFF2-40B4-BE49-F238E27FC236}">
                  <a16:creationId xmlns:a16="http://schemas.microsoft.com/office/drawing/2014/main" id="{34159057-2FBD-4CC3-95A0-C2B6C95DAE64}"/>
                </a:ext>
              </a:extLst>
            </p:cNvPr>
            <p:cNvPicPr>
              <a:picLocks noChangeAspect="1"/>
            </p:cNvPicPr>
            <p:nvPr/>
          </p:nvPicPr>
          <p:blipFill>
            <a:blip r:embed="rId3"/>
            <a:stretch>
              <a:fillRect/>
            </a:stretch>
          </p:blipFill>
          <p:spPr>
            <a:xfrm>
              <a:off x="1921867" y="2321816"/>
              <a:ext cx="7031037" cy="3763962"/>
            </a:xfrm>
            <a:prstGeom prst="rect">
              <a:avLst/>
            </a:prstGeom>
            <a:effectLst>
              <a:outerShdw blurRad="50800" dist="38100" dir="5400000" algn="t" rotWithShape="0">
                <a:prstClr val="black">
                  <a:alpha val="40000"/>
                </a:prstClr>
              </a:outerShdw>
            </a:effectLst>
          </p:spPr>
        </p:pic>
        <p:sp>
          <p:nvSpPr>
            <p:cNvPr id="7" name="矩形 6">
              <a:extLst>
                <a:ext uri="{FF2B5EF4-FFF2-40B4-BE49-F238E27FC236}">
                  <a16:creationId xmlns:a16="http://schemas.microsoft.com/office/drawing/2014/main" id="{D1C875D6-D2EB-4272-B2B2-F36E65ACE380}"/>
                </a:ext>
              </a:extLst>
            </p:cNvPr>
            <p:cNvSpPr/>
            <p:nvPr/>
          </p:nvSpPr>
          <p:spPr>
            <a:xfrm>
              <a:off x="3278134" y="3359940"/>
              <a:ext cx="4480714" cy="1231106"/>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谢谢参与学习</a:t>
              </a:r>
              <a:endPar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grpSp>
      <p:grpSp>
        <p:nvGrpSpPr>
          <p:cNvPr id="8" name="组合 12">
            <a:extLst>
              <a:ext uri="{FF2B5EF4-FFF2-40B4-BE49-F238E27FC236}">
                <a16:creationId xmlns:a16="http://schemas.microsoft.com/office/drawing/2014/main" id="{006FC776-CE9C-48AA-83DC-E4E0FB7E8187}"/>
              </a:ext>
            </a:extLst>
          </p:cNvPr>
          <p:cNvGrpSpPr/>
          <p:nvPr/>
        </p:nvGrpSpPr>
        <p:grpSpPr>
          <a:xfrm>
            <a:off x="4452564" y="809760"/>
            <a:ext cx="521988" cy="3902295"/>
            <a:chOff x="3923928" y="764704"/>
            <a:chExt cx="521988" cy="5203060"/>
          </a:xfrm>
          <a:effectLst>
            <a:outerShdw blurRad="50800" dist="38100" dir="5400000" algn="t" rotWithShape="0">
              <a:prstClr val="black">
                <a:alpha val="40000"/>
              </a:prstClr>
            </a:outerShdw>
          </a:effectLst>
        </p:grpSpPr>
        <p:pic>
          <p:nvPicPr>
            <p:cNvPr id="9" name="图片 8">
              <a:extLst>
                <a:ext uri="{FF2B5EF4-FFF2-40B4-BE49-F238E27FC236}">
                  <a16:creationId xmlns:a16="http://schemas.microsoft.com/office/drawing/2014/main" id="{E73F455C-CC8F-49E1-A4AA-096E16FC929F}"/>
                </a:ext>
              </a:extLst>
            </p:cNvPr>
            <p:cNvPicPr>
              <a:picLocks/>
            </p:cNvPicPr>
            <p:nvPr/>
          </p:nvPicPr>
          <p:blipFill>
            <a:blip r:embed="rId4" cstate="print"/>
            <a:stretch>
              <a:fillRect/>
            </a:stretch>
          </p:blipFill>
          <p:spPr>
            <a:xfrm>
              <a:off x="3923928" y="764704"/>
              <a:ext cx="521988" cy="720080"/>
            </a:xfrm>
            <a:prstGeom prst="rect">
              <a:avLst/>
            </a:prstGeom>
          </p:spPr>
        </p:pic>
        <p:pic>
          <p:nvPicPr>
            <p:cNvPr id="10" name="图片 9">
              <a:extLst>
                <a:ext uri="{FF2B5EF4-FFF2-40B4-BE49-F238E27FC236}">
                  <a16:creationId xmlns:a16="http://schemas.microsoft.com/office/drawing/2014/main" id="{DFB6D52E-BB76-46B6-84A3-85965C550235}"/>
                </a:ext>
              </a:extLst>
            </p:cNvPr>
            <p:cNvPicPr>
              <a:picLocks/>
            </p:cNvPicPr>
            <p:nvPr/>
          </p:nvPicPr>
          <p:blipFill>
            <a:blip r:embed="rId4" cstate="print"/>
            <a:stretch>
              <a:fillRect/>
            </a:stretch>
          </p:blipFill>
          <p:spPr>
            <a:xfrm flipV="1">
              <a:off x="3923928" y="5247684"/>
              <a:ext cx="521988" cy="720080"/>
            </a:xfrm>
            <a:prstGeom prst="rect">
              <a:avLst/>
            </a:prstGeom>
          </p:spPr>
        </p:pic>
        <p:sp>
          <p:nvSpPr>
            <p:cNvPr id="11" name="矩形 10">
              <a:extLst>
                <a:ext uri="{FF2B5EF4-FFF2-40B4-BE49-F238E27FC236}">
                  <a16:creationId xmlns:a16="http://schemas.microsoft.com/office/drawing/2014/main" id="{17E261A2-6378-4BBA-B95D-818A8731ECB7}"/>
                </a:ext>
              </a:extLst>
            </p:cNvPr>
            <p:cNvSpPr/>
            <p:nvPr/>
          </p:nvSpPr>
          <p:spPr>
            <a:xfrm>
              <a:off x="4031545" y="1484784"/>
              <a:ext cx="360000" cy="3762900"/>
            </a:xfrm>
            <a:prstGeom prst="rect">
              <a:avLst/>
            </a:prstGeom>
            <a:gradFill flip="none" rotWithShape="1">
              <a:gsLst>
                <a:gs pos="0">
                  <a:srgbClr val="F9E8C9"/>
                </a:gs>
                <a:gs pos="50000">
                  <a:schemeClr val="bg1"/>
                </a:gs>
                <a:gs pos="100000">
                  <a:schemeClr val="bg1">
                    <a:lumMod val="75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solidFill>
                  <a:prstClr val="white"/>
                </a:solidFill>
              </a:endParaRPr>
            </a:p>
          </p:txBody>
        </p:sp>
      </p:grpSp>
      <p:grpSp>
        <p:nvGrpSpPr>
          <p:cNvPr id="12" name="组合 11">
            <a:extLst>
              <a:ext uri="{FF2B5EF4-FFF2-40B4-BE49-F238E27FC236}">
                <a16:creationId xmlns:a16="http://schemas.microsoft.com/office/drawing/2014/main" id="{F826427B-FC8C-46AD-B7F6-B55D0D477771}"/>
              </a:ext>
            </a:extLst>
          </p:cNvPr>
          <p:cNvGrpSpPr/>
          <p:nvPr/>
        </p:nvGrpSpPr>
        <p:grpSpPr>
          <a:xfrm>
            <a:off x="4025432" y="815326"/>
            <a:ext cx="521988" cy="3902295"/>
            <a:chOff x="3923928" y="764704"/>
            <a:chExt cx="521988" cy="5203060"/>
          </a:xfrm>
          <a:effectLst>
            <a:outerShdw blurRad="50800" dist="38100" dir="5400000" algn="t" rotWithShape="0">
              <a:prstClr val="black">
                <a:alpha val="40000"/>
              </a:prstClr>
            </a:outerShdw>
          </a:effectLst>
        </p:grpSpPr>
        <p:pic>
          <p:nvPicPr>
            <p:cNvPr id="13" name="图片 12">
              <a:extLst>
                <a:ext uri="{FF2B5EF4-FFF2-40B4-BE49-F238E27FC236}">
                  <a16:creationId xmlns:a16="http://schemas.microsoft.com/office/drawing/2014/main" id="{05F4254D-91A0-445C-AD18-616E6EEE45E9}"/>
                </a:ext>
              </a:extLst>
            </p:cNvPr>
            <p:cNvPicPr>
              <a:picLocks/>
            </p:cNvPicPr>
            <p:nvPr/>
          </p:nvPicPr>
          <p:blipFill>
            <a:blip r:embed="rId4" cstate="print"/>
            <a:stretch>
              <a:fillRect/>
            </a:stretch>
          </p:blipFill>
          <p:spPr>
            <a:xfrm>
              <a:off x="3923928" y="764704"/>
              <a:ext cx="521988" cy="720080"/>
            </a:xfrm>
            <a:prstGeom prst="rect">
              <a:avLst/>
            </a:prstGeom>
          </p:spPr>
        </p:pic>
        <p:pic>
          <p:nvPicPr>
            <p:cNvPr id="14" name="图片 13">
              <a:extLst>
                <a:ext uri="{FF2B5EF4-FFF2-40B4-BE49-F238E27FC236}">
                  <a16:creationId xmlns:a16="http://schemas.microsoft.com/office/drawing/2014/main" id="{EBF12707-8ECF-4FAF-B201-9F91A2B7B529}"/>
                </a:ext>
              </a:extLst>
            </p:cNvPr>
            <p:cNvPicPr>
              <a:picLocks/>
            </p:cNvPicPr>
            <p:nvPr/>
          </p:nvPicPr>
          <p:blipFill>
            <a:blip r:embed="rId4" cstate="print"/>
            <a:stretch>
              <a:fillRect/>
            </a:stretch>
          </p:blipFill>
          <p:spPr>
            <a:xfrm flipV="1">
              <a:off x="3923928" y="5247684"/>
              <a:ext cx="521988" cy="720080"/>
            </a:xfrm>
            <a:prstGeom prst="rect">
              <a:avLst/>
            </a:prstGeom>
          </p:spPr>
        </p:pic>
        <p:sp>
          <p:nvSpPr>
            <p:cNvPr id="15" name="矩形 14">
              <a:extLst>
                <a:ext uri="{FF2B5EF4-FFF2-40B4-BE49-F238E27FC236}">
                  <a16:creationId xmlns:a16="http://schemas.microsoft.com/office/drawing/2014/main" id="{07F323BD-41CB-4770-8824-6F54E1211A60}"/>
                </a:ext>
              </a:extLst>
            </p:cNvPr>
            <p:cNvSpPr/>
            <p:nvPr/>
          </p:nvSpPr>
          <p:spPr>
            <a:xfrm>
              <a:off x="4016797" y="1484784"/>
              <a:ext cx="360000" cy="3762900"/>
            </a:xfrm>
            <a:prstGeom prst="rect">
              <a:avLst/>
            </a:prstGeom>
            <a:gradFill flip="none" rotWithShape="1">
              <a:gsLst>
                <a:gs pos="0">
                  <a:srgbClr val="F9E8C9"/>
                </a:gs>
                <a:gs pos="50000">
                  <a:schemeClr val="bg1"/>
                </a:gs>
                <a:gs pos="100000">
                  <a:schemeClr val="bg1">
                    <a:lumMod val="75000"/>
                  </a:scheme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spTree>
    <p:extLst>
      <p:ext uri="{BB962C8B-B14F-4D97-AF65-F5344CB8AC3E}">
        <p14:creationId xmlns:p14="http://schemas.microsoft.com/office/powerpoint/2010/main" val="247176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750"/>
                                  </p:stCondLst>
                                  <p:childTnLst>
                                    <p:animMotion origin="layout" path="M 0 -2.96296E-6 L -0.34132 0.00988 " pathEditMode="relative" rAng="0" ptsTypes="AA">
                                      <p:cBhvr>
                                        <p:cTn id="6" dur="2000" fill="hold"/>
                                        <p:tgtEl>
                                          <p:spTgt spid="12"/>
                                        </p:tgtEl>
                                        <p:attrNameLst>
                                          <p:attrName>ppt_x</p:attrName>
                                          <p:attrName>ppt_y</p:attrName>
                                        </p:attrNameLst>
                                      </p:cBhvr>
                                      <p:rCtr x="-17066" y="494"/>
                                    </p:animMotion>
                                  </p:childTnLst>
                                </p:cTn>
                              </p:par>
                              <p:par>
                                <p:cTn id="7" presetID="63" presetClass="path" presetSubtype="0" fill="hold" nodeType="withEffect">
                                  <p:stCondLst>
                                    <p:cond delay="750"/>
                                  </p:stCondLst>
                                  <p:childTnLst>
                                    <p:animMotion origin="layout" path="M -1.38889E-6 1.60494E-6 L 0.3382 -0.00309 " pathEditMode="relative" rAng="0" ptsTypes="AA">
                                      <p:cBhvr>
                                        <p:cTn id="8" dur="2000" fill="hold"/>
                                        <p:tgtEl>
                                          <p:spTgt spid="8"/>
                                        </p:tgtEl>
                                        <p:attrNameLst>
                                          <p:attrName>ppt_x</p:attrName>
                                          <p:attrName>ppt_y</p:attrName>
                                        </p:attrNameLst>
                                      </p:cBhvr>
                                      <p:rCtr x="16910" y="-154"/>
                                    </p:animMotion>
                                  </p:childTnLst>
                                </p:cTn>
                              </p:par>
                              <p:par>
                                <p:cTn id="9" presetID="16" presetClass="entr" presetSubtype="37" fill="hold" nodeType="withEffect">
                                  <p:stCondLst>
                                    <p:cond delay="750"/>
                                  </p:stCondLst>
                                  <p:childTnLst>
                                    <p:set>
                                      <p:cBhvr>
                                        <p:cTn id="10" dur="1" fill="hold">
                                          <p:stCondLst>
                                            <p:cond delay="0"/>
                                          </p:stCondLst>
                                        </p:cTn>
                                        <p:tgtEl>
                                          <p:spTgt spid="5"/>
                                        </p:tgtEl>
                                        <p:attrNameLst>
                                          <p:attrName>style.visibility</p:attrName>
                                        </p:attrNameLst>
                                      </p:cBhvr>
                                      <p:to>
                                        <p:strVal val="visible"/>
                                      </p:to>
                                    </p:set>
                                    <p:animEffect transition="in" filter="barn(outVertical)">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3337</TotalTime>
  <Pages>0</Pages>
  <Words>1169</Words>
  <Characters>0</Characters>
  <Application>Microsoft Office PowerPoint</Application>
  <DocSecurity>0</DocSecurity>
  <PresentationFormat>全屏显示(16:9)</PresentationFormat>
  <Lines>0</Lines>
  <Paragraphs>165</Paragraphs>
  <Slides>29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29</vt:i4>
      </vt:variant>
    </vt:vector>
  </HeadingPairs>
  <TitlesOfParts>
    <vt:vector size="35" baseType="lpstr">
      <vt:lpstr>Microsoft YaHei Light</vt:lpstr>
      <vt:lpstr>微软雅黑</vt:lpstr>
      <vt:lpstr>Arial</vt:lpstr>
      <vt:lpstr>Calibri</vt:lpstr>
      <vt:lpstr>Wingdings</vt:lpstr>
      <vt:lpstr>数据库系统概论</vt:lpstr>
      <vt:lpstr>7.3 概念结构设计</vt:lpstr>
      <vt:lpstr>导言（Bridge-in）</vt:lpstr>
      <vt:lpstr>目标（Objective）</vt:lpstr>
      <vt:lpstr>前测（Pre-assessment）</vt:lpstr>
      <vt:lpstr>参与式学习（Participatory Learning）</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参与式学习：基础知识</vt:lpstr>
      <vt:lpstr>7.3.5  概念结构设计</vt:lpstr>
      <vt:lpstr>参与式学习：基础知识</vt:lpstr>
      <vt:lpstr>参与式学习：基础知识</vt:lpstr>
      <vt:lpstr>参与式学习：基础知识</vt:lpstr>
      <vt:lpstr>参与式学习：基础知识</vt:lpstr>
      <vt:lpstr>参与式学习：基础知识</vt:lpstr>
      <vt:lpstr>参与式学习：能力提升</vt:lpstr>
      <vt:lpstr>后测（Post-assessment）</vt:lpstr>
      <vt:lpstr>总结（Summary）</vt:lpstr>
      <vt:lpstr>总结</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meng</dc:creator>
  <cp:lastModifiedBy>quan lixin</cp:lastModifiedBy>
  <cp:revision>386</cp:revision>
  <dcterms:created xsi:type="dcterms:W3CDTF">2014-11-15T08:22:24Z</dcterms:created>
  <dcterms:modified xsi:type="dcterms:W3CDTF">2021-02-23T03:12:27Z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