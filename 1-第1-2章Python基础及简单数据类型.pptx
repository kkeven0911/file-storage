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bookmarkIdSeed="6">
  <p:sldMasterIdLst>
    <p:sldMasterId id="2147483972" r:id="rId2"/>
  </p:sldMasterIdLst>
  <p:notesMasterIdLst>
    <p:notesMasterId r:id="rId50"/>
  </p:notesMasterIdLst>
  <p:handoutMasterIdLst>
    <p:handoutMasterId r:id="rId51"/>
  </p:handoutMasterIdLst>
  <p:sldIdLst>
    <p:sldId id="431" r:id="rId3"/>
    <p:sldId id="430" r:id="rId4"/>
    <p:sldId id="267" r:id="rId5"/>
    <p:sldId id="275" r:id="rId6"/>
    <p:sldId id="277" r:id="rId7"/>
    <p:sldId id="428" r:id="rId8"/>
    <p:sldId id="449" r:id="rId9"/>
    <p:sldId id="429" r:id="rId10"/>
    <p:sldId id="276" r:id="rId11"/>
    <p:sldId id="278" r:id="rId12"/>
    <p:sldId id="447" r:id="rId13"/>
    <p:sldId id="279" r:id="rId14"/>
    <p:sldId id="280" r:id="rId15"/>
    <p:sldId id="283" r:id="rId16"/>
    <p:sldId id="448" r:id="rId17"/>
    <p:sldId id="441" r:id="rId18"/>
    <p:sldId id="443" r:id="rId19"/>
    <p:sldId id="442" r:id="rId20"/>
    <p:sldId id="444" r:id="rId21"/>
    <p:sldId id="281" r:id="rId22"/>
    <p:sldId id="346" r:id="rId23"/>
    <p:sldId id="436" r:id="rId24"/>
    <p:sldId id="344" r:id="rId25"/>
    <p:sldId id="437" r:id="rId26"/>
    <p:sldId id="438" r:id="rId27"/>
    <p:sldId id="439" r:id="rId28"/>
    <p:sldId id="440" r:id="rId29"/>
    <p:sldId id="348" r:id="rId30"/>
    <p:sldId id="349" r:id="rId31"/>
    <p:sldId id="282" r:id="rId32"/>
    <p:sldId id="350" r:id="rId33"/>
    <p:sldId id="284" r:id="rId34"/>
    <p:sldId id="285" r:id="rId35"/>
    <p:sldId id="286" r:id="rId36"/>
    <p:sldId id="287" r:id="rId37"/>
    <p:sldId id="432" r:id="rId38"/>
    <p:sldId id="433" r:id="rId39"/>
    <p:sldId id="288" r:id="rId40"/>
    <p:sldId id="289" r:id="rId41"/>
    <p:sldId id="434" r:id="rId42"/>
    <p:sldId id="435" r:id="rId43"/>
    <p:sldId id="290" r:id="rId44"/>
    <p:sldId id="291" r:id="rId45"/>
    <p:sldId id="292" r:id="rId46"/>
    <p:sldId id="298" r:id="rId47"/>
    <p:sldId id="445" r:id="rId48"/>
    <p:sldId id="446" r:id="rId49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1152">
          <p15:clr>
            <a:srgbClr val="A4A3A4"/>
          </p15:clr>
        </p15:guide>
        <p15:guide id="4" orient="horz" pos="3888">
          <p15:clr>
            <a:srgbClr val="A4A3A4"/>
          </p15:clr>
        </p15:guide>
        <p15:guide id="5" orient="horz" pos="3072">
          <p15:clr>
            <a:srgbClr val="A4A3A4"/>
          </p15:clr>
        </p15:guide>
        <p15:guide id="6" orient="horz" pos="432">
          <p15:clr>
            <a:srgbClr val="A4A3A4"/>
          </p15:clr>
        </p15:guide>
        <p15:guide id="7" orient="horz" pos="3648">
          <p15:clr>
            <a:srgbClr val="A4A3A4"/>
          </p15:clr>
        </p15:guide>
        <p15:guide id="8" pos="3839">
          <p15:clr>
            <a:srgbClr val="A4A3A4"/>
          </p15:clr>
        </p15:guide>
        <p15:guide id="9" pos="767">
          <p15:clr>
            <a:srgbClr val="A4A3A4"/>
          </p15:clr>
        </p15:guide>
        <p15:guide id="10" pos="6911">
          <p15:clr>
            <a:srgbClr val="A4A3A4"/>
          </p15:clr>
        </p15:guide>
        <p15:guide id="11" pos="5711">
          <p15:clr>
            <a:srgbClr val="A4A3A4"/>
          </p15:clr>
        </p15:guide>
        <p15:guide id="12" pos="7247">
          <p15:clr>
            <a:srgbClr val="A4A3A4"/>
          </p15:clr>
        </p15:guide>
        <p15:guide id="13" pos="3695">
          <p15:clr>
            <a:srgbClr val="A4A3A4"/>
          </p15:clr>
        </p15:guide>
        <p15:guide id="14" pos="431">
          <p15:clr>
            <a:srgbClr val="A4A3A4"/>
          </p15:clr>
        </p15:guide>
        <p15:guide id="15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984" autoAdjust="0"/>
    <p:restoredTop sz="95870" autoAdjust="0"/>
  </p:normalViewPr>
  <p:slideViewPr>
    <p:cSldViewPr>
      <p:cViewPr>
        <p:scale>
          <a:sx n="86" d="100"/>
          <a:sy n="86" d="100"/>
        </p:scale>
        <p:origin x="-336" y="-132"/>
      </p:cViewPr>
      <p:guideLst>
        <p:guide orient="horz" pos="2160"/>
        <p:guide orient="horz" pos="1008"/>
        <p:guide orient="horz" pos="1152"/>
        <p:guide orient="horz" pos="3888"/>
        <p:guide orient="horz" pos="3072"/>
        <p:guide orient="horz" pos="432"/>
        <p:guide orient="horz" pos="3648"/>
        <p:guide pos="3839"/>
        <p:guide pos="766"/>
        <p:guide pos="6912"/>
        <p:guide pos="5711"/>
        <p:guide pos="7247"/>
        <p:guide pos="3695"/>
        <p:guide pos="431"/>
        <p:guide pos="287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1770"/>
    </p:cViewPr>
  </p:sorterViewPr>
  <p:notesViewPr>
    <p:cSldViewPr>
      <p:cViewPr varScale="1">
        <p:scale>
          <a:sx n="87" d="100"/>
          <a:sy n="87" d="100"/>
        </p:scale>
        <p:origin x="3840" y="102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lang="zh-CN" sz="1200"/>
            </a:lvl1pPr>
          </a:lstStyle>
          <a:p>
            <a:endParaRPr lang="zh-CN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lang="zh-CN" sz="1200"/>
            </a:lvl1pPr>
          </a:lstStyle>
          <a:p>
            <a:fld id="{128FCA9C-FF92-4024-BDEC-A6D3B663DC09}" type="datetimeFigureOut">
              <a:rPr lang="en-US" altLang="zh-CN"/>
              <a:pPr/>
              <a:t>9/18/2020</a:t>
            </a:fld>
            <a:endParaRPr 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lang="zh-CN" sz="1200"/>
            </a:lvl1pPr>
          </a:lstStyle>
          <a:p>
            <a:endParaRPr lang="zh-CN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lang="zh-CN" sz="1200"/>
            </a:lvl1pPr>
          </a:lstStyle>
          <a:p>
            <a:fld id="{A446DCAE-1661-43FF-8A44-43DAFDC1FD90}" type="slidenum">
              <a:rPr lang="zh-CN"/>
              <a:pPr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xmlns="" val="29198055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lang="zh-CN" sz="1200"/>
            </a:lvl1pPr>
          </a:lstStyle>
          <a:p>
            <a:endParaRPr lang="zh-CN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lang="zh-CN" sz="1200"/>
            </a:lvl1pPr>
          </a:lstStyle>
          <a:p>
            <a:fld id="{772AB877-E7B1-4681-847E-D0918612832B}" type="datetimeFigureOut">
              <a:rPr/>
              <a:pPr/>
              <a:t>2018/4/12</a:t>
            </a:fld>
            <a:endParaRPr lang="zh-CN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lang="zh-CN" sz="1200"/>
            </a:lvl1pPr>
          </a:lstStyle>
          <a:p>
            <a:endParaRPr lang="zh-CN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lang="zh-CN" sz="1200"/>
            </a:lvl1pPr>
          </a:lstStyle>
          <a:p>
            <a:fld id="{69C971FF-EF28-4195-A575-329446EFAA55}" type="slidenum">
              <a:rPr/>
              <a:pPr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xmlns="" val="1398995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zh-CN"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zh-CN"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zh-CN"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zh-CN"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zh-CN"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971FF-EF28-4195-A575-329446EFAA55}" type="slidenum">
              <a:rPr lang="en-US" altLang="zh-CN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6790511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ctrTitle"/>
          </p:nvPr>
        </p:nvSpPr>
        <p:spPr>
          <a:xfrm>
            <a:off x="711015" y="1371600"/>
            <a:ext cx="1046613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7" name="副标题 16"/>
          <p:cNvSpPr>
            <a:spLocks noGrp="1"/>
          </p:cNvSpPr>
          <p:nvPr>
            <p:ph type="subTitle" idx="1"/>
          </p:nvPr>
        </p:nvSpPr>
        <p:spPr>
          <a:xfrm>
            <a:off x="711015" y="3228536"/>
            <a:ext cx="10470201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30" name="日期占位符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9/18/2020</a:t>
            </a:fld>
            <a:endParaRPr lang="en-US"/>
          </a:p>
        </p:txBody>
      </p:sp>
      <p:sp>
        <p:nvSpPr>
          <p:cNvPr id="19" name="页脚占位符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 altLang="zh-CN" smtClean="0"/>
              <a:pPr/>
              <a:t>9/18/2020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altLang="zh-CN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06952" y="1316736"/>
            <a:ext cx="10360501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06952" y="2704664"/>
            <a:ext cx="10360501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 altLang="zh-CN" smtClean="0"/>
              <a:pPr/>
              <a:t>9/18/2020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altLang="zh-CN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441" y="704088"/>
            <a:ext cx="10969943" cy="1143000"/>
          </a:xfrm>
        </p:spPr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441" y="1920085"/>
            <a:ext cx="5383398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986" y="1920085"/>
            <a:ext cx="5383398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 altLang="zh-CN" smtClean="0"/>
              <a:pPr/>
              <a:t>9/18/2020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altLang="zh-CN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441" y="704088"/>
            <a:ext cx="10969943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441" y="1855248"/>
            <a:ext cx="5385514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6191754" y="1859758"/>
            <a:ext cx="5387630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609441" y="2514600"/>
            <a:ext cx="5385514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1754" y="2514600"/>
            <a:ext cx="5387630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 altLang="zh-CN" smtClean="0"/>
              <a:pPr/>
              <a:t>9/18/2020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altLang="zh-CN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441" y="704088"/>
            <a:ext cx="11071516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 altLang="zh-CN" smtClean="0"/>
              <a:pPr/>
              <a:t>9/18/2020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altLang="zh-CN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 altLang="zh-CN" smtClean="0"/>
              <a:pPr/>
              <a:t>9/18/2020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altLang="zh-CN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162" y="514352"/>
            <a:ext cx="3656648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914162" y="1676400"/>
            <a:ext cx="3656648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4765492" y="1676400"/>
            <a:ext cx="6813892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 altLang="zh-CN" smtClean="0"/>
              <a:pPr/>
              <a:t>9/18/2020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altLang="zh-CN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单圆角矩形 8"/>
          <p:cNvSpPr/>
          <p:nvPr/>
        </p:nvSpPr>
        <p:spPr>
          <a:xfrm rot="420000" flipV="1">
            <a:off x="4219905" y="1108077"/>
            <a:ext cx="7008574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直角三角形 11"/>
          <p:cNvSpPr/>
          <p:nvPr/>
        </p:nvSpPr>
        <p:spPr>
          <a:xfrm rot="420000" flipV="1">
            <a:off x="10669399" y="5359769"/>
            <a:ext cx="207210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2588" y="1176997"/>
            <a:ext cx="2949696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12588" y="2828785"/>
            <a:ext cx="2945633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 altLang="zh-CN" smtClean="0"/>
              <a:pPr/>
              <a:t>9/18/2020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0766796" y="6356351"/>
            <a:ext cx="812588" cy="365125"/>
          </a:xfrm>
        </p:spPr>
        <p:txBody>
          <a:bodyPr/>
          <a:lstStyle/>
          <a:p>
            <a:fld id="{F36C87F6-986D-49E6-AF40-1B3A1EE8064D}" type="slidenum">
              <a:rPr lang="en-US" altLang="zh-CN" smtClean="0"/>
              <a:pPr/>
              <a:t>‹#›</a:t>
            </a:fld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 rot="420000">
            <a:off x="4646513" y="1199517"/>
            <a:ext cx="6155357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  <p:sp>
        <p:nvSpPr>
          <p:cNvPr id="10" name="任意多边形 9"/>
          <p:cNvSpPr>
            <a:spLocks/>
          </p:cNvSpPr>
          <p:nvPr/>
        </p:nvSpPr>
        <p:spPr bwMode="auto">
          <a:xfrm flipV="1">
            <a:off x="-12697" y="5816600"/>
            <a:ext cx="12214218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任意多边形 10"/>
          <p:cNvSpPr>
            <a:spLocks/>
          </p:cNvSpPr>
          <p:nvPr/>
        </p:nvSpPr>
        <p:spPr bwMode="auto">
          <a:xfrm flipV="1">
            <a:off x="5840479" y="6219826"/>
            <a:ext cx="6348346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 altLang="zh-CN" smtClean="0"/>
              <a:pPr/>
              <a:t>9/18/2020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altLang="zh-CN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6898" y="914402"/>
            <a:ext cx="2742486" cy="5211763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441" y="914402"/>
            <a:ext cx="8024310" cy="5211763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 altLang="zh-CN" smtClean="0"/>
              <a:pPr/>
              <a:t>9/18/2020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altLang="zh-CN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>
            <a:spLocks/>
          </p:cNvSpPr>
          <p:nvPr/>
        </p:nvSpPr>
        <p:spPr bwMode="auto">
          <a:xfrm>
            <a:off x="-12697" y="-7144"/>
            <a:ext cx="12214218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任意多边形 7"/>
          <p:cNvSpPr>
            <a:spLocks/>
          </p:cNvSpPr>
          <p:nvPr/>
        </p:nvSpPr>
        <p:spPr bwMode="auto">
          <a:xfrm>
            <a:off x="5840479" y="-7144"/>
            <a:ext cx="6348346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标题占位符 8"/>
          <p:cNvSpPr>
            <a:spLocks noGrp="1"/>
          </p:cNvSpPr>
          <p:nvPr>
            <p:ph type="title"/>
          </p:nvPr>
        </p:nvSpPr>
        <p:spPr>
          <a:xfrm>
            <a:off x="609441" y="704088"/>
            <a:ext cx="10969943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0" name="文本占位符 29"/>
          <p:cNvSpPr>
            <a:spLocks noGrp="1"/>
          </p:cNvSpPr>
          <p:nvPr>
            <p:ph type="body" idx="1"/>
          </p:nvPr>
        </p:nvSpPr>
        <p:spPr>
          <a:xfrm>
            <a:off x="609441" y="1935480"/>
            <a:ext cx="10969943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EDF33987-6305-4E2A-BF18-EF013ECE927B}" type="datetimeFigureOut">
              <a:rPr lang="en-US" altLang="zh-CN" smtClean="0"/>
              <a:pPr/>
              <a:t>9/18/2020</a:t>
            </a:fld>
            <a:endParaRPr lang="zh-CN" altLang="en-US"/>
          </a:p>
        </p:txBody>
      </p:sp>
      <p:sp>
        <p:nvSpPr>
          <p:cNvPr id="22" name="页脚占位符 21"/>
          <p:cNvSpPr>
            <a:spLocks noGrp="1"/>
          </p:cNvSpPr>
          <p:nvPr>
            <p:ph type="ftr" sz="quarter" idx="3"/>
          </p:nvPr>
        </p:nvSpPr>
        <p:spPr>
          <a:xfrm>
            <a:off x="3555074" y="6356351"/>
            <a:ext cx="4469236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4"/>
          </p:nvPr>
        </p:nvSpPr>
        <p:spPr>
          <a:xfrm>
            <a:off x="10563649" y="6356351"/>
            <a:ext cx="1015735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F36C87F6-986D-49E6-AF40-1B3A1EE8064D}" type="slidenum">
              <a:rPr lang="en-US" altLang="zh-CN" smtClean="0"/>
              <a:pPr/>
              <a:t>‹#›</a:t>
            </a:fld>
            <a:endParaRPr lang="en-US" altLang="zh-CN"/>
          </a:p>
        </p:txBody>
      </p:sp>
      <p:grpSp>
        <p:nvGrpSpPr>
          <p:cNvPr id="2" name="组合 1"/>
          <p:cNvGrpSpPr/>
          <p:nvPr/>
        </p:nvGrpSpPr>
        <p:grpSpPr>
          <a:xfrm>
            <a:off x="-25349" y="202408"/>
            <a:ext cx="12237543" cy="649224"/>
            <a:chOff x="-19045" y="216550"/>
            <a:chExt cx="9180548" cy="649224"/>
          </a:xfrm>
        </p:grpSpPr>
        <p:sp>
          <p:nvSpPr>
            <p:cNvPr id="12" name="任意多边形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任意多边形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3" r:id="rId1"/>
    <p:sldLayoutId id="2147483974" r:id="rId2"/>
    <p:sldLayoutId id="2147483975" r:id="rId3"/>
    <p:sldLayoutId id="2147483976" r:id="rId4"/>
    <p:sldLayoutId id="2147483977" r:id="rId5"/>
    <p:sldLayoutId id="2147483978" r:id="rId6"/>
    <p:sldLayoutId id="2147483979" r:id="rId7"/>
    <p:sldLayoutId id="2147483980" r:id="rId8"/>
    <p:sldLayoutId id="2147483981" r:id="rId9"/>
    <p:sldLayoutId id="2147483982" r:id="rId10"/>
    <p:sldLayoutId id="2147483983" r:id="rId11"/>
  </p:sldLayoutIdLst>
  <p:transition spd="med">
    <p:fade/>
  </p:transition>
  <p:timing>
    <p:tnLst>
      <p:par>
        <p:cTn id="1" dur="indefinite" restart="never" nodeType="tmRoot"/>
      </p:par>
    </p:tnLst>
  </p:timing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iobe.com/tiobe-index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zh-CN" altLang="en-US" dirty="0" smtClean="0"/>
              <a:t>一、</a:t>
            </a:r>
            <a:r>
              <a:rPr lang="en-US" altLang="zh-CN" dirty="0" smtClean="0"/>
              <a:t>Python</a:t>
            </a:r>
            <a:r>
              <a:rPr lang="zh-CN" altLang="en-US" dirty="0" smtClean="0"/>
              <a:t>基础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altLang="zh-CN" dirty="0" smtClean="0"/>
              <a:t>Python</a:t>
            </a:r>
            <a:r>
              <a:rPr lang="zh-CN" altLang="en-US" dirty="0" smtClean="0"/>
              <a:t>简介、安装与运行</a:t>
            </a:r>
            <a:endParaRPr lang="en-US" altLang="zh-CN" dirty="0" smtClean="0"/>
          </a:p>
          <a:p>
            <a:pPr algn="ctr"/>
            <a:r>
              <a:rPr lang="en-US" altLang="zh-CN" dirty="0" smtClean="0"/>
              <a:t>Python2</a:t>
            </a:r>
            <a:r>
              <a:rPr lang="zh-CN" altLang="en-US" dirty="0" smtClean="0"/>
              <a:t>与</a:t>
            </a:r>
            <a:r>
              <a:rPr lang="en-US" altLang="zh-CN" dirty="0" smtClean="0"/>
              <a:t>Python3</a:t>
            </a:r>
            <a:r>
              <a:rPr lang="zh-CN" altLang="en-US" dirty="0" smtClean="0"/>
              <a:t>的区别（自学）</a:t>
            </a:r>
            <a:endParaRPr lang="en-US" altLang="zh-CN" dirty="0" smtClean="0"/>
          </a:p>
          <a:p>
            <a:pPr algn="ctr"/>
            <a:r>
              <a:rPr lang="en-US" altLang="zh-CN" dirty="0" smtClean="0"/>
              <a:t>Python</a:t>
            </a:r>
            <a:r>
              <a:rPr lang="zh-CN" altLang="en-US" dirty="0" smtClean="0"/>
              <a:t>数据类型与运算</a:t>
            </a:r>
            <a:endParaRPr lang="zh-CN" altLang="en-US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477035" y="1916832"/>
            <a:ext cx="8744702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304800"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3600" b="1" kern="0" dirty="0" smtClean="0">
                <a:solidFill>
                  <a:srgbClr val="FF0000"/>
                </a:solidFill>
                <a:latin typeface="Calibri" panose="020F0502020204030204" pitchFamily="34" charset="0"/>
                <a:ea typeface="仿宋" panose="02010609060101010101" pitchFamily="49" charset="-122"/>
                <a:cs typeface="宋体" panose="02010600030101010101" pitchFamily="2" charset="-122"/>
              </a:rPr>
              <a:t>学习资料：</a:t>
            </a:r>
            <a:endParaRPr lang="en-US" altLang="zh-CN" sz="3600" b="1" kern="0" dirty="0" smtClean="0">
              <a:solidFill>
                <a:srgbClr val="FF0000"/>
              </a:solidFill>
              <a:latin typeface="Calibri" panose="020F0502020204030204" pitchFamily="34" charset="0"/>
              <a:ea typeface="仿宋" panose="02010609060101010101" pitchFamily="49" charset="-122"/>
              <a:cs typeface="宋体" panose="02010600030101010101" pitchFamily="2" charset="-122"/>
            </a:endParaRPr>
          </a:p>
          <a:p>
            <a:pPr indent="3048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3600" b="1" kern="0" dirty="0" smtClean="0">
                <a:solidFill>
                  <a:srgbClr val="FF0000"/>
                </a:solidFill>
                <a:latin typeface="Calibri" panose="020F0502020204030204" pitchFamily="34" charset="0"/>
                <a:ea typeface="仿宋" panose="02010609060101010101" pitchFamily="49" charset="-122"/>
                <a:cs typeface="宋体" panose="02010600030101010101" pitchFamily="2" charset="-122"/>
              </a:rPr>
              <a:t>PPT</a:t>
            </a:r>
            <a:r>
              <a:rPr lang="zh-CN" altLang="en-US" sz="3600" b="1" kern="0" dirty="0" smtClean="0">
                <a:solidFill>
                  <a:srgbClr val="FF0000"/>
                </a:solidFill>
                <a:latin typeface="Calibri" panose="020F0502020204030204" pitchFamily="34" charset="0"/>
                <a:ea typeface="仿宋" panose="02010609060101010101" pitchFamily="49" charset="-122"/>
                <a:cs typeface="宋体" panose="02010600030101010101" pitchFamily="2" charset="-122"/>
              </a:rPr>
              <a:t>文件：辅助资料</a:t>
            </a:r>
            <a:r>
              <a:rPr lang="en-US" altLang="zh-CN" sz="3600" b="1" kern="0" dirty="0" smtClean="0">
                <a:solidFill>
                  <a:srgbClr val="FF0000"/>
                </a:solidFill>
                <a:latin typeface="Calibri" panose="020F0502020204030204" pitchFamily="34" charset="0"/>
                <a:ea typeface="仿宋" panose="02010609060101010101" pitchFamily="49" charset="-122"/>
                <a:cs typeface="宋体" panose="02010600030101010101" pitchFamily="2" charset="-122"/>
              </a:rPr>
              <a:t>-Python</a:t>
            </a:r>
            <a:r>
              <a:rPr lang="zh-CN" altLang="en-US" sz="3600" b="1" kern="0" dirty="0" smtClean="0">
                <a:solidFill>
                  <a:srgbClr val="FF0000"/>
                </a:solidFill>
                <a:latin typeface="Calibri" panose="020F0502020204030204" pitchFamily="34" charset="0"/>
                <a:ea typeface="仿宋" panose="02010609060101010101" pitchFamily="49" charset="-122"/>
                <a:cs typeface="宋体" panose="02010600030101010101" pitchFamily="2" charset="-122"/>
              </a:rPr>
              <a:t>集成环境介绍</a:t>
            </a:r>
            <a:endParaRPr lang="zh-CN" altLang="zh-CN" sz="3600" b="1" kern="100" dirty="0">
              <a:solidFill>
                <a:srgbClr val="FF0000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88640"/>
            <a:ext cx="12071076" cy="5447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1700"/>
              </a:spcBef>
              <a:spcAft>
                <a:spcPts val="0"/>
              </a:spcAft>
            </a:pPr>
            <a:r>
              <a:rPr lang="zh-CN" altLang="zh-CN" sz="3600" b="1" kern="2200" dirty="0">
                <a:latin typeface="Calibri" panose="020F050202020403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第</a:t>
            </a:r>
            <a:r>
              <a:rPr lang="zh-CN" altLang="zh-CN" sz="3600" b="1" kern="2200" dirty="0" smtClean="0">
                <a:latin typeface="Calibri" panose="020F050202020403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一部分</a:t>
            </a:r>
            <a:r>
              <a:rPr lang="en-US" altLang="zh-CN" sz="3600" b="1" kern="2200" dirty="0" smtClean="0">
                <a:latin typeface="Calibri" panose="020F050202020403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 </a:t>
            </a:r>
            <a:r>
              <a:rPr lang="en-US" altLang="zh-CN" sz="3600" b="1" kern="2200" dirty="0">
                <a:latin typeface="Calibri" panose="020F050202020403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Python</a:t>
            </a:r>
            <a:r>
              <a:rPr lang="zh-CN" altLang="zh-CN" sz="3600" b="1" kern="2200" dirty="0">
                <a:latin typeface="Calibri" panose="020F050202020403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简介</a:t>
            </a:r>
            <a:endParaRPr lang="zh-CN" altLang="zh-CN" sz="3600" b="1" kern="22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indent="803275">
              <a:lnSpc>
                <a:spcPct val="150000"/>
              </a:lnSpc>
            </a:pPr>
            <a:r>
              <a:rPr lang="en-US" altLang="zh-CN" sz="2800" b="1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Python</a:t>
            </a:r>
            <a:r>
              <a:rPr lang="zh-CN" altLang="zh-CN" sz="2800" b="1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语言</a:t>
            </a:r>
            <a:r>
              <a:rPr lang="zh-CN" altLang="en-US" sz="2800" b="1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崇尚优美、清晰、简单，</a:t>
            </a:r>
            <a:r>
              <a:rPr lang="zh-CN" altLang="zh-CN" sz="2800" b="1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是一种</a:t>
            </a:r>
            <a:r>
              <a:rPr lang="zh-CN" altLang="en-US" sz="2800" b="1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优秀并广泛使用</a:t>
            </a:r>
            <a:r>
              <a:rPr lang="zh-CN" altLang="zh-CN" sz="2800" b="1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编程语言</a:t>
            </a:r>
            <a:r>
              <a:rPr lang="zh-CN" altLang="en-US" sz="2800" b="1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。</a:t>
            </a:r>
            <a:endParaRPr lang="zh-CN" altLang="zh-CN" sz="2800" b="1" kern="100" dirty="0"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  <a:p>
            <a:pPr indent="803275">
              <a:lnSpc>
                <a:spcPct val="150000"/>
              </a:lnSpc>
            </a:pPr>
            <a:r>
              <a:rPr lang="en-US" altLang="zh-CN" sz="2800" b="1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Python</a:t>
            </a:r>
            <a:r>
              <a:rPr lang="zh-CN" altLang="zh-CN" sz="2800" b="1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简单</a:t>
            </a:r>
            <a:r>
              <a:rPr lang="zh-CN" altLang="en-US" sz="2800" b="1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易学</a:t>
            </a:r>
            <a:r>
              <a:rPr lang="zh-CN" altLang="zh-CN" sz="2800" b="1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又功能强大</a:t>
            </a:r>
            <a:r>
              <a:rPr lang="zh-CN" altLang="en-US" sz="2800" b="1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，</a:t>
            </a:r>
            <a:r>
              <a:rPr lang="zh-CN" altLang="zh-CN" sz="2800" b="1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有</a:t>
            </a:r>
            <a:r>
              <a:rPr lang="zh-CN" altLang="en-US" sz="2800" b="1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着</a:t>
            </a:r>
            <a:r>
              <a:rPr lang="zh-CN" altLang="zh-CN" sz="2800" b="1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高效率</a:t>
            </a:r>
            <a:r>
              <a:rPr lang="zh-CN" altLang="zh-CN" sz="2800" b="1" kern="0" dirty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的高层数据结构，简单而有效地实现面向对象</a:t>
            </a:r>
            <a:r>
              <a:rPr lang="zh-CN" altLang="zh-CN" sz="2800" b="1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编程。</a:t>
            </a:r>
            <a:r>
              <a:rPr lang="zh-CN" altLang="en-US" sz="2800" b="1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支持解释运行，并能调用</a:t>
            </a:r>
            <a:r>
              <a:rPr lang="en-US" altLang="zh-CN" sz="2800" b="1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C</a:t>
            </a:r>
            <a:r>
              <a:rPr lang="zh-CN" altLang="en-US" sz="2800" b="1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库进行扩展。有着自身强大的标准库，同时还有众多非常优秀的第三方库（</a:t>
            </a:r>
            <a:r>
              <a:rPr lang="en-US" altLang="zh-CN" sz="2800" b="1" kern="0" dirty="0" err="1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Numpy</a:t>
            </a:r>
            <a:r>
              <a:rPr lang="zh-CN" altLang="en-US" sz="2800" b="1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、</a:t>
            </a:r>
            <a:r>
              <a:rPr lang="en-US" altLang="zh-CN" sz="2800" b="1" kern="0" dirty="0" err="1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Matplotlib</a:t>
            </a:r>
            <a:r>
              <a:rPr lang="zh-CN" altLang="en-US" sz="2800" b="1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、</a:t>
            </a:r>
            <a:r>
              <a:rPr lang="en-US" altLang="zh-CN" sz="2800" b="1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PIL</a:t>
            </a:r>
            <a:r>
              <a:rPr lang="zh-CN" altLang="en-US" sz="2800" b="1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、</a:t>
            </a:r>
            <a:r>
              <a:rPr lang="en-US" altLang="zh-CN" sz="2800" b="1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Pandas</a:t>
            </a:r>
            <a:r>
              <a:rPr lang="zh-CN" altLang="en-US" sz="2800" b="1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、</a:t>
            </a:r>
            <a:r>
              <a:rPr lang="en-US" altLang="zh-CN" sz="2800" b="1" kern="0" dirty="0" err="1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Django</a:t>
            </a:r>
            <a:r>
              <a:rPr lang="zh-CN" altLang="en-US" sz="2800" b="1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、</a:t>
            </a:r>
            <a:r>
              <a:rPr lang="en-US" altLang="zh-CN" sz="2800" b="1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web </a:t>
            </a:r>
            <a:r>
              <a:rPr lang="zh-CN" altLang="en-US" sz="2800" b="1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、</a:t>
            </a:r>
            <a:r>
              <a:rPr lang="en-US" altLang="zh-CN" sz="2800" b="1" kern="0" dirty="0" err="1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py</a:t>
            </a:r>
            <a:r>
              <a:rPr lang="zh-CN" altLang="en-US" sz="2800" b="1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、</a:t>
            </a:r>
            <a:r>
              <a:rPr lang="en-US" altLang="zh-CN" sz="2800" b="1" kern="0" dirty="0" err="1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wxPython</a:t>
            </a:r>
            <a:r>
              <a:rPr lang="zh-CN" altLang="en-US" sz="2800" b="1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等）支持。</a:t>
            </a:r>
            <a:endParaRPr lang="en-US" altLang="zh-CN" sz="2800" b="1" kern="0" dirty="0" smtClean="0">
              <a:solidFill>
                <a:srgbClr val="3E3E3E"/>
              </a:solidFill>
              <a:latin typeface="楷体" pitchFamily="49" charset="-122"/>
              <a:ea typeface="楷体" pitchFamily="49" charset="-122"/>
              <a:cs typeface="Helvetica" panose="020B0604020202020204" pitchFamily="34" charset="0"/>
            </a:endParaRPr>
          </a:p>
          <a:p>
            <a:pPr indent="714375">
              <a:lnSpc>
                <a:spcPct val="150000"/>
              </a:lnSpc>
            </a:pPr>
            <a:r>
              <a:rPr lang="zh-CN" altLang="en-US" sz="2800" b="1" kern="0" dirty="0" smtClean="0">
                <a:solidFill>
                  <a:srgbClr val="3E3E3E"/>
                </a:solidFill>
                <a:effectLst/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在</a:t>
            </a:r>
            <a:r>
              <a:rPr lang="en-US" altLang="zh-CN" sz="2800" b="1" kern="0" dirty="0" smtClean="0">
                <a:solidFill>
                  <a:srgbClr val="3E3E3E"/>
                </a:solidFill>
                <a:effectLst/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TIOBE</a:t>
            </a:r>
            <a:r>
              <a:rPr lang="zh-CN" altLang="en-US" sz="2800" b="1" kern="0" dirty="0" smtClean="0">
                <a:solidFill>
                  <a:srgbClr val="3E3E3E"/>
                </a:solidFill>
                <a:effectLst/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排行榜中排行第三（</a:t>
            </a:r>
            <a:r>
              <a:rPr lang="en-US" altLang="zh-CN" sz="2800" b="1" dirty="0" smtClean="0">
                <a:solidFill>
                  <a:schemeClr val="accent4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hlinkClick r:id="rId3"/>
              </a:rPr>
              <a:t>https://www.tiobe.com/tiobe-index/ </a:t>
            </a:r>
            <a:r>
              <a:rPr lang="zh-CN" altLang="en-US" sz="2800" dirty="0" smtClean="0">
                <a:latin typeface="楷体" pitchFamily="49" charset="-122"/>
                <a:ea typeface="楷体" pitchFamily="49" charset="-122"/>
              </a:rPr>
              <a:t>）</a:t>
            </a:r>
            <a:r>
              <a:rPr lang="zh-CN" altLang="en-US" sz="2800" b="1" kern="0" dirty="0" smtClean="0">
                <a:solidFill>
                  <a:srgbClr val="3E3E3E"/>
                </a:solidFill>
                <a:effectLst/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，是</a:t>
            </a:r>
            <a:r>
              <a:rPr lang="en-US" altLang="zh-CN" sz="2800" b="1" kern="0" dirty="0" smtClean="0">
                <a:solidFill>
                  <a:srgbClr val="3E3E3E"/>
                </a:solidFill>
                <a:effectLst/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Google</a:t>
            </a:r>
            <a:r>
              <a:rPr lang="zh-CN" altLang="en-US" sz="2800" b="1" kern="0" dirty="0" smtClean="0">
                <a:solidFill>
                  <a:srgbClr val="3E3E3E"/>
                </a:solidFill>
                <a:effectLst/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的第三大开发语言，</a:t>
            </a:r>
            <a:r>
              <a:rPr lang="en-US" altLang="zh-CN" sz="2800" b="1" kern="0" dirty="0" err="1" smtClean="0">
                <a:solidFill>
                  <a:srgbClr val="3E3E3E"/>
                </a:solidFill>
                <a:effectLst/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Dropbox</a:t>
            </a:r>
            <a:r>
              <a:rPr lang="zh-CN" altLang="en-US" sz="2800" b="1" kern="0" dirty="0" smtClean="0">
                <a:solidFill>
                  <a:srgbClr val="3E3E3E"/>
                </a:solidFill>
                <a:effectLst/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的基础语言、豆瓣</a:t>
            </a:r>
            <a:r>
              <a:rPr lang="zh-CN" altLang="en-US" sz="2800" b="1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的服务器语言</a:t>
            </a:r>
            <a:r>
              <a:rPr lang="zh-CN" altLang="en-US" sz="2800" b="1" kern="0" dirty="0" smtClean="0">
                <a:solidFill>
                  <a:srgbClr val="3E3E3E"/>
                </a:solidFill>
                <a:effectLst/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等。</a:t>
            </a:r>
            <a:endParaRPr lang="zh-CN" altLang="zh-CN" sz="2800" b="1" kern="100" dirty="0">
              <a:effectLst/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5517232"/>
            <a:ext cx="11999068" cy="1273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2770" indent="-306070">
              <a:lnSpc>
                <a:spcPct val="150000"/>
              </a:lnSpc>
            </a:pPr>
            <a:r>
              <a:rPr lang="zh-CN" altLang="zh-CN" b="1" kern="0" dirty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注释：</a:t>
            </a:r>
            <a:r>
              <a:rPr lang="en-US" altLang="zh-CN" i="1" kern="0" dirty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Python</a:t>
            </a:r>
            <a:r>
              <a:rPr lang="zh-CN" altLang="zh-CN" i="1" kern="0" dirty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语言的</a:t>
            </a:r>
            <a:r>
              <a:rPr lang="zh-CN" altLang="zh-CN" i="1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创造者</a:t>
            </a:r>
            <a:r>
              <a:rPr lang="zh-CN" altLang="en-US" i="1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荷兰人</a:t>
            </a:r>
            <a:r>
              <a:rPr lang="en-US" altLang="zh-CN" i="1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Guido </a:t>
            </a:r>
            <a:r>
              <a:rPr lang="en-US" altLang="zh-CN" i="1" kern="0" dirty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van </a:t>
            </a:r>
            <a:r>
              <a:rPr lang="en-US" altLang="zh-CN" i="1" kern="0" dirty="0" err="1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Rossum</a:t>
            </a:r>
            <a:r>
              <a:rPr lang="zh-CN" altLang="zh-CN" i="1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是</a:t>
            </a:r>
            <a:r>
              <a:rPr lang="zh-CN" altLang="en-US" i="1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他所喜爱的</a:t>
            </a:r>
            <a:r>
              <a:rPr lang="zh-CN" altLang="zh-CN" i="1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根据</a:t>
            </a:r>
            <a:r>
              <a:rPr lang="zh-CN" altLang="zh-CN" i="1" kern="0" dirty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英国广播公司的节目</a:t>
            </a:r>
            <a:r>
              <a:rPr lang="zh-CN" altLang="zh-CN" i="1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“蟒蛇飞行马戏”</a:t>
            </a:r>
            <a:r>
              <a:rPr lang="zh-CN" altLang="en-US" i="1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（</a:t>
            </a:r>
            <a:r>
              <a:rPr lang="en-US" altLang="zh-CN" i="1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Monty Python’s Flying Circus)</a:t>
            </a:r>
            <a:r>
              <a:rPr lang="zh-CN" altLang="zh-CN" i="1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命名</a:t>
            </a:r>
            <a:r>
              <a:rPr lang="zh-CN" altLang="zh-CN" i="1" kern="0" dirty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这个</a:t>
            </a:r>
            <a:r>
              <a:rPr lang="zh-CN" altLang="zh-CN" i="1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语言</a:t>
            </a:r>
            <a:r>
              <a:rPr lang="zh-CN" altLang="en-US" i="1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。</a:t>
            </a:r>
            <a:r>
              <a:rPr lang="en-US" altLang="zh-CN" i="1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1991</a:t>
            </a:r>
            <a:r>
              <a:rPr lang="zh-CN" altLang="en-US" i="1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年</a:t>
            </a:r>
            <a:r>
              <a:rPr lang="en-US" altLang="zh-CN" i="1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Python</a:t>
            </a:r>
            <a:r>
              <a:rPr lang="zh-CN" altLang="en-US" i="1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第一个编译器诞生，用</a:t>
            </a:r>
            <a:r>
              <a:rPr lang="en-US" altLang="zh-CN" i="1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C</a:t>
            </a:r>
            <a:r>
              <a:rPr lang="zh-CN" altLang="en-US" i="1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语言实现，从一开始就有类、函数、异常处理、包含表和词典在内的核心数据类型，以及以模块为基础的拓展系统。</a:t>
            </a:r>
            <a:endParaRPr lang="zh-CN" altLang="zh-CN" sz="1400" kern="100" dirty="0">
              <a:effectLst/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913329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05780" y="980730"/>
            <a:ext cx="11089232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714375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800" kern="100" dirty="0" smtClean="0"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Python</a:t>
            </a:r>
            <a:r>
              <a:rPr lang="zh-CN" altLang="zh-CN" sz="2800" kern="100" dirty="0" smtClean="0"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是</a:t>
            </a:r>
            <a:r>
              <a:rPr lang="zh-CN" altLang="zh-CN" sz="2800" kern="100" dirty="0"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一种十分精彩又强大的</a:t>
            </a:r>
            <a:r>
              <a:rPr lang="zh-CN" altLang="zh-CN" sz="2800" kern="100" dirty="0" smtClean="0"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语言</a:t>
            </a:r>
            <a:r>
              <a:rPr lang="zh-CN" altLang="en-US" sz="2800" kern="100" dirty="0" smtClean="0"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，</a:t>
            </a:r>
            <a:r>
              <a:rPr lang="zh-CN" altLang="zh-CN" sz="2800" kern="100" dirty="0" smtClean="0"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它</a:t>
            </a:r>
            <a:r>
              <a:rPr lang="zh-CN" altLang="zh-CN" sz="2800" kern="100" dirty="0"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合理地结合了高性能</a:t>
            </a:r>
            <a:r>
              <a:rPr lang="zh-CN" altLang="zh-CN" sz="2800" kern="100" dirty="0" smtClean="0"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与编写</a:t>
            </a:r>
            <a:r>
              <a:rPr lang="zh-CN" altLang="zh-CN" sz="2800" kern="100" dirty="0"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程序</a:t>
            </a:r>
            <a:r>
              <a:rPr lang="zh-CN" altLang="zh-CN" sz="2800" kern="100" dirty="0" smtClean="0"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简单有趣的</a:t>
            </a:r>
            <a:r>
              <a:rPr lang="zh-CN" altLang="zh-CN" sz="2800" kern="100" dirty="0"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特色。</a:t>
            </a:r>
            <a:endParaRPr lang="zh-CN" altLang="zh-CN" sz="2800" kern="100" dirty="0"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  <a:p>
            <a:pPr indent="714375">
              <a:lnSpc>
                <a:spcPct val="150000"/>
              </a:lnSpc>
            </a:pPr>
            <a:r>
              <a:rPr lang="zh-CN" altLang="zh-CN" sz="2800" kern="0" dirty="0"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缺点：前后版本不兼容，</a:t>
            </a:r>
            <a:r>
              <a:rPr lang="zh-CN" altLang="zh-CN" sz="2800" kern="0" dirty="0" smtClean="0"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这是</a:t>
            </a:r>
            <a:r>
              <a:rPr lang="zh-CN" altLang="zh-CN" sz="2800" kern="0" dirty="0"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让新、老学习人员头痛的事情。</a:t>
            </a:r>
            <a:endParaRPr lang="zh-CN" altLang="zh-CN" sz="2800" kern="100" dirty="0"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  <a:p>
            <a:pPr indent="714375">
              <a:lnSpc>
                <a:spcPct val="150000"/>
              </a:lnSpc>
            </a:pPr>
            <a:r>
              <a:rPr lang="zh-CN" altLang="zh-CN" sz="2800" kern="0" dirty="0"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因为前后版本不兼容，导致许多人为选择</a:t>
            </a:r>
            <a:r>
              <a:rPr lang="en-US" altLang="zh-CN" sz="2800" kern="0" dirty="0"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python2.x</a:t>
            </a:r>
            <a:r>
              <a:rPr lang="zh-CN" altLang="zh-CN" sz="2800" kern="0" dirty="0"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还是</a:t>
            </a:r>
            <a:r>
              <a:rPr lang="en-US" altLang="zh-CN" sz="2800" kern="0" dirty="0"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python3.x</a:t>
            </a:r>
            <a:r>
              <a:rPr lang="zh-CN" altLang="zh-CN" sz="2800" kern="0" dirty="0"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发愁</a:t>
            </a:r>
            <a:r>
              <a:rPr lang="zh-CN" altLang="zh-CN" sz="2800" kern="0" dirty="0" smtClean="0"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。</a:t>
            </a:r>
            <a:r>
              <a:rPr lang="zh-CN" altLang="zh-CN" sz="2800" b="1" kern="0" dirty="0" smtClean="0"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推荐</a:t>
            </a:r>
            <a:r>
              <a:rPr lang="zh-CN" altLang="zh-CN" sz="2800" b="1" kern="0" dirty="0"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使用</a:t>
            </a:r>
            <a:r>
              <a:rPr lang="en-US" altLang="zh-CN" sz="2800" b="1" kern="0" dirty="0"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python3.x</a:t>
            </a:r>
            <a:r>
              <a:rPr lang="zh-CN" altLang="zh-CN" sz="2800" kern="0" dirty="0" smtClean="0"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。</a:t>
            </a:r>
            <a:endParaRPr lang="zh-CN" altLang="zh-CN" sz="2800" kern="100" dirty="0">
              <a:effectLst/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37828" y="4869160"/>
            <a:ext cx="10513168" cy="875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04800">
              <a:lnSpc>
                <a:spcPct val="150000"/>
              </a:lnSpc>
            </a:pPr>
            <a:r>
              <a:rPr lang="zh-CN" altLang="zh-CN" i="1" kern="100" dirty="0">
                <a:latin typeface="Calibri" panose="020F0502020204030204" pitchFamily="34" charset="0"/>
                <a:ea typeface="仿宋" panose="02010609060101010101" pitchFamily="49" charset="-122"/>
                <a:cs typeface="Times New Roman" panose="02020603050405020304" pitchFamily="18" charset="0"/>
              </a:rPr>
              <a:t>确实还有相当多的程序员在使用</a:t>
            </a:r>
            <a:r>
              <a:rPr lang="en-US" altLang="zh-CN" i="1" kern="100" dirty="0">
                <a:latin typeface="Calibri" panose="020F0502020204030204" pitchFamily="34" charset="0"/>
                <a:ea typeface="仿宋" panose="02010609060101010101" pitchFamily="49" charset="-122"/>
                <a:cs typeface="Times New Roman" panose="02020603050405020304" pitchFamily="18" charset="0"/>
              </a:rPr>
              <a:t> Python2.7</a:t>
            </a:r>
            <a:r>
              <a:rPr lang="zh-CN" altLang="zh-CN" i="1" kern="100" dirty="0">
                <a:latin typeface="Calibri" panose="020F0502020204030204" pitchFamily="34" charset="0"/>
                <a:ea typeface="仿宋" panose="02010609060101010101" pitchFamily="49" charset="-122"/>
                <a:cs typeface="Times New Roman" panose="02020603050405020304" pitchFamily="18" charset="0"/>
              </a:rPr>
              <a:t>，不过</a:t>
            </a:r>
            <a:r>
              <a:rPr lang="en-US" altLang="zh-CN" i="1" kern="100" dirty="0">
                <a:latin typeface="Calibri" panose="020F0502020204030204" pitchFamily="34" charset="0"/>
                <a:ea typeface="仿宋" panose="02010609060101010101" pitchFamily="49" charset="-122"/>
                <a:cs typeface="Times New Roman" panose="02020603050405020304" pitchFamily="18" charset="0"/>
              </a:rPr>
              <a:t> Python3.x</a:t>
            </a:r>
            <a:r>
              <a:rPr lang="zh-CN" altLang="zh-CN" i="1" kern="100" dirty="0">
                <a:latin typeface="Calibri" panose="020F0502020204030204" pitchFamily="34" charset="0"/>
                <a:ea typeface="仿宋" panose="02010609060101010101" pitchFamily="49" charset="-122"/>
                <a:cs typeface="Times New Roman" panose="02020603050405020304" pitchFamily="18" charset="0"/>
              </a:rPr>
              <a:t>才是</a:t>
            </a:r>
            <a:r>
              <a:rPr lang="en-US" altLang="zh-CN" i="1" kern="100" dirty="0">
                <a:latin typeface="Calibri" panose="020F0502020204030204" pitchFamily="34" charset="0"/>
                <a:ea typeface="仿宋" panose="02010609060101010101" pitchFamily="49" charset="-122"/>
                <a:cs typeface="Times New Roman" panose="02020603050405020304" pitchFamily="18" charset="0"/>
              </a:rPr>
              <a:t> Python</a:t>
            </a:r>
            <a:r>
              <a:rPr lang="zh-CN" altLang="zh-CN" i="1" kern="100" dirty="0">
                <a:latin typeface="Calibri" panose="020F0502020204030204" pitchFamily="34" charset="0"/>
                <a:ea typeface="仿宋" panose="02010609060101010101" pitchFamily="49" charset="-122"/>
                <a:cs typeface="Times New Roman" panose="02020603050405020304" pitchFamily="18" charset="0"/>
              </a:rPr>
              <a:t>发展的未来，就像</a:t>
            </a:r>
            <a:r>
              <a:rPr lang="en-US" altLang="zh-CN" i="1" kern="100" dirty="0">
                <a:latin typeface="Calibri" panose="020F0502020204030204" pitchFamily="34" charset="0"/>
                <a:ea typeface="仿宋" panose="02010609060101010101" pitchFamily="49" charset="-122"/>
                <a:cs typeface="Times New Roman" panose="02020603050405020304" pitchFamily="18" charset="0"/>
              </a:rPr>
              <a:t>WIN7</a:t>
            </a:r>
            <a:r>
              <a:rPr lang="zh-CN" altLang="zh-CN" i="1" kern="100" dirty="0">
                <a:latin typeface="Calibri" panose="020F0502020204030204" pitchFamily="34" charset="0"/>
                <a:ea typeface="仿宋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i="1" kern="100" dirty="0">
                <a:latin typeface="Calibri" panose="020F0502020204030204" pitchFamily="34" charset="0"/>
                <a:ea typeface="仿宋" panose="02010609060101010101" pitchFamily="49" charset="-122"/>
                <a:cs typeface="Times New Roman" panose="02020603050405020304" pitchFamily="18" charset="0"/>
              </a:rPr>
              <a:t> WIN10</a:t>
            </a:r>
            <a:r>
              <a:rPr lang="zh-CN" altLang="zh-CN" i="1" kern="100" dirty="0">
                <a:latin typeface="Calibri" panose="020F0502020204030204" pitchFamily="34" charset="0"/>
                <a:ea typeface="仿宋" panose="02010609060101010101" pitchFamily="49" charset="-122"/>
                <a:cs typeface="Times New Roman" panose="02020603050405020304" pitchFamily="18" charset="0"/>
              </a:rPr>
              <a:t>一样</a:t>
            </a:r>
            <a:r>
              <a:rPr lang="zh-CN" altLang="zh-CN" i="1" kern="100" dirty="0" smtClean="0">
                <a:latin typeface="Calibri" panose="020F0502020204030204" pitchFamily="34" charset="0"/>
                <a:ea typeface="仿宋" panose="02010609060101010101" pitchFamily="49" charset="-122"/>
                <a:cs typeface="Times New Roman" panose="02020603050405020304" pitchFamily="18" charset="0"/>
              </a:rPr>
              <a:t>。如果</a:t>
            </a:r>
            <a:r>
              <a:rPr lang="zh-CN" altLang="zh-CN" i="1" kern="100" dirty="0">
                <a:latin typeface="Calibri" panose="020F0502020204030204" pitchFamily="34" charset="0"/>
                <a:ea typeface="仿宋" panose="02010609060101010101" pitchFamily="49" charset="-122"/>
                <a:cs typeface="Times New Roman" panose="02020603050405020304" pitchFamily="18" charset="0"/>
              </a:rPr>
              <a:t>你了解了</a:t>
            </a:r>
            <a:r>
              <a:rPr lang="en-US" altLang="zh-CN" i="1" kern="100" dirty="0">
                <a:latin typeface="Calibri" panose="020F0502020204030204" pitchFamily="34" charset="0"/>
                <a:ea typeface="仿宋" panose="02010609060101010101" pitchFamily="49" charset="-122"/>
                <a:cs typeface="Times New Roman" panose="02020603050405020304" pitchFamily="18" charset="0"/>
              </a:rPr>
              <a:t>Python3</a:t>
            </a:r>
            <a:r>
              <a:rPr lang="zh-CN" altLang="zh-CN" i="1" kern="100" dirty="0" smtClean="0">
                <a:latin typeface="Calibri" panose="020F0502020204030204" pitchFamily="34" charset="0"/>
                <a:ea typeface="仿宋" panose="02010609060101010101" pitchFamily="49" charset="-122"/>
                <a:cs typeface="Times New Roman" panose="02020603050405020304" pitchFamily="18" charset="0"/>
              </a:rPr>
              <a:t>，阅</a:t>
            </a:r>
            <a:r>
              <a:rPr lang="zh-CN" altLang="en-US" i="1" kern="100" dirty="0" smtClean="0">
                <a:latin typeface="Calibri" panose="020F0502020204030204" pitchFamily="34" charset="0"/>
                <a:ea typeface="仿宋" panose="02010609060101010101" pitchFamily="49" charset="-122"/>
                <a:cs typeface="Times New Roman" panose="02020603050405020304" pitchFamily="18" charset="0"/>
              </a:rPr>
              <a:t>读</a:t>
            </a:r>
            <a:r>
              <a:rPr lang="en-US" altLang="zh-CN" i="1" kern="100" dirty="0" smtClean="0">
                <a:latin typeface="Calibri" panose="020F0502020204030204" pitchFamily="34" charset="0"/>
                <a:ea typeface="仿宋" panose="02010609060101010101" pitchFamily="49" charset="-122"/>
                <a:cs typeface="Times New Roman" panose="02020603050405020304" pitchFamily="18" charset="0"/>
              </a:rPr>
              <a:t>Python2</a:t>
            </a:r>
            <a:r>
              <a:rPr lang="zh-CN" altLang="zh-CN" i="1" kern="100" dirty="0">
                <a:latin typeface="Calibri" panose="020F0502020204030204" pitchFamily="34" charset="0"/>
                <a:ea typeface="仿宋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zh-CN" i="1" kern="100" dirty="0" smtClean="0">
                <a:latin typeface="Calibri" panose="020F0502020204030204" pitchFamily="34" charset="0"/>
                <a:ea typeface="仿宋" panose="02010609060101010101" pitchFamily="49" charset="-122"/>
                <a:cs typeface="Times New Roman" panose="02020603050405020304" pitchFamily="18" charset="0"/>
              </a:rPr>
              <a:t>代码根本不成问题</a:t>
            </a:r>
            <a:r>
              <a:rPr lang="zh-CN" altLang="en-US" i="1" kern="100" dirty="0" smtClean="0">
                <a:latin typeface="Calibri" panose="020F0502020204030204" pitchFamily="34" charset="0"/>
                <a:ea typeface="仿宋" panose="02010609060101010101" pitchFamily="49" charset="-122"/>
                <a:cs typeface="Times New Roman" panose="02020603050405020304" pitchFamily="18" charset="0"/>
              </a:rPr>
              <a:t>。</a:t>
            </a:r>
            <a:endParaRPr lang="zh-CN" altLang="zh-CN" sz="1400" i="1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8572524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70476" y="188640"/>
            <a:ext cx="5275665" cy="3130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矩形 1"/>
          <p:cNvSpPr/>
          <p:nvPr/>
        </p:nvSpPr>
        <p:spPr>
          <a:xfrm>
            <a:off x="0" y="-27384"/>
            <a:ext cx="6598468" cy="698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 smtClean="0"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1</a:t>
            </a:r>
            <a:r>
              <a:rPr lang="zh-CN" altLang="en-US" sz="2800" b="1" dirty="0" smtClean="0"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、</a:t>
            </a:r>
            <a:r>
              <a:rPr lang="zh-CN" altLang="zh-CN" sz="2800" b="1" dirty="0" smtClean="0"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安装</a:t>
            </a:r>
            <a:r>
              <a:rPr lang="en-US" altLang="zh-CN" sz="2800" b="1" dirty="0" smtClean="0"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Python</a:t>
            </a:r>
            <a:endParaRPr lang="en-US" altLang="zh-CN" sz="2800" b="1" dirty="0">
              <a:latin typeface="楷体" pitchFamily="49" charset="-122"/>
              <a:ea typeface="楷体" pitchFamily="49" charset="-122"/>
              <a:cs typeface="宋体" panose="02010600030101010101" pitchFamily="2" charset="-122"/>
            </a:endParaRPr>
          </a:p>
          <a:p>
            <a:r>
              <a:rPr lang="zh-CN" altLang="en-US" sz="2800" kern="10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（</a:t>
            </a:r>
            <a:r>
              <a:rPr lang="en-US" altLang="zh-CN" sz="2800" kern="10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1</a:t>
            </a:r>
            <a:r>
              <a:rPr lang="zh-CN" altLang="en-US" sz="2800" kern="10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）下载及安装</a:t>
            </a:r>
            <a:endParaRPr lang="en-US" altLang="zh-CN" sz="2800" kern="100" dirty="0" smtClean="0">
              <a:solidFill>
                <a:srgbClr val="3E3E3E"/>
              </a:solidFill>
              <a:latin typeface="楷体" pitchFamily="49" charset="-122"/>
              <a:ea typeface="楷体" pitchFamily="49" charset="-122"/>
              <a:cs typeface="Helvetica" panose="020B0604020202020204" pitchFamily="34" charset="0"/>
            </a:endParaRPr>
          </a:p>
          <a:p>
            <a:r>
              <a:rPr lang="en-US" altLang="zh-CN" sz="2800" kern="10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  </a:t>
            </a:r>
            <a:r>
              <a:rPr lang="zh-CN" altLang="en-US" sz="2800" kern="10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网址：  </a:t>
            </a:r>
            <a:endParaRPr lang="en-US" altLang="zh-CN" sz="2800" kern="100" dirty="0" smtClean="0">
              <a:solidFill>
                <a:srgbClr val="3E3E3E"/>
              </a:solidFill>
              <a:latin typeface="楷体" pitchFamily="49" charset="-122"/>
              <a:ea typeface="楷体" pitchFamily="49" charset="-122"/>
              <a:cs typeface="Helvetica" panose="020B0604020202020204" pitchFamily="34" charset="0"/>
            </a:endParaRPr>
          </a:p>
          <a:p>
            <a:r>
              <a:rPr lang="en-US" altLang="zh-CN" sz="2800" kern="10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    https</a:t>
            </a:r>
            <a:r>
              <a:rPr lang="en-US" altLang="zh-CN" sz="2800" kern="100" dirty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://</a:t>
            </a:r>
            <a:r>
              <a:rPr lang="en-US" altLang="zh-CN" sz="2800" kern="10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Python.org/download</a:t>
            </a:r>
            <a:endParaRPr lang="zh-CN" altLang="zh-CN" sz="2800" kern="100" dirty="0"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  <a:p>
            <a:pPr indent="623888">
              <a:lnSpc>
                <a:spcPct val="150000"/>
              </a:lnSpc>
              <a:spcAft>
                <a:spcPts val="0"/>
              </a:spcAft>
            </a:pPr>
            <a:r>
              <a:rPr lang="zh-CN" altLang="en-US" sz="2800" kern="0" dirty="0" smtClean="0">
                <a:solidFill>
                  <a:srgbClr val="333333"/>
                </a:solidFill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目前</a:t>
            </a:r>
            <a:r>
              <a:rPr lang="zh-CN" altLang="zh-CN" sz="2800" kern="0" dirty="0" smtClean="0">
                <a:solidFill>
                  <a:srgbClr val="333333"/>
                </a:solidFill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使用</a:t>
            </a:r>
            <a:r>
              <a:rPr lang="zh-CN" altLang="zh-CN" sz="2800" kern="0" dirty="0">
                <a:solidFill>
                  <a:srgbClr val="333333"/>
                </a:solidFill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的是最新版</a:t>
            </a:r>
            <a:r>
              <a:rPr lang="en-US" altLang="zh-CN" sz="2800" kern="0" dirty="0" smtClean="0">
                <a:solidFill>
                  <a:srgbClr val="333333"/>
                </a:solidFill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Python3.8.5</a:t>
            </a:r>
            <a:r>
              <a:rPr lang="zh-CN" altLang="en-US" sz="2800" kern="0" dirty="0" smtClean="0">
                <a:solidFill>
                  <a:srgbClr val="333333"/>
                </a:solidFill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。</a:t>
            </a:r>
            <a:endParaRPr lang="en-US" altLang="zh-CN" sz="2800" kern="0" dirty="0" smtClean="0">
              <a:solidFill>
                <a:srgbClr val="333333"/>
              </a:solidFill>
              <a:latin typeface="楷体" pitchFamily="49" charset="-122"/>
              <a:ea typeface="楷体" pitchFamily="49" charset="-122"/>
              <a:cs typeface="宋体" panose="02010600030101010101" pitchFamily="2" charset="-122"/>
            </a:endParaRPr>
          </a:p>
          <a:p>
            <a:pPr indent="623888">
              <a:lnSpc>
                <a:spcPct val="150000"/>
              </a:lnSpc>
              <a:spcAft>
                <a:spcPts val="0"/>
              </a:spcAft>
            </a:pPr>
            <a:endParaRPr lang="en-US" altLang="zh-CN" sz="2800" kern="0" dirty="0" smtClean="0">
              <a:solidFill>
                <a:srgbClr val="333333"/>
              </a:solidFill>
              <a:latin typeface="楷体" pitchFamily="49" charset="-122"/>
              <a:ea typeface="楷体" pitchFamily="49" charset="-122"/>
              <a:cs typeface="宋体" panose="02010600030101010101" pitchFamily="2" charset="-122"/>
            </a:endParaRPr>
          </a:p>
          <a:p>
            <a:pPr indent="623888">
              <a:lnSpc>
                <a:spcPct val="150000"/>
              </a:lnSpc>
              <a:spcAft>
                <a:spcPts val="0"/>
              </a:spcAft>
            </a:pPr>
            <a:endParaRPr lang="en-US" altLang="zh-CN" sz="2800" kern="0" dirty="0" smtClean="0">
              <a:solidFill>
                <a:srgbClr val="333333"/>
              </a:solidFill>
              <a:latin typeface="楷体" pitchFamily="49" charset="-122"/>
              <a:ea typeface="楷体" pitchFamily="49" charset="-122"/>
              <a:cs typeface="宋体" panose="02010600030101010101" pitchFamily="2" charset="-122"/>
            </a:endParaRPr>
          </a:p>
          <a:p>
            <a:pPr indent="88900">
              <a:lnSpc>
                <a:spcPct val="150000"/>
              </a:lnSpc>
              <a:spcAft>
                <a:spcPts val="0"/>
              </a:spcAft>
            </a:pPr>
            <a:r>
              <a:rPr lang="zh-CN" altLang="en-US" sz="2800" kern="0" dirty="0" smtClean="0">
                <a:solidFill>
                  <a:srgbClr val="333333"/>
                </a:solidFill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先下载</a:t>
            </a:r>
            <a:r>
              <a:rPr lang="en-US" altLang="zh-CN" sz="2800" kern="0" dirty="0" smtClean="0">
                <a:solidFill>
                  <a:srgbClr val="333333"/>
                </a:solidFill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python-3.8.5.exe</a:t>
            </a:r>
            <a:r>
              <a:rPr lang="zh-CN" altLang="en-US" sz="2800" kern="0" dirty="0" smtClean="0">
                <a:solidFill>
                  <a:srgbClr val="333333"/>
                </a:solidFill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文件（图</a:t>
            </a:r>
            <a:r>
              <a:rPr lang="en-US" altLang="zh-CN" sz="2800" kern="0" dirty="0" smtClean="0">
                <a:solidFill>
                  <a:srgbClr val="333333"/>
                </a:solidFill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1 </a:t>
            </a:r>
            <a:r>
              <a:rPr lang="zh-CN" altLang="en-US" sz="2800" kern="0" dirty="0" smtClean="0">
                <a:solidFill>
                  <a:srgbClr val="333333"/>
                </a:solidFill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），然后运行该文件。</a:t>
            </a:r>
            <a:endParaRPr lang="en-US" altLang="zh-CN" sz="2800" kern="0" dirty="0" smtClean="0">
              <a:solidFill>
                <a:srgbClr val="333333"/>
              </a:solidFill>
              <a:latin typeface="楷体" pitchFamily="49" charset="-122"/>
              <a:ea typeface="楷体" pitchFamily="49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CN" altLang="en-US" sz="2800" kern="0" dirty="0" smtClean="0">
                <a:solidFill>
                  <a:srgbClr val="FF0000"/>
                </a:solidFill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安装方法一</a:t>
            </a:r>
            <a:r>
              <a:rPr lang="zh-CN" altLang="en-US" sz="2800" kern="0" dirty="0" smtClean="0">
                <a:solidFill>
                  <a:srgbClr val="333333"/>
                </a:solidFill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：单</a:t>
            </a:r>
            <a:r>
              <a:rPr lang="zh-CN" altLang="zh-CN" sz="2800" kern="0" dirty="0" smtClean="0">
                <a:solidFill>
                  <a:srgbClr val="333333"/>
                </a:solidFill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击“</a:t>
            </a:r>
            <a:r>
              <a:rPr lang="en-US" altLang="zh-CN" sz="2800" kern="0" dirty="0" smtClean="0">
                <a:solidFill>
                  <a:srgbClr val="333333"/>
                </a:solidFill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Install Now</a:t>
            </a:r>
            <a:r>
              <a:rPr lang="zh-CN" altLang="zh-CN" sz="2800" kern="0" dirty="0" smtClean="0">
                <a:solidFill>
                  <a:srgbClr val="333333"/>
                </a:solidFill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”</a:t>
            </a:r>
            <a:r>
              <a:rPr lang="zh-CN" altLang="en-US" sz="2800" kern="0" dirty="0" smtClean="0">
                <a:solidFill>
                  <a:srgbClr val="333333"/>
                </a:solidFill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（图</a:t>
            </a:r>
            <a:r>
              <a:rPr lang="en-US" altLang="zh-CN" sz="2800" kern="0" dirty="0" smtClean="0">
                <a:solidFill>
                  <a:srgbClr val="333333"/>
                </a:solidFill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2</a:t>
            </a:r>
            <a:r>
              <a:rPr lang="zh-CN" altLang="en-US" sz="2800" kern="0" dirty="0" smtClean="0">
                <a:solidFill>
                  <a:srgbClr val="333333"/>
                </a:solidFill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）</a:t>
            </a:r>
            <a:endParaRPr lang="en-US" altLang="zh-CN" sz="2800" kern="0" dirty="0" smtClean="0">
              <a:solidFill>
                <a:srgbClr val="333333"/>
              </a:solidFill>
              <a:latin typeface="楷体" pitchFamily="49" charset="-122"/>
              <a:ea typeface="楷体" pitchFamily="49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CN" altLang="en-US" sz="2800" b="1" kern="0" dirty="0" smtClean="0">
                <a:solidFill>
                  <a:srgbClr val="333333"/>
                </a:solidFill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注意</a:t>
            </a:r>
            <a:r>
              <a:rPr lang="zh-CN" altLang="en-US" sz="2800" kern="0" dirty="0" smtClean="0">
                <a:solidFill>
                  <a:srgbClr val="333333"/>
                </a:solidFill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：需要</a:t>
            </a:r>
            <a:r>
              <a:rPr lang="zh-CN" altLang="zh-CN" sz="2800" kern="0" dirty="0" smtClean="0">
                <a:solidFill>
                  <a:srgbClr val="333333"/>
                </a:solidFill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勾选</a:t>
            </a:r>
            <a:r>
              <a:rPr lang="zh-CN" altLang="zh-CN" sz="2800" kern="0" dirty="0">
                <a:solidFill>
                  <a:srgbClr val="333333"/>
                </a:solidFill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“</a:t>
            </a:r>
            <a:r>
              <a:rPr lang="en-US" altLang="zh-CN" sz="2800" kern="0" dirty="0">
                <a:solidFill>
                  <a:srgbClr val="333333"/>
                </a:solidFill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Add Python </a:t>
            </a:r>
            <a:r>
              <a:rPr lang="en-US" altLang="zh-CN" sz="2800" kern="0" dirty="0" smtClean="0">
                <a:solidFill>
                  <a:srgbClr val="333333"/>
                </a:solidFill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3.8 </a:t>
            </a:r>
            <a:r>
              <a:rPr lang="en-US" altLang="zh-CN" sz="2800" kern="0" dirty="0">
                <a:solidFill>
                  <a:srgbClr val="333333"/>
                </a:solidFill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to PATH</a:t>
            </a:r>
            <a:r>
              <a:rPr lang="zh-CN" altLang="zh-CN" sz="2800" kern="0" dirty="0" smtClean="0">
                <a:solidFill>
                  <a:srgbClr val="333333"/>
                </a:solidFill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”</a:t>
            </a:r>
            <a:r>
              <a:rPr lang="zh-CN" altLang="en-US" sz="2800" kern="0" dirty="0" smtClean="0">
                <a:solidFill>
                  <a:srgbClr val="333333"/>
                </a:solidFill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，</a:t>
            </a:r>
            <a:r>
              <a:rPr lang="zh-CN" altLang="zh-CN" sz="2800" kern="0" dirty="0" smtClean="0">
                <a:solidFill>
                  <a:srgbClr val="333333"/>
                </a:solidFill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再</a:t>
            </a:r>
            <a:r>
              <a:rPr lang="zh-CN" altLang="en-US" sz="2800" kern="0" dirty="0" smtClean="0">
                <a:solidFill>
                  <a:srgbClr val="333333"/>
                </a:solidFill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安装</a:t>
            </a:r>
            <a:r>
              <a:rPr lang="zh-CN" altLang="zh-CN" sz="2800" kern="0" dirty="0" smtClean="0">
                <a:solidFill>
                  <a:srgbClr val="333333"/>
                </a:solidFill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即可</a:t>
            </a:r>
            <a:r>
              <a:rPr lang="zh-CN" altLang="en-US" sz="2800" kern="0" dirty="0" smtClean="0">
                <a:solidFill>
                  <a:srgbClr val="333333"/>
                </a:solidFill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。</a:t>
            </a:r>
            <a:endParaRPr lang="zh-CN" altLang="zh-CN" sz="2800" kern="100" dirty="0">
              <a:effectLst/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275950" y="2708920"/>
            <a:ext cx="6495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kern="0" dirty="0" smtClean="0">
                <a:solidFill>
                  <a:srgbClr val="FFFF00"/>
                </a:solidFill>
                <a:latin typeface="Calibri" panose="020F0502020204030204" pitchFamily="34" charset="0"/>
                <a:ea typeface="仿宋" panose="02010609060101010101" pitchFamily="49" charset="-122"/>
                <a:cs typeface="宋体" panose="02010600030101010101" pitchFamily="2" charset="-122"/>
              </a:rPr>
              <a:t>图</a:t>
            </a:r>
            <a:r>
              <a:rPr lang="en-US" altLang="zh-CN" sz="2400" b="1" kern="0" dirty="0" smtClean="0">
                <a:solidFill>
                  <a:srgbClr val="FFFF00"/>
                </a:solidFill>
                <a:latin typeface="Calibri" panose="020F0502020204030204" pitchFamily="34" charset="0"/>
                <a:ea typeface="仿宋" panose="02010609060101010101" pitchFamily="49" charset="-122"/>
                <a:cs typeface="宋体" panose="02010600030101010101" pitchFamily="2" charset="-122"/>
              </a:rPr>
              <a:t>1</a:t>
            </a:r>
            <a:endParaRPr lang="zh-CN" altLang="en-US" sz="2400" b="1" dirty="0">
              <a:solidFill>
                <a:srgbClr val="FFFF00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5993942" y="6237312"/>
            <a:ext cx="6479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kern="0" dirty="0" smtClean="0">
                <a:solidFill>
                  <a:srgbClr val="333333"/>
                </a:solidFill>
                <a:latin typeface="Calibri" panose="020F0502020204030204" pitchFamily="34" charset="0"/>
                <a:ea typeface="仿宋" panose="02010609060101010101" pitchFamily="49" charset="-122"/>
                <a:cs typeface="宋体" panose="02010600030101010101" pitchFamily="2" charset="-122"/>
              </a:rPr>
              <a:t>图</a:t>
            </a:r>
            <a:r>
              <a:rPr lang="en-US" altLang="zh-CN" sz="2400" kern="0" dirty="0" smtClean="0">
                <a:solidFill>
                  <a:srgbClr val="333333"/>
                </a:solidFill>
                <a:latin typeface="Calibri" panose="020F0502020204030204" pitchFamily="34" charset="0"/>
                <a:ea typeface="仿宋" panose="02010609060101010101" pitchFamily="49" charset="-122"/>
                <a:cs typeface="宋体" panose="02010600030101010101" pitchFamily="2" charset="-122"/>
              </a:rPr>
              <a:t>2</a:t>
            </a:r>
            <a:endParaRPr lang="zh-CN" alt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57908" y="2348880"/>
            <a:ext cx="2592288" cy="9370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742484" y="3429000"/>
            <a:ext cx="5235789" cy="32243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854052" y="4365104"/>
            <a:ext cx="1590675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矩形标注 14"/>
          <p:cNvSpPr/>
          <p:nvPr/>
        </p:nvSpPr>
        <p:spPr>
          <a:xfrm>
            <a:off x="10342884" y="5445224"/>
            <a:ext cx="1368152" cy="332656"/>
          </a:xfrm>
          <a:prstGeom prst="wedgeRectCallout">
            <a:avLst>
              <a:gd name="adj1" fmla="val -196697"/>
              <a:gd name="adj2" fmla="val 231402"/>
            </a:avLst>
          </a:prstGeom>
          <a:solidFill>
            <a:schemeClr val="accent1">
              <a:alpha val="4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tx1"/>
                </a:solidFill>
              </a:rPr>
              <a:t>选中此项</a:t>
            </a:r>
            <a:endParaRPr lang="zh-CN" alt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672106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-27384"/>
            <a:ext cx="7606580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CN" altLang="en-US" sz="2800" kern="0" dirty="0" smtClean="0">
                <a:solidFill>
                  <a:srgbClr val="FFFF00"/>
                </a:solidFill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安装方法二</a:t>
            </a:r>
            <a:r>
              <a:rPr lang="zh-CN" altLang="en-US" sz="2800" kern="0" dirty="0" smtClean="0">
                <a:solidFill>
                  <a:srgbClr val="333333"/>
                </a:solidFill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（</a:t>
            </a:r>
            <a:r>
              <a:rPr lang="zh-CN" altLang="en-US" sz="2800" b="1" kern="0" dirty="0" smtClean="0">
                <a:solidFill>
                  <a:srgbClr val="333333"/>
                </a:solidFill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自定义安装）</a:t>
            </a:r>
            <a:r>
              <a:rPr lang="zh-CN" altLang="en-US" sz="2800" kern="0" dirty="0" smtClean="0">
                <a:solidFill>
                  <a:srgbClr val="333333"/>
                </a:solidFill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：</a:t>
            </a:r>
            <a:endParaRPr lang="en-US" altLang="zh-CN" sz="2800" kern="0" dirty="0" smtClean="0">
              <a:solidFill>
                <a:srgbClr val="333333"/>
              </a:solidFill>
              <a:latin typeface="楷体" pitchFamily="49" charset="-122"/>
              <a:ea typeface="楷体" pitchFamily="49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CN" altLang="en-US" sz="2800" kern="0" dirty="0" smtClean="0">
                <a:solidFill>
                  <a:srgbClr val="333333"/>
                </a:solidFill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  单</a:t>
            </a:r>
            <a:r>
              <a:rPr lang="zh-CN" altLang="zh-CN" sz="2800" kern="0" dirty="0" smtClean="0">
                <a:solidFill>
                  <a:srgbClr val="333333"/>
                </a:solidFill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击“</a:t>
            </a:r>
            <a:r>
              <a:rPr lang="en-US" altLang="zh-CN" sz="2800" kern="0" dirty="0" smtClean="0">
                <a:solidFill>
                  <a:srgbClr val="333333"/>
                </a:solidFill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Customize installation</a:t>
            </a:r>
            <a:r>
              <a:rPr lang="zh-CN" altLang="zh-CN" sz="2800" kern="0" dirty="0" smtClean="0">
                <a:solidFill>
                  <a:srgbClr val="333333"/>
                </a:solidFill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”</a:t>
            </a:r>
            <a:r>
              <a:rPr lang="zh-CN" altLang="en-US" sz="2800" kern="0" dirty="0" smtClean="0">
                <a:solidFill>
                  <a:srgbClr val="333333"/>
                </a:solidFill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（图</a:t>
            </a:r>
            <a:r>
              <a:rPr lang="en-US" altLang="zh-CN" sz="2800" kern="0" dirty="0" smtClean="0">
                <a:solidFill>
                  <a:srgbClr val="333333"/>
                </a:solidFill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1</a:t>
            </a:r>
            <a:r>
              <a:rPr lang="zh-CN" altLang="en-US" sz="2800" kern="0" dirty="0" smtClean="0">
                <a:solidFill>
                  <a:srgbClr val="333333"/>
                </a:solidFill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）</a:t>
            </a:r>
            <a:endParaRPr lang="en-US" altLang="zh-CN" sz="2800" kern="0" dirty="0" smtClean="0">
              <a:solidFill>
                <a:srgbClr val="333333"/>
              </a:solidFill>
              <a:latin typeface="楷体" pitchFamily="49" charset="-122"/>
              <a:ea typeface="楷体" pitchFamily="49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CN" altLang="en-US" sz="2800" b="1" kern="0" dirty="0" smtClean="0">
                <a:solidFill>
                  <a:srgbClr val="333333"/>
                </a:solidFill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注意</a:t>
            </a:r>
            <a:r>
              <a:rPr lang="zh-CN" altLang="en-US" sz="2800" kern="0" dirty="0" smtClean="0">
                <a:solidFill>
                  <a:srgbClr val="333333"/>
                </a:solidFill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：需要</a:t>
            </a:r>
            <a:r>
              <a:rPr lang="zh-CN" altLang="zh-CN" sz="2800" kern="0" dirty="0" smtClean="0">
                <a:solidFill>
                  <a:srgbClr val="333333"/>
                </a:solidFill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勾选“</a:t>
            </a:r>
            <a:r>
              <a:rPr lang="en-US" altLang="zh-CN" sz="2800" kern="0" dirty="0" smtClean="0">
                <a:solidFill>
                  <a:srgbClr val="333333"/>
                </a:solidFill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Add Python 3.8 to PATH</a:t>
            </a:r>
            <a:r>
              <a:rPr lang="zh-CN" altLang="zh-CN" sz="2800" kern="0" dirty="0" smtClean="0">
                <a:solidFill>
                  <a:srgbClr val="333333"/>
                </a:solidFill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”</a:t>
            </a:r>
            <a:r>
              <a:rPr lang="zh-CN" altLang="en-US" sz="2800" kern="0" dirty="0" smtClean="0">
                <a:solidFill>
                  <a:srgbClr val="333333"/>
                </a:solidFill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。</a:t>
            </a:r>
            <a:r>
              <a:rPr lang="en-US" altLang="zh-CN" sz="2800" kern="0" dirty="0" smtClean="0">
                <a:solidFill>
                  <a:srgbClr val="333333"/>
                </a:solidFill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   </a:t>
            </a:r>
            <a:r>
              <a:rPr lang="zh-CN" altLang="en-US" sz="2800" kern="0" dirty="0" smtClean="0">
                <a:solidFill>
                  <a:srgbClr val="333333"/>
                </a:solidFill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在</a:t>
            </a:r>
            <a:r>
              <a:rPr lang="zh-CN" altLang="en-US" sz="2800" b="1" kern="0" dirty="0" smtClean="0">
                <a:solidFill>
                  <a:srgbClr val="333333"/>
                </a:solidFill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自定义安装</a:t>
            </a:r>
            <a:r>
              <a:rPr lang="zh-CN" altLang="en-US" sz="2800" kern="0" dirty="0" smtClean="0">
                <a:solidFill>
                  <a:srgbClr val="333333"/>
                </a:solidFill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过程中的配置选择方法和安装路径的设置等（如图</a:t>
            </a:r>
            <a:r>
              <a:rPr lang="en-US" altLang="zh-CN" sz="2800" kern="0" dirty="0" smtClean="0">
                <a:solidFill>
                  <a:srgbClr val="333333"/>
                </a:solidFill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2</a:t>
            </a:r>
            <a:r>
              <a:rPr lang="zh-CN" altLang="en-US" sz="2800" kern="0" dirty="0" smtClean="0">
                <a:solidFill>
                  <a:srgbClr val="333333"/>
                </a:solidFill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、图</a:t>
            </a:r>
            <a:r>
              <a:rPr lang="en-US" altLang="zh-CN" sz="2800" kern="0" dirty="0" smtClean="0">
                <a:solidFill>
                  <a:srgbClr val="333333"/>
                </a:solidFill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3</a:t>
            </a:r>
            <a:r>
              <a:rPr lang="zh-CN" altLang="en-US" sz="2800" kern="0" dirty="0" smtClean="0">
                <a:solidFill>
                  <a:srgbClr val="333333"/>
                </a:solidFill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，图</a:t>
            </a:r>
            <a:r>
              <a:rPr lang="en-US" altLang="zh-CN" sz="2800" kern="0" dirty="0" smtClean="0">
                <a:solidFill>
                  <a:srgbClr val="333333"/>
                </a:solidFill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4</a:t>
            </a:r>
            <a:r>
              <a:rPr lang="zh-CN" altLang="en-US" sz="2800" kern="0" dirty="0" smtClean="0">
                <a:solidFill>
                  <a:srgbClr val="333333"/>
                </a:solidFill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和图</a:t>
            </a:r>
            <a:r>
              <a:rPr lang="en-US" altLang="zh-CN" sz="2800" kern="0" dirty="0" smtClean="0">
                <a:solidFill>
                  <a:srgbClr val="333333"/>
                </a:solidFill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5</a:t>
            </a:r>
            <a:r>
              <a:rPr lang="zh-CN" altLang="en-US" sz="2800" kern="0" dirty="0" smtClean="0">
                <a:solidFill>
                  <a:srgbClr val="333333"/>
                </a:solidFill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）。</a:t>
            </a:r>
            <a:endParaRPr lang="en-US" altLang="zh-CN" sz="2800" kern="0" dirty="0" smtClean="0">
              <a:solidFill>
                <a:srgbClr val="333333"/>
              </a:solidFill>
              <a:latin typeface="楷体" pitchFamily="49" charset="-122"/>
              <a:ea typeface="楷体" pitchFamily="49" charset="-122"/>
              <a:cs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814492" y="2564904"/>
            <a:ext cx="6463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 smtClean="0">
                <a:latin typeface="楷体" pitchFamily="49" charset="-122"/>
                <a:ea typeface="楷体" pitchFamily="49" charset="-122"/>
              </a:rPr>
              <a:t>图</a:t>
            </a:r>
            <a:r>
              <a:rPr lang="en-US" altLang="zh-CN" sz="2400" dirty="0" smtClean="0">
                <a:latin typeface="楷体" pitchFamily="49" charset="-122"/>
                <a:ea typeface="楷体" pitchFamily="49" charset="-122"/>
              </a:rPr>
              <a:t>1</a:t>
            </a:r>
            <a:endParaRPr lang="zh-CN" altLang="en-US" sz="2400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19489" y="6021288"/>
            <a:ext cx="6463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 smtClean="0">
                <a:latin typeface="楷体" pitchFamily="49" charset="-122"/>
                <a:ea typeface="楷体" pitchFamily="49" charset="-122"/>
              </a:rPr>
              <a:t>图</a:t>
            </a:r>
            <a:r>
              <a:rPr lang="en-US" altLang="zh-CN" sz="2400" dirty="0" smtClean="0">
                <a:latin typeface="楷体" pitchFamily="49" charset="-122"/>
                <a:ea typeface="楷体" pitchFamily="49" charset="-122"/>
              </a:rPr>
              <a:t>2</a:t>
            </a:r>
            <a:endParaRPr lang="zh-CN" altLang="en-US" sz="2400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456193" y="5949280"/>
            <a:ext cx="6463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 smtClean="0">
                <a:latin typeface="楷体" pitchFamily="49" charset="-122"/>
                <a:ea typeface="楷体" pitchFamily="49" charset="-122"/>
              </a:rPr>
              <a:t>图</a:t>
            </a:r>
            <a:r>
              <a:rPr lang="en-US" altLang="zh-CN" sz="2400" dirty="0" smtClean="0">
                <a:latin typeface="楷体" pitchFamily="49" charset="-122"/>
                <a:ea typeface="楷体" pitchFamily="49" charset="-122"/>
              </a:rPr>
              <a:t>3</a:t>
            </a:r>
            <a:endParaRPr lang="zh-CN" altLang="en-US" sz="2400" dirty="0">
              <a:latin typeface="楷体" pitchFamily="49" charset="-122"/>
              <a:ea typeface="楷体" pitchFamily="49" charset="-122"/>
            </a:endParaRPr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7828" y="3493807"/>
            <a:ext cx="4896544" cy="3031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74532" y="3438058"/>
            <a:ext cx="4824536" cy="29432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561661" y="247556"/>
            <a:ext cx="4581423" cy="2821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矩形标注 13"/>
          <p:cNvSpPr/>
          <p:nvPr/>
        </p:nvSpPr>
        <p:spPr>
          <a:xfrm>
            <a:off x="10630916" y="1916832"/>
            <a:ext cx="1368152" cy="332656"/>
          </a:xfrm>
          <a:prstGeom prst="wedgeRectCallout">
            <a:avLst>
              <a:gd name="adj1" fmla="val -176566"/>
              <a:gd name="adj2" fmla="val 221467"/>
            </a:avLst>
          </a:prstGeom>
          <a:solidFill>
            <a:schemeClr val="accent1">
              <a:alpha val="6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/>
              <a:t>选中此项</a:t>
            </a:r>
            <a:endParaRPr lang="zh-CN" altLang="en-US" b="1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7828" y="1628800"/>
            <a:ext cx="5040560" cy="31475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98468" y="1628800"/>
            <a:ext cx="5125589" cy="31704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矩形 3"/>
          <p:cNvSpPr/>
          <p:nvPr/>
        </p:nvSpPr>
        <p:spPr>
          <a:xfrm>
            <a:off x="1773932" y="5229200"/>
            <a:ext cx="21852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 smtClean="0">
                <a:latin typeface="楷体" pitchFamily="49" charset="-122"/>
                <a:ea typeface="楷体" pitchFamily="49" charset="-122"/>
              </a:rPr>
              <a:t>图</a:t>
            </a:r>
            <a:r>
              <a:rPr lang="en-US" altLang="zh-CN" sz="2400" dirty="0" smtClean="0">
                <a:latin typeface="楷体" pitchFamily="49" charset="-122"/>
                <a:ea typeface="楷体" pitchFamily="49" charset="-122"/>
              </a:rPr>
              <a:t>4</a:t>
            </a:r>
            <a:r>
              <a:rPr lang="zh-CN" altLang="en-US" sz="2400" dirty="0" smtClean="0">
                <a:latin typeface="楷体" pitchFamily="49" charset="-122"/>
                <a:ea typeface="楷体" pitchFamily="49" charset="-122"/>
              </a:rPr>
              <a:t>：安装过程</a:t>
            </a:r>
            <a:endParaRPr lang="zh-CN" altLang="en-US" sz="2400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254652" y="5229200"/>
            <a:ext cx="21852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 smtClean="0">
                <a:latin typeface="楷体" pitchFamily="49" charset="-122"/>
                <a:ea typeface="楷体" pitchFamily="49" charset="-122"/>
              </a:rPr>
              <a:t>图</a:t>
            </a:r>
            <a:r>
              <a:rPr lang="en-US" altLang="zh-CN" sz="2400" dirty="0" smtClean="0">
                <a:latin typeface="楷体" pitchFamily="49" charset="-122"/>
                <a:ea typeface="楷体" pitchFamily="49" charset="-122"/>
              </a:rPr>
              <a:t>5</a:t>
            </a:r>
            <a:r>
              <a:rPr lang="zh-CN" altLang="en-US" sz="2400" dirty="0" smtClean="0">
                <a:latin typeface="楷体" pitchFamily="49" charset="-122"/>
                <a:ea typeface="楷体" pitchFamily="49" charset="-122"/>
              </a:rPr>
              <a:t>：安装成功</a:t>
            </a:r>
            <a:endParaRPr lang="zh-CN" altLang="en-US" sz="2400" dirty="0">
              <a:latin typeface="楷体" pitchFamily="49" charset="-122"/>
              <a:ea typeface="楷体" pitchFamily="49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966620" y="0"/>
            <a:ext cx="3888432" cy="47520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73932" y="2197783"/>
            <a:ext cx="3816424" cy="46602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689604" y="4797152"/>
            <a:ext cx="4381472" cy="20162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矩形 4"/>
          <p:cNvSpPr/>
          <p:nvPr/>
        </p:nvSpPr>
        <p:spPr>
          <a:xfrm>
            <a:off x="0" y="188640"/>
            <a:ext cx="811063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kern="10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（</a:t>
            </a:r>
            <a:r>
              <a:rPr lang="en-US" altLang="zh-CN" sz="2400" kern="10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2</a:t>
            </a:r>
            <a:r>
              <a:rPr lang="zh-CN" altLang="en-US" sz="2400" kern="10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）配置环境变量</a:t>
            </a:r>
            <a:endParaRPr lang="en-US" altLang="zh-CN" sz="2400" kern="100" dirty="0" smtClean="0">
              <a:solidFill>
                <a:srgbClr val="3E3E3E"/>
              </a:solidFill>
              <a:latin typeface="楷体" pitchFamily="49" charset="-122"/>
              <a:ea typeface="楷体" pitchFamily="49" charset="-122"/>
              <a:cs typeface="Helvetica" panose="020B0604020202020204" pitchFamily="34" charset="0"/>
            </a:endParaRPr>
          </a:p>
          <a:p>
            <a:r>
              <a:rPr lang="en-US" altLang="zh-CN" sz="2400" kern="10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1. </a:t>
            </a:r>
            <a:r>
              <a:rPr lang="zh-CN" altLang="en-US" sz="2400" kern="10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进入</a:t>
            </a:r>
            <a:r>
              <a:rPr lang="en-US" altLang="zh-CN" sz="2400" kern="10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Windows</a:t>
            </a:r>
            <a:r>
              <a:rPr lang="zh-CN" altLang="en-US" sz="2400" kern="10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“系统属性</a:t>
            </a:r>
            <a:r>
              <a:rPr lang="en-US" altLang="zh-CN" sz="2400" kern="10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”(</a:t>
            </a:r>
            <a:r>
              <a:rPr lang="zh-CN" altLang="en-US" sz="2400" kern="10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图</a:t>
            </a:r>
            <a:r>
              <a:rPr lang="en-US" altLang="zh-CN" sz="2400" kern="10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1</a:t>
            </a:r>
            <a:r>
              <a:rPr lang="zh-CN" altLang="en-US" sz="2400" kern="10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），单击“环境变量”；</a:t>
            </a:r>
            <a:endParaRPr lang="en-US" altLang="zh-CN" sz="2400" kern="100" dirty="0" smtClean="0">
              <a:solidFill>
                <a:srgbClr val="3E3E3E"/>
              </a:solidFill>
              <a:latin typeface="楷体" pitchFamily="49" charset="-122"/>
              <a:ea typeface="楷体" pitchFamily="49" charset="-122"/>
              <a:cs typeface="Helvetica" panose="020B0604020202020204" pitchFamily="34" charset="0"/>
            </a:endParaRPr>
          </a:p>
          <a:p>
            <a:r>
              <a:rPr lang="en-US" altLang="zh-CN" sz="2400" kern="10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2.</a:t>
            </a:r>
            <a:r>
              <a:rPr lang="zh-CN" altLang="en-US" sz="2400" kern="10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找到系统变量“</a:t>
            </a:r>
            <a:r>
              <a:rPr lang="en-US" altLang="zh-CN" sz="2400" kern="10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PATH</a:t>
            </a:r>
            <a:r>
              <a:rPr lang="zh-CN" altLang="en-US" sz="2400" kern="10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”</a:t>
            </a:r>
            <a:r>
              <a:rPr lang="en-US" altLang="zh-CN" sz="2400" kern="10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 </a:t>
            </a:r>
            <a:r>
              <a:rPr lang="zh-CN" altLang="en-US" sz="2400" kern="10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，单击“编辑” （图</a:t>
            </a:r>
            <a:r>
              <a:rPr lang="en-US" altLang="zh-CN" sz="2400" kern="10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2</a:t>
            </a:r>
            <a:r>
              <a:rPr lang="zh-CN" altLang="en-US" sz="2400" kern="10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）；</a:t>
            </a:r>
            <a:endParaRPr lang="en-US" altLang="zh-CN" sz="2400" kern="100" dirty="0" smtClean="0">
              <a:solidFill>
                <a:srgbClr val="3E3E3E"/>
              </a:solidFill>
              <a:latin typeface="楷体" pitchFamily="49" charset="-122"/>
              <a:ea typeface="楷体" pitchFamily="49" charset="-122"/>
              <a:cs typeface="Helvetica" panose="020B0604020202020204" pitchFamily="34" charset="0"/>
            </a:endParaRPr>
          </a:p>
          <a:p>
            <a:r>
              <a:rPr lang="en-US" altLang="zh-CN" sz="2400" kern="10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3. </a:t>
            </a:r>
            <a:r>
              <a:rPr lang="zh-CN" altLang="en-US" sz="2400" kern="10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在“变量值”后加上</a:t>
            </a:r>
            <a:r>
              <a:rPr lang="en-US" altLang="zh-CN" sz="2400" kern="10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Python</a:t>
            </a:r>
            <a:r>
              <a:rPr lang="zh-CN" altLang="en-US" sz="2400" kern="10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的安装路径（图</a:t>
            </a:r>
            <a:r>
              <a:rPr lang="en-US" altLang="zh-CN" sz="2400" kern="10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3</a:t>
            </a:r>
            <a:r>
              <a:rPr lang="zh-CN" altLang="en-US" sz="2400" kern="10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） 。</a:t>
            </a:r>
            <a:endParaRPr lang="en-US" altLang="zh-CN" sz="2400" kern="100" dirty="0" smtClean="0">
              <a:solidFill>
                <a:srgbClr val="3E3E3E"/>
              </a:solidFill>
              <a:latin typeface="楷体" pitchFamily="49" charset="-122"/>
              <a:ea typeface="楷体" pitchFamily="49" charset="-122"/>
              <a:cs typeface="Helvetica" panose="020B0604020202020204" pitchFamily="34" charset="0"/>
            </a:endParaRPr>
          </a:p>
          <a:p>
            <a:r>
              <a:rPr lang="zh-CN" altLang="en-US" sz="2400" kern="10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    </a:t>
            </a:r>
            <a:r>
              <a:rPr lang="zh-CN" altLang="en-US" sz="2400" b="1" kern="10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注意：</a:t>
            </a:r>
            <a:r>
              <a:rPr lang="zh-CN" altLang="en-US" sz="2400" kern="10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与前面已有的路径之间以分号间隔。</a:t>
            </a:r>
            <a:endParaRPr lang="en-US" altLang="zh-CN" sz="2400" kern="100" dirty="0" smtClean="0">
              <a:solidFill>
                <a:srgbClr val="3E3E3E"/>
              </a:solidFill>
              <a:latin typeface="楷体" pitchFamily="49" charset="-122"/>
              <a:ea typeface="楷体" pitchFamily="49" charset="-122"/>
              <a:cs typeface="Helvetica" panose="020B060402020202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125860" y="6093296"/>
            <a:ext cx="6463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 smtClean="0">
                <a:latin typeface="楷体" pitchFamily="49" charset="-122"/>
                <a:ea typeface="楷体" pitchFamily="49" charset="-122"/>
              </a:rPr>
              <a:t>图</a:t>
            </a:r>
            <a:r>
              <a:rPr lang="en-US" altLang="zh-CN" sz="2400" dirty="0" smtClean="0">
                <a:latin typeface="楷体" pitchFamily="49" charset="-122"/>
                <a:ea typeface="楷体" pitchFamily="49" charset="-122"/>
              </a:rPr>
              <a:t>1</a:t>
            </a:r>
            <a:endParaRPr lang="zh-CN" altLang="en-US" sz="2400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174532" y="3356992"/>
            <a:ext cx="6463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 smtClean="0">
                <a:latin typeface="楷体" pitchFamily="49" charset="-122"/>
                <a:ea typeface="楷体" pitchFamily="49" charset="-122"/>
              </a:rPr>
              <a:t>图</a:t>
            </a:r>
            <a:r>
              <a:rPr lang="en-US" altLang="zh-CN" sz="2400" dirty="0" smtClean="0">
                <a:latin typeface="楷体" pitchFamily="49" charset="-122"/>
                <a:ea typeface="楷体" pitchFamily="49" charset="-122"/>
              </a:rPr>
              <a:t>2</a:t>
            </a:r>
            <a:endParaRPr lang="zh-CN" altLang="en-US" sz="2400" dirty="0" smtClean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958508" y="5949280"/>
            <a:ext cx="6463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 smtClean="0">
                <a:latin typeface="楷体" pitchFamily="49" charset="-122"/>
                <a:ea typeface="楷体" pitchFamily="49" charset="-122"/>
              </a:rPr>
              <a:t>图</a:t>
            </a:r>
            <a:r>
              <a:rPr lang="en-US" altLang="zh-CN" sz="2400" dirty="0" smtClean="0">
                <a:latin typeface="楷体" pitchFamily="49" charset="-122"/>
                <a:ea typeface="楷体" pitchFamily="49" charset="-122"/>
              </a:rPr>
              <a:t>3</a:t>
            </a:r>
            <a:endParaRPr lang="zh-CN" altLang="en-US" sz="2400" dirty="0" smtClean="0">
              <a:latin typeface="楷体" pitchFamily="49" charset="-122"/>
              <a:ea typeface="楷体" pitchFamily="49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11278988" y="6021288"/>
            <a:ext cx="576064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4294212" y="6237312"/>
            <a:ext cx="864096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8202077" y="3029771"/>
            <a:ext cx="864096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77021"/>
            <a:ext cx="8326660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04800">
              <a:lnSpc>
                <a:spcPct val="150000"/>
              </a:lnSpc>
            </a:pPr>
            <a:r>
              <a:rPr lang="en-US" altLang="zh-CN" sz="2800" kern="100" dirty="0" smtClean="0">
                <a:solidFill>
                  <a:srgbClr val="002060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2</a:t>
            </a:r>
            <a:r>
              <a:rPr lang="zh-CN" altLang="en-US" sz="2800" kern="100" dirty="0" smtClean="0">
                <a:solidFill>
                  <a:srgbClr val="002060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、启动</a:t>
            </a:r>
            <a:r>
              <a:rPr lang="en-US" altLang="zh-CN" sz="2800" kern="100" dirty="0" smtClean="0">
                <a:solidFill>
                  <a:srgbClr val="002060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IDLE</a:t>
            </a:r>
            <a:r>
              <a:rPr lang="zh-CN" altLang="en-US" sz="2800" kern="100" dirty="0" smtClean="0">
                <a:solidFill>
                  <a:srgbClr val="002060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，运行</a:t>
            </a:r>
            <a:r>
              <a:rPr lang="en-US" altLang="zh-CN" sz="2800" kern="100" dirty="0" smtClean="0">
                <a:solidFill>
                  <a:srgbClr val="002060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Python</a:t>
            </a:r>
          </a:p>
          <a:p>
            <a:pPr indent="304800">
              <a:lnSpc>
                <a:spcPct val="150000"/>
              </a:lnSpc>
            </a:pPr>
            <a:r>
              <a:rPr lang="zh-CN" altLang="zh-CN" sz="2800" kern="100" dirty="0" smtClean="0">
                <a:solidFill>
                  <a:srgbClr val="002060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安装</a:t>
            </a:r>
            <a:r>
              <a:rPr lang="zh-CN" altLang="zh-CN" sz="2800" kern="100" dirty="0">
                <a:solidFill>
                  <a:srgbClr val="002060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完成后，开始菜单</a:t>
            </a:r>
            <a:r>
              <a:rPr lang="zh-CN" altLang="zh-CN" sz="2800" kern="100" dirty="0" smtClean="0">
                <a:solidFill>
                  <a:srgbClr val="002060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里显示</a:t>
            </a:r>
            <a:r>
              <a:rPr lang="zh-CN" altLang="zh-CN" sz="2800" kern="100" dirty="0">
                <a:solidFill>
                  <a:srgbClr val="002060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安装</a:t>
            </a:r>
            <a:r>
              <a:rPr lang="zh-CN" altLang="zh-CN" sz="2800" kern="100" dirty="0" smtClean="0">
                <a:solidFill>
                  <a:srgbClr val="002060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目录</a:t>
            </a:r>
            <a:r>
              <a:rPr lang="zh-CN" altLang="en-US" sz="2800" kern="100" dirty="0" smtClean="0">
                <a:solidFill>
                  <a:srgbClr val="002060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（图</a:t>
            </a:r>
            <a:r>
              <a:rPr lang="en-US" altLang="zh-CN" sz="2800" kern="100" dirty="0" smtClean="0">
                <a:solidFill>
                  <a:srgbClr val="002060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1</a:t>
            </a:r>
            <a:r>
              <a:rPr lang="zh-CN" altLang="en-US" sz="2800" kern="100" dirty="0" smtClean="0">
                <a:solidFill>
                  <a:srgbClr val="002060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）。</a:t>
            </a:r>
            <a:endParaRPr lang="en-US" altLang="zh-CN" sz="2800" kern="100" dirty="0" smtClean="0">
              <a:solidFill>
                <a:srgbClr val="002060"/>
              </a:solidFill>
              <a:latin typeface="楷体" pitchFamily="49" charset="-122"/>
              <a:ea typeface="楷体" pitchFamily="49" charset="-122"/>
              <a:cs typeface="Helvetica" panose="020B0604020202020204" pitchFamily="34" charset="0"/>
            </a:endParaRPr>
          </a:p>
          <a:p>
            <a:pPr indent="304800">
              <a:lnSpc>
                <a:spcPct val="150000"/>
              </a:lnSpc>
            </a:pPr>
            <a:r>
              <a:rPr lang="zh-CN" altLang="en-US" sz="2800" dirty="0" smtClean="0">
                <a:solidFill>
                  <a:srgbClr val="002060"/>
                </a:solidFill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单击</a:t>
            </a:r>
            <a:r>
              <a:rPr lang="en-US" altLang="zh-CN" sz="2800" dirty="0" smtClean="0">
                <a:solidFill>
                  <a:srgbClr val="002060"/>
                </a:solidFill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Python</a:t>
            </a:r>
            <a:r>
              <a:rPr lang="zh-CN" altLang="en-US" sz="2800" dirty="0" smtClean="0">
                <a:solidFill>
                  <a:srgbClr val="002060"/>
                </a:solidFill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的</a:t>
            </a:r>
            <a:r>
              <a:rPr lang="en-US" altLang="zh-CN" sz="2800" dirty="0" smtClean="0">
                <a:solidFill>
                  <a:srgbClr val="002060"/>
                </a:solidFill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IDLE </a:t>
            </a:r>
            <a:r>
              <a:rPr lang="zh-CN" altLang="en-US" sz="2800" kern="100" dirty="0" smtClean="0">
                <a:solidFill>
                  <a:srgbClr val="002060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，</a:t>
            </a:r>
            <a:r>
              <a:rPr lang="zh-CN" altLang="zh-CN" sz="2800" kern="100" dirty="0" smtClean="0">
                <a:solidFill>
                  <a:srgbClr val="002060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即可</a:t>
            </a:r>
            <a:r>
              <a:rPr lang="zh-CN" altLang="en-US" sz="2800" kern="100" dirty="0" smtClean="0">
                <a:solidFill>
                  <a:srgbClr val="002060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打开</a:t>
            </a:r>
            <a:r>
              <a:rPr lang="en-US" altLang="zh-CN" sz="2800" kern="100" dirty="0" smtClean="0">
                <a:solidFill>
                  <a:srgbClr val="002060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Python Shell</a:t>
            </a:r>
            <a:r>
              <a:rPr lang="en-US" altLang="zh-CN" sz="2800" dirty="0" smtClean="0">
                <a:solidFill>
                  <a:srgbClr val="002060"/>
                </a:solidFill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 </a:t>
            </a:r>
            <a:r>
              <a:rPr lang="zh-CN" altLang="en-US" sz="2800" dirty="0" smtClean="0">
                <a:solidFill>
                  <a:srgbClr val="002060"/>
                </a:solidFill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（</a:t>
            </a:r>
            <a:r>
              <a:rPr lang="en-US" altLang="zh-CN" sz="2800" dirty="0" smtClean="0">
                <a:solidFill>
                  <a:srgbClr val="002060"/>
                </a:solidFill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Python</a:t>
            </a:r>
            <a:r>
              <a:rPr lang="zh-CN" altLang="en-US" sz="2800" dirty="0" smtClean="0">
                <a:solidFill>
                  <a:srgbClr val="002060"/>
                </a:solidFill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解释器）</a:t>
            </a:r>
            <a:r>
              <a:rPr lang="zh-CN" altLang="en-US" sz="2800" kern="100" dirty="0" smtClean="0">
                <a:solidFill>
                  <a:srgbClr val="002060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，进入</a:t>
            </a:r>
            <a:r>
              <a:rPr lang="en-US" altLang="zh-CN" sz="2800" kern="100" dirty="0" smtClean="0">
                <a:solidFill>
                  <a:srgbClr val="002060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Python</a:t>
            </a:r>
            <a:r>
              <a:rPr lang="zh-CN" altLang="en-US" sz="2800" kern="100" dirty="0" smtClean="0">
                <a:solidFill>
                  <a:srgbClr val="002060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命令交互方式，出现</a:t>
            </a:r>
            <a:r>
              <a:rPr lang="en-US" altLang="zh-CN" sz="2800" kern="100" dirty="0" smtClean="0">
                <a:solidFill>
                  <a:srgbClr val="002060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Python</a:t>
            </a:r>
            <a:r>
              <a:rPr lang="zh-CN" altLang="en-US" sz="2800" kern="100" dirty="0" smtClean="0">
                <a:solidFill>
                  <a:srgbClr val="002060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提示符</a:t>
            </a:r>
            <a:r>
              <a:rPr lang="en-US" altLang="zh-CN" sz="2800" kern="100" dirty="0" smtClean="0">
                <a:solidFill>
                  <a:srgbClr val="002060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&gt;&gt;&gt;</a:t>
            </a:r>
            <a:r>
              <a:rPr lang="zh-CN" altLang="en-US" sz="2800" kern="100" dirty="0" smtClean="0">
                <a:solidFill>
                  <a:srgbClr val="002060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（图</a:t>
            </a:r>
            <a:r>
              <a:rPr lang="en-US" altLang="zh-CN" sz="2800" kern="100" dirty="0" smtClean="0">
                <a:solidFill>
                  <a:srgbClr val="002060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2</a:t>
            </a:r>
            <a:r>
              <a:rPr lang="zh-CN" altLang="en-US" sz="2800" kern="100" dirty="0" smtClean="0">
                <a:solidFill>
                  <a:srgbClr val="002060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）。</a:t>
            </a:r>
            <a:endParaRPr lang="zh-CN" altLang="zh-CN" sz="2800" kern="100" dirty="0">
              <a:solidFill>
                <a:srgbClr val="002060"/>
              </a:solidFill>
              <a:effectLst/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26660" y="188640"/>
            <a:ext cx="3646488" cy="2320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38628" y="2924944"/>
            <a:ext cx="4032448" cy="35332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矩形 10"/>
          <p:cNvSpPr/>
          <p:nvPr/>
        </p:nvSpPr>
        <p:spPr>
          <a:xfrm>
            <a:off x="10054852" y="6488668"/>
            <a:ext cx="57259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 smtClean="0">
                <a:latin typeface="+mn-ea"/>
              </a:rPr>
              <a:t>图</a:t>
            </a:r>
            <a:r>
              <a:rPr lang="en-US" altLang="zh-CN" sz="2000" b="1" dirty="0" smtClean="0">
                <a:latin typeface="+mn-ea"/>
              </a:rPr>
              <a:t>2</a:t>
            </a:r>
            <a:endParaRPr lang="zh-CN" altLang="en-US" sz="2000" b="1" dirty="0">
              <a:latin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0198868" y="2492896"/>
            <a:ext cx="57259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 smtClean="0">
                <a:latin typeface="+mn-ea"/>
              </a:rPr>
              <a:t>图</a:t>
            </a:r>
            <a:r>
              <a:rPr lang="en-US" altLang="zh-CN" sz="2000" b="1" dirty="0" smtClean="0">
                <a:latin typeface="+mn-ea"/>
              </a:rPr>
              <a:t>1</a:t>
            </a:r>
            <a:endParaRPr lang="zh-CN" altLang="en-US" sz="2000" b="1" dirty="0">
              <a:latin typeface="+mn-ea"/>
            </a:endParaRPr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333772" y="4077072"/>
            <a:ext cx="7462564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3063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i="0" u="none" strike="noStrike" cap="none" normalizeH="0" baseline="0" dirty="0" bmk="OLE_LINK54">
                <a:ln>
                  <a:noFill/>
                </a:ln>
                <a:effectLst/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注意</a:t>
            </a:r>
            <a:r>
              <a:rPr kumimoji="0" lang="zh-CN" altLang="en-US" sz="2800" i="0" u="none" strike="noStrike" cap="none" normalizeH="0" baseline="0" dirty="0" smtClean="0" bmk="OLE_LINK54">
                <a:ln>
                  <a:noFill/>
                </a:ln>
                <a:effectLst/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：</a:t>
            </a:r>
            <a:endParaRPr kumimoji="0" lang="en-US" altLang="zh-CN" sz="2800" i="0" u="none" strike="noStrike" cap="none" normalizeH="0" baseline="0" dirty="0" smtClean="0" bmk="OLE_LINK54">
              <a:ln>
                <a:noFill/>
              </a:ln>
              <a:effectLst/>
              <a:latin typeface="楷体" pitchFamily="49" charset="-122"/>
              <a:ea typeface="楷体" pitchFamily="49" charset="-122"/>
              <a:cs typeface="Helvetica" panose="020B0604020202020204" pitchFamily="34" charset="0"/>
            </a:endParaRPr>
          </a:p>
          <a:p>
            <a:pPr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800" dirty="0" smtClean="0" bmk="OLE_LINK54"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    </a:t>
            </a:r>
            <a:r>
              <a:rPr kumimoji="0" lang="en-US" altLang="zh-CN" sz="2800" i="0" u="none" strike="noStrike" cap="none" normalizeH="0" baseline="0" dirty="0" smtClean="0" bmk="OLE_LINK54">
                <a:ln>
                  <a:noFill/>
                </a:ln>
                <a:effectLst/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1</a:t>
            </a:r>
            <a:r>
              <a:rPr kumimoji="0" lang="zh-CN" altLang="en-US" sz="2800" i="0" u="none" strike="noStrike" cap="none" normalizeH="0" baseline="0" dirty="0" smtClean="0" bmk="OLE_LINK54">
                <a:ln>
                  <a:noFill/>
                </a:ln>
                <a:effectLst/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、此处</a:t>
            </a:r>
            <a:r>
              <a:rPr kumimoji="0" lang="zh-CN" altLang="en-US" sz="2800" i="0" u="none" strike="noStrike" cap="none" normalizeH="0" baseline="0" dirty="0" bmk="OLE_LINK54">
                <a:ln>
                  <a:noFill/>
                </a:ln>
                <a:effectLst/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的</a:t>
            </a:r>
            <a:r>
              <a:rPr kumimoji="0" lang="en-US" altLang="zh-CN" sz="2800" b="1" i="0" u="none" strike="noStrike" cap="none" normalizeH="0" baseline="0" dirty="0" bmk="OLE_LINK54">
                <a:ln>
                  <a:noFill/>
                </a:ln>
                <a:solidFill>
                  <a:srgbClr val="FF0000"/>
                </a:solidFill>
                <a:effectLst/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&gt;&gt;&gt;</a:t>
            </a:r>
            <a:r>
              <a:rPr kumimoji="0" lang="zh-CN" altLang="en-US" sz="2800" i="0" u="none" strike="noStrike" cap="none" normalizeH="0" baseline="0" dirty="0" bmk="OLE_LINK54">
                <a:ln>
                  <a:noFill/>
                </a:ln>
                <a:effectLst/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为电脑自动显示</a:t>
            </a:r>
            <a:r>
              <a:rPr kumimoji="0" lang="zh-CN" altLang="en-US" sz="2800" i="0" u="none" strike="noStrike" cap="none" normalizeH="0" baseline="0" dirty="0" smtClean="0" bmk="OLE_LINK54">
                <a:ln>
                  <a:noFill/>
                </a:ln>
                <a:effectLst/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的</a:t>
            </a:r>
            <a:r>
              <a:rPr kumimoji="0" lang="en-US" altLang="zh-CN" sz="2800" i="0" u="none" strike="noStrike" cap="none" normalizeH="0" baseline="0" dirty="0" smtClean="0" bmk="OLE_LINK54">
                <a:ln>
                  <a:noFill/>
                </a:ln>
                <a:effectLst/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Python</a:t>
            </a:r>
            <a:r>
              <a:rPr kumimoji="0" lang="zh-CN" altLang="en-US" sz="2800" i="0" u="none" strike="noStrike" cap="none" normalizeH="0" baseline="0" dirty="0" smtClean="0" bmk="OLE_LINK54">
                <a:ln>
                  <a:noFill/>
                </a:ln>
                <a:effectLst/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提示符</a:t>
            </a:r>
            <a:r>
              <a:rPr kumimoji="0" lang="zh-CN" altLang="en-US" sz="2800" i="0" u="none" strike="noStrike" cap="none" normalizeH="0" baseline="0" dirty="0" bmk="OLE_LINK54">
                <a:ln>
                  <a:noFill/>
                </a:ln>
                <a:effectLst/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，不</a:t>
            </a:r>
            <a:r>
              <a:rPr kumimoji="0" lang="zh-CN" altLang="en-US" sz="2800" i="0" u="none" strike="noStrike" cap="none" normalizeH="0" baseline="0" dirty="0" smtClean="0" bmk="OLE_LINK54">
                <a:ln>
                  <a:noFill/>
                </a:ln>
                <a:effectLst/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需要用户输入</a:t>
            </a:r>
            <a:r>
              <a:rPr kumimoji="0" lang="zh-CN" altLang="en-US" sz="2800" i="0" u="none" strike="noStrike" cap="none" normalizeH="0" baseline="0" dirty="0" bmk="OLE_LINK54">
                <a:ln>
                  <a:noFill/>
                </a:ln>
                <a:effectLst/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的。</a:t>
            </a:r>
            <a:endParaRPr kumimoji="0" lang="en-US" altLang="zh-CN" sz="2800" i="0" u="none" strike="noStrike" cap="none" normalizeH="0" baseline="0" dirty="0" bmk="OLE_LINK54">
              <a:ln>
                <a:noFill/>
              </a:ln>
              <a:effectLst/>
              <a:latin typeface="楷体" pitchFamily="49" charset="-122"/>
              <a:ea typeface="楷体" pitchFamily="49" charset="-122"/>
              <a:cs typeface="Helvetica" panose="020B0604020202020204" pitchFamily="34" charset="0"/>
            </a:endParaRPr>
          </a:p>
          <a:p>
            <a:pPr marL="0" marR="0" lvl="0" indent="3063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800" dirty="0" smtClean="0" bmk="OLE_LINK54"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  2</a:t>
            </a:r>
            <a:r>
              <a:rPr lang="zh-CN" altLang="en-US" sz="2800" dirty="0" smtClean="0" bmk="OLE_LINK54"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、输入的命令中的</a:t>
            </a:r>
            <a:r>
              <a:rPr kumimoji="0" lang="zh-CN" altLang="en-US" sz="2800" i="0" u="none" strike="noStrike" cap="none" normalizeH="0" baseline="0" dirty="0" smtClean="0" bmk="OLE_LINK54">
                <a:ln>
                  <a:noFill/>
                </a:ln>
                <a:effectLst/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括号</a:t>
            </a:r>
            <a:r>
              <a:rPr kumimoji="0" lang="en-US" altLang="zh-CN" sz="2800" i="0" u="none" strike="noStrike" cap="none" normalizeH="0" baseline="0" dirty="0" bmk="OLE_LINK54">
                <a:ln>
                  <a:noFill/>
                </a:ln>
                <a:effectLst/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()</a:t>
            </a:r>
            <a:r>
              <a:rPr kumimoji="0" lang="zh-CN" altLang="en-US" sz="2800" i="0" u="none" strike="noStrike" cap="none" normalizeH="0" baseline="0" dirty="0" bmk="OLE_LINK54">
                <a:ln>
                  <a:noFill/>
                </a:ln>
                <a:effectLst/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、</a:t>
            </a:r>
            <a:r>
              <a:rPr kumimoji="0" lang="zh-CN" altLang="en-US" sz="2800" i="0" u="none" strike="noStrike" cap="none" normalizeH="0" baseline="0" dirty="0" smtClean="0" bmk="OLE_LINK54">
                <a:ln>
                  <a:noFill/>
                </a:ln>
                <a:effectLst/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引号</a:t>
            </a:r>
            <a:r>
              <a:rPr lang="en-US" altLang="zh-CN" sz="2800" dirty="0" smtClean="0" bmk="OLE_LINK54"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’</a:t>
            </a:r>
            <a:r>
              <a:rPr kumimoji="0" lang="zh-CN" altLang="en-US" sz="2800" i="0" u="none" strike="noStrike" cap="none" normalizeH="0" baseline="0" dirty="0" smtClean="0" bmk="OLE_LINK54">
                <a:ln>
                  <a:noFill/>
                </a:ln>
                <a:effectLst/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以及</a:t>
            </a:r>
            <a:r>
              <a:rPr kumimoji="0" lang="zh-CN" altLang="en-US" sz="2800" i="0" u="none" strike="noStrike" cap="none" normalizeH="0" baseline="0" dirty="0" bmk="OLE_LINK54">
                <a:ln>
                  <a:noFill/>
                </a:ln>
                <a:effectLst/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冒号</a:t>
            </a:r>
            <a:r>
              <a:rPr kumimoji="0" lang="en-US" altLang="zh-CN" sz="2800" i="0" u="none" strike="noStrike" cap="none" normalizeH="0" baseline="0" dirty="0" smtClean="0" bmk="OLE_LINK54">
                <a:ln>
                  <a:noFill/>
                </a:ln>
                <a:effectLst/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:</a:t>
            </a:r>
            <a:r>
              <a:rPr kumimoji="0" lang="zh-CN" altLang="en-US" sz="2800" i="0" u="none" strike="noStrike" cap="none" normalizeH="0" baseline="0" dirty="0" smtClean="0" bmk="OLE_LINK54">
                <a:ln>
                  <a:noFill/>
                </a:ln>
                <a:effectLst/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等符号</a:t>
            </a:r>
            <a:r>
              <a:rPr kumimoji="0" lang="zh-CN" altLang="en-US" sz="2800" i="0" u="none" strike="noStrike" cap="none" normalizeH="0" baseline="0" dirty="0" smtClean="0" bmk="OLE_LINK54">
                <a:ln>
                  <a:noFill/>
                </a:ln>
                <a:effectLst/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都</a:t>
            </a:r>
            <a:r>
              <a:rPr kumimoji="0" lang="zh-CN" altLang="en-US" sz="2800" i="0" u="none" strike="noStrike" cap="none" normalizeH="0" baseline="0" dirty="0" bmk="OLE_LINK54">
                <a:ln>
                  <a:noFill/>
                </a:ln>
                <a:effectLst/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需要在</a:t>
            </a:r>
            <a:r>
              <a:rPr kumimoji="0" lang="zh-CN" altLang="en-US" sz="2800" b="1" i="0" u="none" strike="noStrike" cap="none" normalizeH="0" baseline="0" dirty="0" bmk="OLE_LINK54">
                <a:ln>
                  <a:noFill/>
                </a:ln>
                <a:solidFill>
                  <a:srgbClr val="FF0000"/>
                </a:solidFill>
                <a:effectLst/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英文半角状态</a:t>
            </a:r>
            <a:r>
              <a:rPr kumimoji="0" lang="zh-CN" altLang="en-US" sz="2800" i="0" u="none" strike="noStrike" cap="none" normalizeH="0" baseline="0" dirty="0" bmk="OLE_LINK54">
                <a:ln>
                  <a:noFill/>
                </a:ln>
                <a:effectLst/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下输入。</a:t>
            </a:r>
            <a:endParaRPr kumimoji="0" lang="zh-CN" altLang="en-US" sz="2800" i="0" u="none" strike="noStrike" cap="none" normalizeH="0" baseline="0" dirty="0">
              <a:ln>
                <a:noFill/>
              </a:ln>
              <a:effectLst/>
              <a:latin typeface="楷体" pitchFamily="49" charset="-122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909254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33772" y="6211669"/>
            <a:ext cx="112332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04800">
              <a:lnSpc>
                <a:spcPct val="150000"/>
              </a:lnSpc>
              <a:spcAft>
                <a:spcPts val="0"/>
              </a:spcAft>
            </a:pPr>
            <a:r>
              <a:rPr lang="zh-CN" altLang="en-US" sz="2400" kern="100" dirty="0" smtClean="0"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重要内容：</a:t>
            </a:r>
            <a:r>
              <a:rPr lang="en-US" altLang="zh-CN" sz="2400" kern="100" dirty="0" smtClean="0"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python  IDE</a:t>
            </a:r>
            <a:r>
              <a:rPr lang="zh-CN" altLang="zh-CN" sz="2400" kern="100" dirty="0" smtClean="0"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的</a:t>
            </a:r>
            <a:r>
              <a:rPr lang="zh-CN" altLang="zh-CN" sz="2400" kern="100" dirty="0"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其他安装方法</a:t>
            </a:r>
            <a:r>
              <a:rPr lang="zh-CN" altLang="zh-CN" sz="2400" kern="100" dirty="0" smtClean="0"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，</a:t>
            </a:r>
            <a:r>
              <a:rPr lang="zh-CN" altLang="en-US" sz="2400" kern="100" dirty="0" smtClean="0"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参见</a:t>
            </a:r>
            <a:r>
              <a:rPr lang="en-US" altLang="zh-CN" sz="2400" kern="100" dirty="0" smtClean="0"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PPT</a:t>
            </a:r>
            <a:r>
              <a:rPr lang="zh-CN" altLang="en-US" sz="2400" kern="100" dirty="0" smtClean="0"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文件： </a:t>
            </a:r>
            <a:r>
              <a:rPr lang="en-US" altLang="zh-CN" sz="2400" kern="100" dirty="0" smtClean="0"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Python</a:t>
            </a:r>
            <a:r>
              <a:rPr lang="zh-CN" altLang="en-US" sz="2400" kern="100" dirty="0" smtClean="0"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集成环境介绍</a:t>
            </a:r>
            <a:endParaRPr lang="zh-CN" altLang="zh-CN" sz="2400" kern="100" dirty="0">
              <a:latin typeface="楷体" pitchFamily="49" charset="-122"/>
              <a:ea typeface="楷体" pitchFamily="49" charset="-122"/>
              <a:cs typeface="Helvetica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61764" y="332656"/>
            <a:ext cx="1029714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kern="100" dirty="0" smtClean="0"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通过“</a:t>
            </a:r>
            <a:r>
              <a:rPr lang="en-US" altLang="zh-CN" sz="2800" kern="100" dirty="0" smtClean="0"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File</a:t>
            </a:r>
            <a:r>
              <a:rPr lang="zh-CN" altLang="en-US" sz="2800" kern="100" dirty="0" smtClean="0"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”菜单进入程序编辑运行方式。</a:t>
            </a:r>
            <a:endParaRPr lang="zh-CN" altLang="en-US" sz="2800" dirty="0">
              <a:latin typeface="楷体" pitchFamily="49" charset="-122"/>
              <a:ea typeface="楷体" pitchFamily="49" charset="-122"/>
            </a:endParaRP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90556" y="1184022"/>
            <a:ext cx="3888432" cy="45759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29916" y="1196752"/>
            <a:ext cx="4023947" cy="4562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2422004" y="5805264"/>
            <a:ext cx="24929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kern="100" dirty="0" smtClean="0"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图</a:t>
            </a:r>
            <a:r>
              <a:rPr lang="en-US" altLang="zh-CN" sz="2400" kern="100" dirty="0" smtClean="0"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3</a:t>
            </a:r>
            <a:r>
              <a:rPr lang="zh-CN" altLang="en-US" sz="2400" kern="100" dirty="0" smtClean="0"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：建立新程序</a:t>
            </a:r>
          </a:p>
        </p:txBody>
      </p:sp>
      <p:sp>
        <p:nvSpPr>
          <p:cNvPr id="10" name="矩形 9"/>
          <p:cNvSpPr/>
          <p:nvPr/>
        </p:nvSpPr>
        <p:spPr>
          <a:xfrm>
            <a:off x="8038628" y="5805264"/>
            <a:ext cx="24929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kern="100" dirty="0" smtClean="0"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4</a:t>
            </a:r>
            <a:r>
              <a:rPr lang="zh-CN" altLang="en-US" sz="2400" kern="100" dirty="0" smtClean="0"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：编辑修改程序</a:t>
            </a:r>
          </a:p>
        </p:txBody>
      </p:sp>
    </p:spTree>
    <p:extLst>
      <p:ext uri="{BB962C8B-B14F-4D97-AF65-F5344CB8AC3E}">
        <p14:creationId xmlns:p14="http://schemas.microsoft.com/office/powerpoint/2010/main" xmlns="" val="649561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3772" y="260648"/>
            <a:ext cx="11071516" cy="666328"/>
          </a:xfrm>
        </p:spPr>
        <p:txBody>
          <a:bodyPr>
            <a:normAutofit/>
          </a:bodyPr>
          <a:lstStyle/>
          <a:p>
            <a:r>
              <a:rPr lang="zh-CN" altLang="en-US" sz="3600" dirty="0" smtClean="0">
                <a:solidFill>
                  <a:schemeClr val="tx1"/>
                </a:solidFill>
              </a:rPr>
              <a:t>实例演示：</a:t>
            </a:r>
            <a:endParaRPr lang="zh-CN" altLang="en-US" sz="3600" dirty="0">
              <a:solidFill>
                <a:schemeClr val="tx1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13892" y="1196752"/>
            <a:ext cx="10054852" cy="51766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65820" y="618791"/>
            <a:ext cx="10369152" cy="63401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 smtClean="0"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3</a:t>
            </a:r>
            <a:r>
              <a:rPr lang="zh-CN" altLang="en-US" sz="2800" b="1" dirty="0" smtClean="0"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、</a:t>
            </a:r>
            <a:r>
              <a:rPr lang="en-US" altLang="zh-CN" sz="2800" b="1" dirty="0" smtClean="0"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Python2</a:t>
            </a:r>
            <a:r>
              <a:rPr lang="zh-CN" altLang="zh-CN" sz="2800" b="1" dirty="0"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和</a:t>
            </a:r>
            <a:r>
              <a:rPr lang="en-US" altLang="zh-CN" sz="2800" b="1" dirty="0"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Python3</a:t>
            </a:r>
            <a:r>
              <a:rPr lang="zh-CN" altLang="zh-CN" sz="2800" b="1" dirty="0"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的</a:t>
            </a:r>
            <a:r>
              <a:rPr lang="zh-CN" altLang="zh-CN" sz="2800" b="1" dirty="0" smtClean="0"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区别</a:t>
            </a:r>
            <a:r>
              <a:rPr lang="zh-CN" altLang="en-US" sz="2800" b="1" dirty="0" smtClean="0"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（自学了解）</a:t>
            </a:r>
            <a:endParaRPr lang="zh-CN" altLang="zh-CN" sz="2800" b="1" dirty="0">
              <a:latin typeface="楷体" pitchFamily="49" charset="-122"/>
              <a:ea typeface="楷体" pitchFamily="49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kern="0" dirty="0" smtClean="0"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（</a:t>
            </a:r>
            <a:r>
              <a:rPr lang="en-US" altLang="zh-CN" sz="2800" b="1" kern="0" dirty="0" smtClean="0"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1</a:t>
            </a:r>
            <a:r>
              <a:rPr lang="zh-CN" altLang="en-US" sz="2800" b="1" kern="0" dirty="0" smtClean="0"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）</a:t>
            </a:r>
            <a:r>
              <a:rPr lang="zh-CN" altLang="zh-CN" sz="2800" b="1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性能</a:t>
            </a:r>
            <a:r>
              <a:rPr lang="zh-CN" altLang="zh-CN" sz="2800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 </a:t>
            </a:r>
            <a:endParaRPr lang="zh-CN" altLang="zh-CN" sz="2800" kern="100" dirty="0"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  <a:p>
            <a:pPr indent="623888">
              <a:lnSpc>
                <a:spcPct val="150000"/>
              </a:lnSpc>
            </a:pPr>
            <a:r>
              <a:rPr lang="en-US" altLang="zh-CN" sz="2800" kern="0" dirty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Py3.0</a:t>
            </a:r>
            <a:r>
              <a:rPr lang="zh-CN" altLang="zh-CN" sz="2800" kern="0" dirty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运行</a:t>
            </a:r>
            <a:r>
              <a:rPr lang="en-US" altLang="zh-CN" sz="2800" kern="0" dirty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 </a:t>
            </a:r>
            <a:r>
              <a:rPr lang="en-US" altLang="zh-CN" sz="2800" kern="0" dirty="0" err="1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pystone</a:t>
            </a:r>
            <a:r>
              <a:rPr lang="en-US" altLang="zh-CN" sz="2800" kern="0" dirty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 benchmark</a:t>
            </a:r>
            <a:r>
              <a:rPr lang="zh-CN" altLang="zh-CN" sz="2800" kern="0" dirty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的速度比</a:t>
            </a:r>
            <a:r>
              <a:rPr lang="en-US" altLang="zh-CN" sz="2800" kern="0" dirty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Py2.5</a:t>
            </a:r>
            <a:r>
              <a:rPr lang="zh-CN" altLang="zh-CN" sz="2800" kern="0" dirty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慢</a:t>
            </a:r>
            <a:r>
              <a:rPr lang="en-US" altLang="zh-CN" sz="2800" kern="0" dirty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30%</a:t>
            </a:r>
            <a:r>
              <a:rPr lang="zh-CN" altLang="zh-CN" sz="2800" kern="0" dirty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。</a:t>
            </a:r>
            <a:r>
              <a:rPr lang="en-US" altLang="zh-CN" sz="2800" kern="0" dirty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Guido</a:t>
            </a:r>
            <a:r>
              <a:rPr lang="zh-CN" altLang="zh-CN" sz="2800" kern="0" dirty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认为</a:t>
            </a:r>
            <a:r>
              <a:rPr lang="en-US" altLang="zh-CN" sz="2800" kern="0" dirty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Py3.0</a:t>
            </a:r>
            <a:r>
              <a:rPr lang="zh-CN" altLang="zh-CN" sz="2800" kern="0" dirty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有极大的优化空间，在字符串和整形操作上可以取得很好的优化结果。 </a:t>
            </a:r>
            <a:endParaRPr lang="zh-CN" altLang="zh-CN" sz="2800" kern="100" dirty="0"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  <a:p>
            <a:pPr indent="623888">
              <a:lnSpc>
                <a:spcPct val="150000"/>
              </a:lnSpc>
            </a:pPr>
            <a:r>
              <a:rPr lang="en-US" altLang="zh-CN" sz="2800" kern="0" dirty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Py3.1</a:t>
            </a:r>
            <a:r>
              <a:rPr lang="zh-CN" altLang="zh-CN" sz="2800" kern="0" dirty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性能比</a:t>
            </a:r>
            <a:r>
              <a:rPr lang="en-US" altLang="zh-CN" sz="2800" kern="0" dirty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Py2.5</a:t>
            </a:r>
            <a:r>
              <a:rPr lang="zh-CN" altLang="zh-CN" sz="2800" kern="0" dirty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慢</a:t>
            </a:r>
            <a:r>
              <a:rPr lang="en-US" altLang="zh-CN" sz="2800" kern="0" dirty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15%</a:t>
            </a:r>
            <a:r>
              <a:rPr lang="zh-CN" altLang="zh-CN" sz="2800" kern="0" dirty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，还有很大的提升空间</a:t>
            </a:r>
            <a:r>
              <a:rPr lang="zh-CN" altLang="zh-CN" sz="2800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。</a:t>
            </a:r>
            <a:r>
              <a:rPr lang="zh-CN" altLang="en-US" sz="2800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据说</a:t>
            </a:r>
            <a:r>
              <a:rPr lang="en-US" altLang="zh-CN" sz="2800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3.5</a:t>
            </a:r>
            <a:r>
              <a:rPr lang="zh-CN" altLang="zh-CN" sz="2800" kern="0" dirty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版本已经性能优于</a:t>
            </a:r>
            <a:r>
              <a:rPr lang="en-US" altLang="zh-CN" sz="2800" kern="0" dirty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2.7</a:t>
            </a:r>
            <a:r>
              <a:rPr lang="zh-CN" altLang="zh-CN" sz="2800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版本</a:t>
            </a:r>
            <a:r>
              <a:rPr lang="zh-CN" altLang="en-US" sz="2800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，</a:t>
            </a:r>
            <a:r>
              <a:rPr lang="en-US" altLang="zh-CN" sz="2800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3.8</a:t>
            </a:r>
            <a:r>
              <a:rPr lang="zh-CN" altLang="en-US" sz="2800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版本的</a:t>
            </a:r>
            <a:r>
              <a:rPr lang="zh-CN" altLang="it-IT" sz="2800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许多内置方法和函数的速度都提高了</a:t>
            </a:r>
            <a:r>
              <a:rPr lang="it-IT" altLang="zh-CN" sz="2800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20%</a:t>
            </a:r>
            <a:r>
              <a:rPr lang="zh-CN" altLang="en-US" sz="2800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到</a:t>
            </a:r>
            <a:r>
              <a:rPr lang="it-IT" altLang="zh-CN" sz="2800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50%</a:t>
            </a:r>
            <a:r>
              <a:rPr lang="zh-CN" altLang="zh-CN" sz="2800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。</a:t>
            </a:r>
            <a:endParaRPr lang="en-US" altLang="zh-CN" sz="2800" kern="0" dirty="0" smtClean="0">
              <a:solidFill>
                <a:srgbClr val="3E3E3E"/>
              </a:solidFill>
              <a:latin typeface="楷体" pitchFamily="49" charset="-122"/>
              <a:ea typeface="楷体" pitchFamily="49" charset="-122"/>
              <a:cs typeface="Helvetica" panose="020B0604020202020204" pitchFamily="34" charset="0"/>
            </a:endParaRPr>
          </a:p>
          <a:p>
            <a:pPr indent="623888">
              <a:lnSpc>
                <a:spcPct val="150000"/>
              </a:lnSpc>
            </a:pPr>
            <a:r>
              <a:rPr lang="en-US" altLang="zh-CN" sz="2800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Python</a:t>
            </a:r>
            <a:r>
              <a:rPr lang="zh-CN" altLang="en-US" sz="2800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官方也宣布在 </a:t>
            </a:r>
            <a:r>
              <a:rPr lang="en-US" altLang="zh-CN" sz="2800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2020 </a:t>
            </a:r>
            <a:r>
              <a:rPr lang="zh-CN" altLang="en-US" sz="2800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停止对 </a:t>
            </a:r>
            <a:r>
              <a:rPr lang="en-US" altLang="zh-CN" sz="2800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Python 2.x </a:t>
            </a:r>
            <a:r>
              <a:rPr lang="zh-CN" altLang="en-US" sz="2800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的维护。建议初学者直接去学 </a:t>
            </a:r>
            <a:r>
              <a:rPr lang="en-US" altLang="zh-CN" sz="2800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Python 3.x </a:t>
            </a:r>
            <a:r>
              <a:rPr lang="zh-CN" altLang="en-US" sz="2800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版本。</a:t>
            </a:r>
            <a:endParaRPr lang="zh-CN" altLang="zh-CN" sz="2800" kern="100" dirty="0">
              <a:effectLst/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365693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97868" y="548680"/>
            <a:ext cx="7992889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 b="1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（</a:t>
            </a:r>
            <a:r>
              <a:rPr lang="en-US" altLang="zh-CN" sz="2400" b="1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2</a:t>
            </a:r>
            <a:r>
              <a:rPr lang="zh-CN" altLang="en-US" sz="2400" b="1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）</a:t>
            </a:r>
            <a:r>
              <a:rPr lang="zh-CN" altLang="zh-CN" sz="2400" b="1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编码 </a:t>
            </a:r>
            <a:endParaRPr lang="zh-CN" altLang="zh-CN" sz="2400" kern="100" dirty="0"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  <a:p>
            <a:pPr indent="304800">
              <a:lnSpc>
                <a:spcPct val="200000"/>
              </a:lnSpc>
            </a:pPr>
            <a:r>
              <a:rPr lang="en-US" altLang="zh-CN" sz="2400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python2</a:t>
            </a:r>
            <a:r>
              <a:rPr lang="zh-CN" altLang="en-US" sz="2400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中默认的字符串类型默认是</a:t>
            </a:r>
            <a:r>
              <a:rPr lang="en-US" altLang="zh-CN" sz="2400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ASCII</a:t>
            </a:r>
            <a:r>
              <a:rPr lang="zh-CN" altLang="en-US" sz="2400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，</a:t>
            </a:r>
            <a:r>
              <a:rPr lang="en-US" altLang="zh-CN" sz="2400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python3</a:t>
            </a:r>
            <a:r>
              <a:rPr lang="zh-CN" altLang="en-US" sz="2400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中默认的字符串类型是</a:t>
            </a:r>
            <a:r>
              <a:rPr lang="en-US" altLang="zh-CN" sz="2400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Unicode</a:t>
            </a:r>
            <a:r>
              <a:rPr lang="zh-CN" altLang="en-US" sz="2400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。</a:t>
            </a:r>
            <a:r>
              <a:rPr lang="en-US" altLang="zh-CN" sz="2400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Py3.X</a:t>
            </a:r>
            <a:r>
              <a:rPr lang="zh-CN" altLang="zh-CN" sz="2400" kern="0" dirty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源码文件默认使用</a:t>
            </a:r>
            <a:r>
              <a:rPr lang="en-US" altLang="zh-CN" sz="2400" kern="0" dirty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utf-8</a:t>
            </a:r>
            <a:r>
              <a:rPr lang="zh-CN" altLang="zh-CN" sz="2400" kern="0" dirty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编码</a:t>
            </a:r>
            <a:r>
              <a:rPr lang="zh-CN" altLang="zh-CN" sz="2400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，</a:t>
            </a:r>
            <a:r>
              <a:rPr lang="zh-CN" altLang="en-US" sz="2400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支持汉字处理</a:t>
            </a:r>
            <a:r>
              <a:rPr lang="zh-CN" altLang="zh-CN" sz="2400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，</a:t>
            </a:r>
            <a:r>
              <a:rPr lang="zh-CN" altLang="zh-CN" sz="2400" kern="0" dirty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但在</a:t>
            </a:r>
            <a:r>
              <a:rPr lang="en-US" altLang="zh-CN" sz="2400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2.X</a:t>
            </a:r>
            <a:r>
              <a:rPr lang="zh-CN" altLang="en-US" sz="2400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不支持汉字处理</a:t>
            </a:r>
            <a:r>
              <a:rPr lang="zh-CN" altLang="zh-CN" sz="2400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。 </a:t>
            </a:r>
            <a:endParaRPr lang="zh-CN" altLang="zh-CN" sz="2400" kern="100" dirty="0"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2400" kern="0" dirty="0">
                <a:solidFill>
                  <a:srgbClr val="333333"/>
                </a:solidFill>
                <a:latin typeface="楷体" pitchFamily="49" charset="-122"/>
                <a:ea typeface="楷体" pitchFamily="49" charset="-122"/>
                <a:cs typeface="Arial" panose="020B0604020202020204" pitchFamily="34" charset="0"/>
              </a:rPr>
              <a:t>&gt;&gt;&gt; </a:t>
            </a:r>
            <a:r>
              <a:rPr lang="zh-CN" altLang="zh-CN" sz="2400" kern="0" dirty="0">
                <a:solidFill>
                  <a:srgbClr val="333333"/>
                </a:solidFill>
                <a:latin typeface="楷体" pitchFamily="49" charset="-122"/>
                <a:ea typeface="楷体" pitchFamily="49" charset="-122"/>
                <a:cs typeface="Arial" panose="020B0604020202020204" pitchFamily="34" charset="0"/>
              </a:rPr>
              <a:t>中国</a:t>
            </a:r>
            <a:r>
              <a:rPr lang="en-US" altLang="zh-CN" sz="2400" kern="0" dirty="0">
                <a:solidFill>
                  <a:srgbClr val="333333"/>
                </a:solidFill>
                <a:latin typeface="楷体" pitchFamily="49" charset="-122"/>
                <a:ea typeface="楷体" pitchFamily="49" charset="-122"/>
                <a:cs typeface="Arial" panose="020B0604020202020204" pitchFamily="34" charset="0"/>
              </a:rPr>
              <a:t> = 'china' </a:t>
            </a:r>
            <a:endParaRPr lang="zh-CN" altLang="zh-CN" sz="2400" kern="100" dirty="0"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2400" kern="0" dirty="0">
                <a:solidFill>
                  <a:srgbClr val="333333"/>
                </a:solidFill>
                <a:latin typeface="楷体" pitchFamily="49" charset="-122"/>
                <a:ea typeface="楷体" pitchFamily="49" charset="-122"/>
                <a:cs typeface="Arial" panose="020B0604020202020204" pitchFamily="34" charset="0"/>
              </a:rPr>
              <a:t>&gt;&gt;&gt;print(</a:t>
            </a:r>
            <a:r>
              <a:rPr lang="zh-CN" altLang="zh-CN" sz="2400" kern="0" dirty="0">
                <a:solidFill>
                  <a:srgbClr val="333333"/>
                </a:solidFill>
                <a:latin typeface="楷体" pitchFamily="49" charset="-122"/>
                <a:ea typeface="楷体" pitchFamily="49" charset="-122"/>
                <a:cs typeface="Arial" panose="020B0604020202020204" pitchFamily="34" charset="0"/>
              </a:rPr>
              <a:t>中国</a:t>
            </a:r>
            <a:r>
              <a:rPr lang="en-US" altLang="zh-CN" sz="2400" kern="0" dirty="0">
                <a:solidFill>
                  <a:srgbClr val="333333"/>
                </a:solidFill>
                <a:latin typeface="楷体" pitchFamily="49" charset="-122"/>
                <a:ea typeface="楷体" pitchFamily="49" charset="-122"/>
                <a:cs typeface="Arial" panose="020B0604020202020204" pitchFamily="34" charset="0"/>
              </a:rPr>
              <a:t>) </a:t>
            </a:r>
            <a:endParaRPr lang="zh-CN" altLang="zh-CN" sz="2400" kern="100" dirty="0"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  <a:p>
            <a:pPr indent="279400">
              <a:lnSpc>
                <a:spcPct val="200000"/>
              </a:lnSpc>
            </a:pPr>
            <a:r>
              <a:rPr lang="en-US" altLang="zh-CN" sz="2400" kern="0" dirty="0">
                <a:solidFill>
                  <a:srgbClr val="333333"/>
                </a:solidFill>
                <a:latin typeface="楷体" pitchFamily="49" charset="-122"/>
                <a:ea typeface="楷体" pitchFamily="49" charset="-122"/>
                <a:cs typeface="Arial" panose="020B0604020202020204" pitchFamily="34" charset="0"/>
              </a:rPr>
              <a:t>china </a:t>
            </a:r>
            <a:endParaRPr lang="en-US" altLang="zh-CN" sz="2400" kern="100" dirty="0"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2400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&gt;&gt;&gt;</a:t>
            </a:r>
            <a:r>
              <a:rPr lang="en-US" altLang="zh-CN" sz="2400" kern="0" dirty="0">
                <a:solidFill>
                  <a:srgbClr val="333333"/>
                </a:solidFill>
                <a:latin typeface="楷体" pitchFamily="49" charset="-122"/>
                <a:ea typeface="楷体" pitchFamily="49" charset="-122"/>
                <a:cs typeface="Arial" panose="020B0604020202020204" pitchFamily="34" charset="0"/>
              </a:rPr>
              <a:t> </a:t>
            </a:r>
            <a:endParaRPr lang="zh-CN" altLang="zh-CN" sz="2400" kern="100" dirty="0">
              <a:effectLst/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2087851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49797" y="404664"/>
            <a:ext cx="11449272" cy="60939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kern="0" dirty="0" smtClean="0">
                <a:solidFill>
                  <a:srgbClr val="3E3E3E"/>
                </a:solidFill>
                <a:latin typeface="仿宋" panose="02010609060101010101" pitchFamily="49" charset="-122"/>
                <a:ea typeface="宋体" panose="02010600030101010101" pitchFamily="2" charset="-122"/>
                <a:cs typeface="Helvetica" panose="020B0604020202020204" pitchFamily="34" charset="0"/>
              </a:rPr>
              <a:t>（</a:t>
            </a:r>
            <a:r>
              <a:rPr lang="en-US" altLang="zh-CN" sz="2000" b="1" kern="0" dirty="0" smtClean="0">
                <a:solidFill>
                  <a:srgbClr val="3E3E3E"/>
                </a:solidFill>
                <a:latin typeface="仿宋" panose="02010609060101010101" pitchFamily="49" charset="-122"/>
                <a:ea typeface="宋体" panose="02010600030101010101" pitchFamily="2" charset="-122"/>
                <a:cs typeface="Helvetica" panose="020B0604020202020204" pitchFamily="34" charset="0"/>
              </a:rPr>
              <a:t>3</a:t>
            </a:r>
            <a:r>
              <a:rPr lang="zh-CN" altLang="en-US" sz="2000" b="1" kern="0" dirty="0" smtClean="0">
                <a:solidFill>
                  <a:srgbClr val="3E3E3E"/>
                </a:solidFill>
                <a:latin typeface="仿宋" panose="02010609060101010101" pitchFamily="49" charset="-122"/>
                <a:ea typeface="宋体" panose="02010600030101010101" pitchFamily="2" charset="-122"/>
                <a:cs typeface="Helvetica" panose="020B0604020202020204" pitchFamily="34" charset="0"/>
              </a:rPr>
              <a:t>）</a:t>
            </a:r>
            <a:r>
              <a:rPr lang="zh-CN" altLang="zh-CN" sz="2000" b="1" kern="0" dirty="0" smtClean="0">
                <a:solidFill>
                  <a:srgbClr val="3E3E3E"/>
                </a:solidFill>
                <a:latin typeface="Calibri" panose="020F0502020204030204" pitchFamily="34" charset="0"/>
                <a:ea typeface="仿宋" panose="02010609060101010101" pitchFamily="49" charset="-122"/>
                <a:cs typeface="Helvetica" panose="020B0604020202020204" pitchFamily="34" charset="0"/>
              </a:rPr>
              <a:t>语法</a:t>
            </a:r>
            <a:endParaRPr lang="zh-CN" altLang="zh-CN" sz="20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0" dirty="0">
                <a:solidFill>
                  <a:srgbClr val="3E3E3E"/>
                </a:solidFill>
                <a:latin typeface="仿宋" panose="02010609060101010101" pitchFamily="49" charset="-122"/>
                <a:ea typeface="宋体" panose="02010600030101010101" pitchFamily="2" charset="-122"/>
                <a:cs typeface="Helvetica" panose="020B0604020202020204" pitchFamily="34" charset="0"/>
              </a:rPr>
              <a:t>1</a:t>
            </a:r>
            <a:r>
              <a:rPr lang="zh-CN" altLang="zh-CN" sz="2000" kern="0" dirty="0">
                <a:solidFill>
                  <a:srgbClr val="3E3E3E"/>
                </a:solidFill>
                <a:latin typeface="Calibri" panose="020F0502020204030204" pitchFamily="34" charset="0"/>
                <a:ea typeface="仿宋" panose="02010609060101010101" pitchFamily="49" charset="-122"/>
                <a:cs typeface="Helvetica" panose="020B0604020202020204" pitchFamily="34" charset="0"/>
              </a:rPr>
              <a:t>）去除了不等号</a:t>
            </a:r>
            <a:r>
              <a:rPr lang="en-US" altLang="zh-CN" sz="2000" kern="0" dirty="0">
                <a:solidFill>
                  <a:srgbClr val="3E3E3E"/>
                </a:solidFill>
                <a:latin typeface="Calibri" panose="020F0502020204030204" pitchFamily="34" charset="0"/>
                <a:ea typeface="仿宋" panose="02010609060101010101" pitchFamily="49" charset="-122"/>
                <a:cs typeface="Helvetica" panose="020B0604020202020204" pitchFamily="34" charset="0"/>
              </a:rPr>
              <a:t>&lt;&gt;</a:t>
            </a:r>
            <a:r>
              <a:rPr lang="zh-CN" altLang="zh-CN" sz="2000" kern="0" dirty="0">
                <a:solidFill>
                  <a:srgbClr val="3E3E3E"/>
                </a:solidFill>
                <a:latin typeface="Calibri" panose="020F0502020204030204" pitchFamily="34" charset="0"/>
                <a:ea typeface="仿宋" panose="02010609060101010101" pitchFamily="49" charset="-122"/>
                <a:cs typeface="Helvetica" panose="020B0604020202020204" pitchFamily="34" charset="0"/>
              </a:rPr>
              <a:t>，全部改用</a:t>
            </a:r>
            <a:r>
              <a:rPr lang="en-US" altLang="zh-CN" sz="2000" kern="0" dirty="0">
                <a:solidFill>
                  <a:srgbClr val="3E3E3E"/>
                </a:solidFill>
                <a:latin typeface="Calibri" panose="020F0502020204030204" pitchFamily="34" charset="0"/>
                <a:ea typeface="仿宋" panose="02010609060101010101" pitchFamily="49" charset="-122"/>
                <a:cs typeface="Helvetica" panose="020B0604020202020204" pitchFamily="34" charset="0"/>
              </a:rPr>
              <a:t>!=</a:t>
            </a:r>
            <a:r>
              <a:rPr lang="zh-CN" altLang="zh-CN" sz="2000" kern="0" dirty="0">
                <a:solidFill>
                  <a:srgbClr val="3E3E3E"/>
                </a:solidFill>
                <a:latin typeface="Calibri" panose="020F0502020204030204" pitchFamily="34" charset="0"/>
                <a:ea typeface="仿宋" panose="02010609060101010101" pitchFamily="49" charset="-122"/>
                <a:cs typeface="Helvetica" panose="020B0604020202020204" pitchFamily="34" charset="0"/>
              </a:rPr>
              <a:t>。</a:t>
            </a:r>
            <a:endParaRPr lang="zh-CN" altLang="zh-CN" sz="20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0" dirty="0">
                <a:solidFill>
                  <a:srgbClr val="3E3E3E"/>
                </a:solidFill>
                <a:latin typeface="仿宋" panose="02010609060101010101" pitchFamily="49" charset="-122"/>
                <a:ea typeface="宋体" panose="02010600030101010101" pitchFamily="2" charset="-122"/>
                <a:cs typeface="Helvetica" panose="020B0604020202020204" pitchFamily="34" charset="0"/>
              </a:rPr>
              <a:t>2</a:t>
            </a:r>
            <a:r>
              <a:rPr lang="zh-CN" altLang="zh-CN" sz="2000" kern="0" dirty="0">
                <a:solidFill>
                  <a:srgbClr val="3E3E3E"/>
                </a:solidFill>
                <a:latin typeface="Calibri" panose="020F0502020204030204" pitchFamily="34" charset="0"/>
                <a:ea typeface="仿宋" panose="02010609060101010101" pitchFamily="49" charset="-122"/>
                <a:cs typeface="Helvetica" panose="020B0604020202020204" pitchFamily="34" charset="0"/>
              </a:rPr>
              <a:t>）关键词加入</a:t>
            </a:r>
            <a:r>
              <a:rPr lang="en-US" altLang="zh-CN" sz="2000" kern="0" dirty="0">
                <a:solidFill>
                  <a:srgbClr val="3E3E3E"/>
                </a:solidFill>
                <a:latin typeface="Calibri" panose="020F0502020204030204" pitchFamily="34" charset="0"/>
                <a:ea typeface="仿宋" panose="02010609060101010101" pitchFamily="49" charset="-122"/>
                <a:cs typeface="Helvetica" panose="020B0604020202020204" pitchFamily="34" charset="0"/>
              </a:rPr>
              <a:t>as </a:t>
            </a:r>
            <a:r>
              <a:rPr lang="zh-CN" altLang="zh-CN" sz="2000" kern="0" dirty="0">
                <a:solidFill>
                  <a:srgbClr val="3E3E3E"/>
                </a:solidFill>
                <a:latin typeface="Calibri" panose="020F0502020204030204" pitchFamily="34" charset="0"/>
                <a:ea typeface="仿宋" panose="02010609060101010101" pitchFamily="49" charset="-122"/>
                <a:cs typeface="Helvetica" panose="020B0604020202020204" pitchFamily="34" charset="0"/>
              </a:rPr>
              <a:t>和</a:t>
            </a:r>
            <a:r>
              <a:rPr lang="en-US" altLang="zh-CN" sz="2000" kern="0" dirty="0">
                <a:solidFill>
                  <a:srgbClr val="3E3E3E"/>
                </a:solidFill>
                <a:latin typeface="Calibri" panose="020F0502020204030204" pitchFamily="34" charset="0"/>
                <a:ea typeface="仿宋" panose="02010609060101010101" pitchFamily="49" charset="-122"/>
                <a:cs typeface="Helvetica" panose="020B0604020202020204" pitchFamily="34" charset="0"/>
              </a:rPr>
              <a:t>with</a:t>
            </a:r>
            <a:r>
              <a:rPr lang="zh-CN" altLang="zh-CN" sz="2000" kern="0" dirty="0">
                <a:solidFill>
                  <a:srgbClr val="3E3E3E"/>
                </a:solidFill>
                <a:latin typeface="Calibri" panose="020F0502020204030204" pitchFamily="34" charset="0"/>
                <a:ea typeface="仿宋" panose="02010609060101010101" pitchFamily="49" charset="-122"/>
                <a:cs typeface="Helvetica" panose="020B0604020202020204" pitchFamily="34" charset="0"/>
              </a:rPr>
              <a:t>，还有</a:t>
            </a:r>
            <a:r>
              <a:rPr lang="en-US" altLang="zh-CN" sz="2000" kern="0" dirty="0" err="1">
                <a:solidFill>
                  <a:srgbClr val="3E3E3E"/>
                </a:solidFill>
                <a:latin typeface="Calibri" panose="020F0502020204030204" pitchFamily="34" charset="0"/>
                <a:ea typeface="仿宋" panose="02010609060101010101" pitchFamily="49" charset="-122"/>
                <a:cs typeface="Helvetica" panose="020B0604020202020204" pitchFamily="34" charset="0"/>
              </a:rPr>
              <a:t>True,False,None</a:t>
            </a:r>
            <a:r>
              <a:rPr lang="zh-CN" altLang="zh-CN" sz="2000" kern="0" dirty="0">
                <a:solidFill>
                  <a:srgbClr val="3E3E3E"/>
                </a:solidFill>
                <a:latin typeface="Calibri" panose="020F0502020204030204" pitchFamily="34" charset="0"/>
                <a:ea typeface="仿宋" panose="02010609060101010101" pitchFamily="49" charset="-122"/>
                <a:cs typeface="Helvetica" panose="020B0604020202020204" pitchFamily="34" charset="0"/>
              </a:rPr>
              <a:t>。</a:t>
            </a:r>
            <a:endParaRPr lang="zh-CN" altLang="zh-CN" sz="20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0" dirty="0">
                <a:solidFill>
                  <a:srgbClr val="3E3E3E"/>
                </a:solidFill>
                <a:latin typeface="仿宋" panose="02010609060101010101" pitchFamily="49" charset="-122"/>
                <a:ea typeface="宋体" panose="02010600030101010101" pitchFamily="2" charset="-122"/>
                <a:cs typeface="Helvetica" panose="020B0604020202020204" pitchFamily="34" charset="0"/>
              </a:rPr>
              <a:t>3</a:t>
            </a:r>
            <a:r>
              <a:rPr lang="zh-CN" altLang="zh-CN" sz="2000" kern="0" dirty="0">
                <a:solidFill>
                  <a:srgbClr val="3E3E3E"/>
                </a:solidFill>
                <a:latin typeface="Calibri" panose="020F0502020204030204" pitchFamily="34" charset="0"/>
                <a:ea typeface="仿宋" panose="02010609060101010101" pitchFamily="49" charset="-122"/>
                <a:cs typeface="Helvetica" panose="020B0604020202020204" pitchFamily="34" charset="0"/>
              </a:rPr>
              <a:t>）整型除法返回浮点数，要得到整型结果，请使用</a:t>
            </a:r>
            <a:r>
              <a:rPr lang="en-US" altLang="zh-CN" sz="2000" kern="0" dirty="0">
                <a:solidFill>
                  <a:srgbClr val="3E3E3E"/>
                </a:solidFill>
                <a:latin typeface="Calibri" panose="020F0502020204030204" pitchFamily="34" charset="0"/>
                <a:ea typeface="仿宋" panose="02010609060101010101" pitchFamily="49" charset="-122"/>
                <a:cs typeface="Helvetica" panose="020B0604020202020204" pitchFamily="34" charset="0"/>
              </a:rPr>
              <a:t>//</a:t>
            </a:r>
            <a:r>
              <a:rPr lang="zh-CN" altLang="zh-CN" sz="2000" kern="0" dirty="0">
                <a:solidFill>
                  <a:srgbClr val="3E3E3E"/>
                </a:solidFill>
                <a:latin typeface="Calibri" panose="020F0502020204030204" pitchFamily="34" charset="0"/>
                <a:ea typeface="仿宋" panose="02010609060101010101" pitchFamily="49" charset="-122"/>
                <a:cs typeface="Helvetica" panose="020B0604020202020204" pitchFamily="34" charset="0"/>
              </a:rPr>
              <a:t>。</a:t>
            </a:r>
            <a:endParaRPr lang="zh-CN" altLang="zh-CN" sz="20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0" dirty="0">
                <a:solidFill>
                  <a:srgbClr val="3E3E3E"/>
                </a:solidFill>
                <a:latin typeface="仿宋" panose="02010609060101010101" pitchFamily="49" charset="-122"/>
                <a:ea typeface="宋体" panose="02010600030101010101" pitchFamily="2" charset="-122"/>
                <a:cs typeface="Helvetica" panose="020B0604020202020204" pitchFamily="34" charset="0"/>
              </a:rPr>
              <a:t>4</a:t>
            </a:r>
            <a:r>
              <a:rPr lang="zh-CN" altLang="zh-CN" sz="2000" kern="0" dirty="0">
                <a:solidFill>
                  <a:srgbClr val="3E3E3E"/>
                </a:solidFill>
                <a:latin typeface="Calibri" panose="020F0502020204030204" pitchFamily="34" charset="0"/>
                <a:ea typeface="仿宋" panose="02010609060101010101" pitchFamily="49" charset="-122"/>
                <a:cs typeface="Helvetica" panose="020B0604020202020204" pitchFamily="34" charset="0"/>
              </a:rPr>
              <a:t>）去除</a:t>
            </a:r>
            <a:r>
              <a:rPr lang="en-US" altLang="zh-CN" sz="2000" kern="0" dirty="0">
                <a:solidFill>
                  <a:srgbClr val="3E3E3E"/>
                </a:solidFill>
                <a:latin typeface="Calibri" panose="020F0502020204030204" pitchFamily="34" charset="0"/>
                <a:ea typeface="仿宋" panose="02010609060101010101" pitchFamily="49" charset="-122"/>
                <a:cs typeface="Helvetica" panose="020B0604020202020204" pitchFamily="34" charset="0"/>
              </a:rPr>
              <a:t>print</a:t>
            </a:r>
            <a:r>
              <a:rPr lang="zh-CN" altLang="zh-CN" sz="2000" kern="0" dirty="0">
                <a:solidFill>
                  <a:srgbClr val="3E3E3E"/>
                </a:solidFill>
                <a:latin typeface="Calibri" panose="020F0502020204030204" pitchFamily="34" charset="0"/>
                <a:ea typeface="仿宋" panose="02010609060101010101" pitchFamily="49" charset="-122"/>
                <a:cs typeface="Helvetica" panose="020B0604020202020204" pitchFamily="34" charset="0"/>
              </a:rPr>
              <a:t>语句，加入</a:t>
            </a:r>
            <a:r>
              <a:rPr lang="en-US" altLang="zh-CN" sz="2000" kern="0" dirty="0">
                <a:solidFill>
                  <a:srgbClr val="3E3E3E"/>
                </a:solidFill>
                <a:latin typeface="Calibri" panose="020F0502020204030204" pitchFamily="34" charset="0"/>
                <a:ea typeface="仿宋" panose="02010609060101010101" pitchFamily="49" charset="-122"/>
                <a:cs typeface="Helvetica" panose="020B0604020202020204" pitchFamily="34" charset="0"/>
              </a:rPr>
              <a:t>print()</a:t>
            </a:r>
            <a:r>
              <a:rPr lang="zh-CN" altLang="zh-CN" sz="2000" kern="0" dirty="0">
                <a:solidFill>
                  <a:srgbClr val="3E3E3E"/>
                </a:solidFill>
                <a:latin typeface="Calibri" panose="020F0502020204030204" pitchFamily="34" charset="0"/>
                <a:ea typeface="仿宋" panose="02010609060101010101" pitchFamily="49" charset="-122"/>
                <a:cs typeface="Helvetica" panose="020B0604020202020204" pitchFamily="34" charset="0"/>
              </a:rPr>
              <a:t>函数实现相同的功能。同样的还有</a:t>
            </a:r>
            <a:r>
              <a:rPr lang="en-US" altLang="zh-CN" sz="2000" kern="0" dirty="0">
                <a:solidFill>
                  <a:srgbClr val="3E3E3E"/>
                </a:solidFill>
                <a:latin typeface="Calibri" panose="020F0502020204030204" pitchFamily="34" charset="0"/>
                <a:ea typeface="仿宋" panose="02010609060101010101" pitchFamily="49" charset="-122"/>
                <a:cs typeface="Helvetica" panose="020B0604020202020204" pitchFamily="34" charset="0"/>
              </a:rPr>
              <a:t> exec</a:t>
            </a:r>
            <a:r>
              <a:rPr lang="zh-CN" altLang="zh-CN" sz="2000" kern="0" dirty="0">
                <a:solidFill>
                  <a:srgbClr val="3E3E3E"/>
                </a:solidFill>
                <a:latin typeface="Calibri" panose="020F0502020204030204" pitchFamily="34" charset="0"/>
                <a:ea typeface="仿宋" panose="02010609060101010101" pitchFamily="49" charset="-122"/>
                <a:cs typeface="Helvetica" panose="020B0604020202020204" pitchFamily="34" charset="0"/>
              </a:rPr>
              <a:t>语句，已经改为</a:t>
            </a:r>
            <a:r>
              <a:rPr lang="en-US" altLang="zh-CN" sz="2000" kern="0" dirty="0">
                <a:solidFill>
                  <a:srgbClr val="3E3E3E"/>
                </a:solidFill>
                <a:latin typeface="Calibri" panose="020F0502020204030204" pitchFamily="34" charset="0"/>
                <a:ea typeface="仿宋" panose="02010609060101010101" pitchFamily="49" charset="-122"/>
                <a:cs typeface="Helvetica" panose="020B0604020202020204" pitchFamily="34" charset="0"/>
              </a:rPr>
              <a:t>exec()</a:t>
            </a:r>
            <a:r>
              <a:rPr lang="zh-CN" altLang="zh-CN" sz="2000" kern="0" dirty="0">
                <a:solidFill>
                  <a:srgbClr val="3E3E3E"/>
                </a:solidFill>
                <a:latin typeface="Calibri" panose="020F0502020204030204" pitchFamily="34" charset="0"/>
                <a:ea typeface="仿宋" panose="02010609060101010101" pitchFamily="49" charset="-122"/>
                <a:cs typeface="Helvetica" panose="020B0604020202020204" pitchFamily="34" charset="0"/>
              </a:rPr>
              <a:t>函数。例如： </a:t>
            </a:r>
            <a:endParaRPr lang="zh-CN" altLang="zh-CN" sz="20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0" dirty="0" smtClean="0">
                <a:solidFill>
                  <a:srgbClr val="3E3E3E"/>
                </a:solidFill>
                <a:latin typeface="仿宋" panose="02010609060101010101" pitchFamily="49" charset="-122"/>
                <a:ea typeface="宋体" panose="02010600030101010101" pitchFamily="2" charset="-122"/>
                <a:cs typeface="Helvetica" panose="020B0604020202020204" pitchFamily="34" charset="0"/>
              </a:rPr>
              <a:t>     2.X</a:t>
            </a:r>
            <a:r>
              <a:rPr lang="en-US" altLang="zh-CN" sz="2000" kern="0" dirty="0">
                <a:solidFill>
                  <a:srgbClr val="3E3E3E"/>
                </a:solidFill>
                <a:latin typeface="仿宋" panose="02010609060101010101" pitchFamily="49" charset="-122"/>
                <a:ea typeface="宋体" panose="02010600030101010101" pitchFamily="2" charset="-122"/>
                <a:cs typeface="Helvetica" panose="020B0604020202020204" pitchFamily="34" charset="0"/>
              </a:rPr>
              <a:t>: print "The answer is", 2*2 </a:t>
            </a:r>
            <a:endParaRPr lang="zh-CN" altLang="zh-CN" sz="20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0" dirty="0" smtClean="0">
                <a:solidFill>
                  <a:srgbClr val="3E3E3E"/>
                </a:solidFill>
                <a:latin typeface="仿宋" panose="02010609060101010101" pitchFamily="49" charset="-122"/>
                <a:ea typeface="宋体" panose="02010600030101010101" pitchFamily="2" charset="-122"/>
                <a:cs typeface="Helvetica" panose="020B0604020202020204" pitchFamily="34" charset="0"/>
              </a:rPr>
              <a:t>     3.X</a:t>
            </a:r>
            <a:r>
              <a:rPr lang="en-US" altLang="zh-CN" sz="2000" kern="0" dirty="0">
                <a:solidFill>
                  <a:srgbClr val="3E3E3E"/>
                </a:solidFill>
                <a:latin typeface="仿宋" panose="02010609060101010101" pitchFamily="49" charset="-122"/>
                <a:ea typeface="宋体" panose="02010600030101010101" pitchFamily="2" charset="-122"/>
                <a:cs typeface="Helvetica" panose="020B0604020202020204" pitchFamily="34" charset="0"/>
              </a:rPr>
              <a:t>: print("The answer is", 2*2) </a:t>
            </a:r>
            <a:endParaRPr lang="zh-CN" altLang="zh-CN" sz="20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0" dirty="0">
                <a:solidFill>
                  <a:srgbClr val="3E3E3E"/>
                </a:solidFill>
                <a:latin typeface="仿宋" panose="02010609060101010101" pitchFamily="49" charset="-122"/>
                <a:ea typeface="宋体" panose="02010600030101010101" pitchFamily="2" charset="-122"/>
                <a:cs typeface="Helvetica" panose="020B0604020202020204" pitchFamily="34" charset="0"/>
              </a:rPr>
              <a:t>5</a:t>
            </a:r>
            <a:r>
              <a:rPr lang="zh-CN" altLang="zh-CN" sz="2000" kern="0" dirty="0">
                <a:solidFill>
                  <a:srgbClr val="3E3E3E"/>
                </a:solidFill>
                <a:latin typeface="Calibri" panose="020F0502020204030204" pitchFamily="34" charset="0"/>
                <a:ea typeface="仿宋" panose="02010609060101010101" pitchFamily="49" charset="-122"/>
                <a:cs typeface="Helvetica" panose="020B0604020202020204" pitchFamily="34" charset="0"/>
              </a:rPr>
              <a:t>）改变了顺序操作符的行为，例如</a:t>
            </a:r>
            <a:r>
              <a:rPr lang="en-US" altLang="zh-CN" sz="2000" kern="0" dirty="0">
                <a:solidFill>
                  <a:srgbClr val="3E3E3E"/>
                </a:solidFill>
                <a:latin typeface="Calibri" panose="020F0502020204030204" pitchFamily="34" charset="0"/>
                <a:ea typeface="仿宋" panose="02010609060101010101" pitchFamily="49" charset="-122"/>
                <a:cs typeface="Helvetica" panose="020B0604020202020204" pitchFamily="34" charset="0"/>
              </a:rPr>
              <a:t>x&lt;y</a:t>
            </a:r>
            <a:r>
              <a:rPr lang="zh-CN" altLang="zh-CN" sz="2000" kern="0" dirty="0">
                <a:solidFill>
                  <a:srgbClr val="3E3E3E"/>
                </a:solidFill>
                <a:latin typeface="Calibri" panose="020F0502020204030204" pitchFamily="34" charset="0"/>
                <a:ea typeface="仿宋" panose="02010609060101010101" pitchFamily="49" charset="-122"/>
                <a:cs typeface="Helvetica" panose="020B0604020202020204" pitchFamily="34" charset="0"/>
              </a:rPr>
              <a:t>，当</a:t>
            </a:r>
            <a:r>
              <a:rPr lang="en-US" altLang="zh-CN" sz="2000" kern="0" dirty="0">
                <a:solidFill>
                  <a:srgbClr val="3E3E3E"/>
                </a:solidFill>
                <a:latin typeface="Calibri" panose="020F0502020204030204" pitchFamily="34" charset="0"/>
                <a:ea typeface="仿宋" panose="02010609060101010101" pitchFamily="49" charset="-122"/>
                <a:cs typeface="Helvetica" panose="020B0604020202020204" pitchFamily="34" charset="0"/>
              </a:rPr>
              <a:t>x</a:t>
            </a:r>
            <a:r>
              <a:rPr lang="zh-CN" altLang="zh-CN" sz="2000" kern="0" dirty="0">
                <a:solidFill>
                  <a:srgbClr val="3E3E3E"/>
                </a:solidFill>
                <a:latin typeface="Calibri" panose="020F0502020204030204" pitchFamily="34" charset="0"/>
                <a:ea typeface="仿宋" panose="02010609060101010101" pitchFamily="49" charset="-122"/>
                <a:cs typeface="Helvetica" panose="020B0604020202020204" pitchFamily="34" charset="0"/>
              </a:rPr>
              <a:t>和</a:t>
            </a:r>
            <a:r>
              <a:rPr lang="en-US" altLang="zh-CN" sz="2000" kern="0" dirty="0">
                <a:solidFill>
                  <a:srgbClr val="3E3E3E"/>
                </a:solidFill>
                <a:latin typeface="Calibri" panose="020F0502020204030204" pitchFamily="34" charset="0"/>
                <a:ea typeface="仿宋" panose="02010609060101010101" pitchFamily="49" charset="-122"/>
                <a:cs typeface="Helvetica" panose="020B0604020202020204" pitchFamily="34" charset="0"/>
              </a:rPr>
              <a:t>y</a:t>
            </a:r>
            <a:r>
              <a:rPr lang="zh-CN" altLang="zh-CN" sz="2000" kern="0" dirty="0">
                <a:solidFill>
                  <a:srgbClr val="3E3E3E"/>
                </a:solidFill>
                <a:latin typeface="Calibri" panose="020F0502020204030204" pitchFamily="34" charset="0"/>
                <a:ea typeface="仿宋" panose="02010609060101010101" pitchFamily="49" charset="-122"/>
                <a:cs typeface="Helvetica" panose="020B0604020202020204" pitchFamily="34" charset="0"/>
              </a:rPr>
              <a:t>类型不匹配时抛出</a:t>
            </a:r>
            <a:r>
              <a:rPr lang="en-US" altLang="zh-CN" sz="2000" kern="0" dirty="0" err="1">
                <a:solidFill>
                  <a:srgbClr val="3E3E3E"/>
                </a:solidFill>
                <a:latin typeface="Calibri" panose="020F0502020204030204" pitchFamily="34" charset="0"/>
                <a:ea typeface="仿宋" panose="02010609060101010101" pitchFamily="49" charset="-122"/>
                <a:cs typeface="Helvetica" panose="020B0604020202020204" pitchFamily="34" charset="0"/>
              </a:rPr>
              <a:t>TypeError</a:t>
            </a:r>
            <a:r>
              <a:rPr lang="zh-CN" altLang="zh-CN" sz="2000" kern="0" dirty="0">
                <a:solidFill>
                  <a:srgbClr val="3E3E3E"/>
                </a:solidFill>
                <a:latin typeface="Calibri" panose="020F0502020204030204" pitchFamily="34" charset="0"/>
                <a:ea typeface="仿宋" panose="02010609060101010101" pitchFamily="49" charset="-122"/>
                <a:cs typeface="Helvetica" panose="020B0604020202020204" pitchFamily="34" charset="0"/>
              </a:rPr>
              <a:t>而不是返回随即的</a:t>
            </a:r>
            <a:r>
              <a:rPr lang="en-US" altLang="zh-CN" sz="2000" kern="0" dirty="0">
                <a:solidFill>
                  <a:srgbClr val="3E3E3E"/>
                </a:solidFill>
                <a:latin typeface="Calibri" panose="020F0502020204030204" pitchFamily="34" charset="0"/>
                <a:ea typeface="仿宋" panose="02010609060101010101" pitchFamily="49" charset="-122"/>
                <a:cs typeface="Helvetica" panose="020B0604020202020204" pitchFamily="34" charset="0"/>
              </a:rPr>
              <a:t> bool</a:t>
            </a:r>
            <a:r>
              <a:rPr lang="zh-CN" altLang="zh-CN" sz="2000" kern="0" dirty="0">
                <a:solidFill>
                  <a:srgbClr val="3E3E3E"/>
                </a:solidFill>
                <a:latin typeface="Calibri" panose="020F0502020204030204" pitchFamily="34" charset="0"/>
                <a:ea typeface="仿宋" panose="02010609060101010101" pitchFamily="49" charset="-122"/>
                <a:cs typeface="Helvetica" panose="020B0604020202020204" pitchFamily="34" charset="0"/>
              </a:rPr>
              <a:t>值。</a:t>
            </a:r>
            <a:endParaRPr lang="zh-CN" altLang="zh-CN" sz="20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0" dirty="0">
                <a:solidFill>
                  <a:srgbClr val="3E3E3E"/>
                </a:solidFill>
                <a:latin typeface="仿宋" panose="02010609060101010101" pitchFamily="49" charset="-122"/>
                <a:ea typeface="宋体" panose="02010600030101010101" pitchFamily="2" charset="-122"/>
                <a:cs typeface="Helvetica" panose="020B0604020202020204" pitchFamily="34" charset="0"/>
              </a:rPr>
              <a:t>6</a:t>
            </a:r>
            <a:r>
              <a:rPr lang="zh-CN" altLang="zh-CN" sz="2000" kern="0" dirty="0">
                <a:solidFill>
                  <a:srgbClr val="3E3E3E"/>
                </a:solidFill>
                <a:latin typeface="Calibri" panose="020F0502020204030204" pitchFamily="34" charset="0"/>
                <a:ea typeface="仿宋" panose="02010609060101010101" pitchFamily="49" charset="-122"/>
                <a:cs typeface="Helvetica" panose="020B0604020202020204" pitchFamily="34" charset="0"/>
              </a:rPr>
              <a:t>）输入函数</a:t>
            </a:r>
            <a:r>
              <a:rPr lang="zh-CN" altLang="zh-CN" sz="2000" kern="0" dirty="0" smtClean="0">
                <a:solidFill>
                  <a:srgbClr val="3E3E3E"/>
                </a:solidFill>
                <a:latin typeface="Calibri" panose="020F0502020204030204" pitchFamily="34" charset="0"/>
                <a:ea typeface="仿宋" panose="02010609060101010101" pitchFamily="49" charset="-122"/>
                <a:cs typeface="Helvetica" panose="020B0604020202020204" pitchFamily="34" charset="0"/>
              </a:rPr>
              <a:t>改变，</a:t>
            </a:r>
            <a:r>
              <a:rPr lang="zh-CN" altLang="zh-CN" sz="2000" kern="0" dirty="0">
                <a:solidFill>
                  <a:srgbClr val="3E3E3E"/>
                </a:solidFill>
                <a:latin typeface="Calibri" panose="020F0502020204030204" pitchFamily="34" charset="0"/>
                <a:ea typeface="仿宋" panose="02010609060101010101" pitchFamily="49" charset="-122"/>
                <a:cs typeface="Helvetica" panose="020B0604020202020204" pitchFamily="34" charset="0"/>
              </a:rPr>
              <a:t>删除了</a:t>
            </a:r>
            <a:r>
              <a:rPr lang="en-US" altLang="zh-CN" sz="2000" kern="0" dirty="0" err="1">
                <a:solidFill>
                  <a:srgbClr val="3E3E3E"/>
                </a:solidFill>
                <a:latin typeface="Calibri" panose="020F0502020204030204" pitchFamily="34" charset="0"/>
                <a:ea typeface="仿宋" panose="02010609060101010101" pitchFamily="49" charset="-122"/>
                <a:cs typeface="Helvetica" panose="020B0604020202020204" pitchFamily="34" charset="0"/>
              </a:rPr>
              <a:t>raw_input</a:t>
            </a:r>
            <a:r>
              <a:rPr lang="zh-CN" altLang="zh-CN" sz="2000" kern="0" dirty="0">
                <a:solidFill>
                  <a:srgbClr val="3E3E3E"/>
                </a:solidFill>
                <a:latin typeface="Calibri" panose="020F0502020204030204" pitchFamily="34" charset="0"/>
                <a:ea typeface="仿宋" panose="02010609060101010101" pitchFamily="49" charset="-122"/>
                <a:cs typeface="Helvetica" panose="020B0604020202020204" pitchFamily="34" charset="0"/>
              </a:rPr>
              <a:t>，用</a:t>
            </a:r>
            <a:r>
              <a:rPr lang="en-US" altLang="zh-CN" sz="2000" kern="0" dirty="0">
                <a:solidFill>
                  <a:srgbClr val="3E3E3E"/>
                </a:solidFill>
                <a:latin typeface="Calibri" panose="020F0502020204030204" pitchFamily="34" charset="0"/>
                <a:ea typeface="仿宋" panose="02010609060101010101" pitchFamily="49" charset="-122"/>
                <a:cs typeface="Helvetica" panose="020B0604020202020204" pitchFamily="34" charset="0"/>
              </a:rPr>
              <a:t>input</a:t>
            </a:r>
            <a:r>
              <a:rPr lang="zh-CN" altLang="zh-CN" sz="2000" kern="0" dirty="0">
                <a:solidFill>
                  <a:srgbClr val="3E3E3E"/>
                </a:solidFill>
                <a:latin typeface="Calibri" panose="020F0502020204030204" pitchFamily="34" charset="0"/>
                <a:ea typeface="仿宋" panose="02010609060101010101" pitchFamily="49" charset="-122"/>
                <a:cs typeface="Helvetica" panose="020B0604020202020204" pitchFamily="34" charset="0"/>
              </a:rPr>
              <a:t>代替： </a:t>
            </a:r>
            <a:endParaRPr lang="zh-CN" altLang="zh-CN" sz="20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89535" indent="152400">
              <a:lnSpc>
                <a:spcPct val="150000"/>
              </a:lnSpc>
            </a:pPr>
            <a:r>
              <a:rPr lang="en-US" altLang="zh-CN" sz="2000" kern="0" dirty="0" smtClean="0">
                <a:solidFill>
                  <a:srgbClr val="3E3E3E"/>
                </a:solidFill>
                <a:latin typeface="仿宋" panose="02010609060101010101" pitchFamily="49" charset="-122"/>
                <a:ea typeface="宋体" panose="02010600030101010101" pitchFamily="2" charset="-122"/>
                <a:cs typeface="Helvetica" panose="020B0604020202020204" pitchFamily="34" charset="0"/>
              </a:rPr>
              <a:t>   2.X</a:t>
            </a:r>
            <a:r>
              <a:rPr lang="en-US" altLang="zh-CN" sz="2000" kern="0" dirty="0">
                <a:solidFill>
                  <a:srgbClr val="3E3E3E"/>
                </a:solidFill>
                <a:latin typeface="仿宋" panose="02010609060101010101" pitchFamily="49" charset="-122"/>
                <a:ea typeface="宋体" panose="02010600030101010101" pitchFamily="2" charset="-122"/>
                <a:cs typeface="Helvetica" panose="020B0604020202020204" pitchFamily="34" charset="0"/>
              </a:rPr>
              <a:t>: guess = </a:t>
            </a:r>
            <a:r>
              <a:rPr lang="en-US" altLang="zh-CN" sz="2000" kern="0" dirty="0" err="1">
                <a:solidFill>
                  <a:srgbClr val="3E3E3E"/>
                </a:solidFill>
                <a:latin typeface="仿宋" panose="02010609060101010101" pitchFamily="49" charset="-122"/>
                <a:ea typeface="宋体" panose="02010600030101010101" pitchFamily="2" charset="-122"/>
                <a:cs typeface="Helvetica" panose="020B0604020202020204" pitchFamily="34" charset="0"/>
              </a:rPr>
              <a:t>int</a:t>
            </a:r>
            <a:r>
              <a:rPr lang="en-US" altLang="zh-CN" sz="2000" kern="0" dirty="0">
                <a:solidFill>
                  <a:srgbClr val="3E3E3E"/>
                </a:solidFill>
                <a:latin typeface="仿宋" panose="02010609060101010101" pitchFamily="49" charset="-122"/>
                <a:ea typeface="宋体" panose="02010600030101010101" pitchFamily="2" charset="-122"/>
                <a:cs typeface="Helvetica" panose="020B0604020202020204" pitchFamily="34" charset="0"/>
              </a:rPr>
              <a:t>(</a:t>
            </a:r>
            <a:r>
              <a:rPr lang="en-US" altLang="zh-CN" sz="2000" kern="0" dirty="0" err="1">
                <a:solidFill>
                  <a:srgbClr val="3E3E3E"/>
                </a:solidFill>
                <a:latin typeface="仿宋" panose="02010609060101010101" pitchFamily="49" charset="-122"/>
                <a:ea typeface="宋体" panose="02010600030101010101" pitchFamily="2" charset="-122"/>
                <a:cs typeface="Helvetica" panose="020B0604020202020204" pitchFamily="34" charset="0"/>
              </a:rPr>
              <a:t>raw_input</a:t>
            </a:r>
            <a:r>
              <a:rPr lang="en-US" altLang="zh-CN" sz="2000" kern="0" dirty="0">
                <a:solidFill>
                  <a:srgbClr val="3E3E3E"/>
                </a:solidFill>
                <a:latin typeface="仿宋" panose="02010609060101010101" pitchFamily="49" charset="-122"/>
                <a:ea typeface="宋体" panose="02010600030101010101" pitchFamily="2" charset="-122"/>
                <a:cs typeface="Helvetica" panose="020B0604020202020204" pitchFamily="34" charset="0"/>
              </a:rPr>
              <a:t>('Enter an integer : ')) </a:t>
            </a:r>
            <a:r>
              <a:rPr lang="zh-CN" altLang="zh-CN" sz="2000" kern="0" dirty="0">
                <a:solidFill>
                  <a:srgbClr val="3E3E3E"/>
                </a:solidFill>
                <a:latin typeface="Calibri" panose="020F0502020204030204" pitchFamily="34" charset="0"/>
                <a:ea typeface="仿宋" panose="02010609060101010101" pitchFamily="49" charset="-122"/>
                <a:cs typeface="Helvetica" panose="020B0604020202020204" pitchFamily="34" charset="0"/>
              </a:rPr>
              <a:t>读取键盘输入的方法 </a:t>
            </a:r>
            <a:endParaRPr lang="zh-CN" altLang="zh-CN" sz="20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89535" indent="152400">
              <a:lnSpc>
                <a:spcPct val="150000"/>
              </a:lnSpc>
            </a:pPr>
            <a:r>
              <a:rPr lang="en-US" altLang="zh-CN" sz="2000" kern="0" dirty="0" smtClean="0">
                <a:solidFill>
                  <a:srgbClr val="3E3E3E"/>
                </a:solidFill>
                <a:latin typeface="仿宋" panose="02010609060101010101" pitchFamily="49" charset="-122"/>
                <a:ea typeface="宋体" panose="02010600030101010101" pitchFamily="2" charset="-122"/>
                <a:cs typeface="Helvetica" panose="020B0604020202020204" pitchFamily="34" charset="0"/>
              </a:rPr>
              <a:t>   3.X</a:t>
            </a:r>
            <a:r>
              <a:rPr lang="en-US" altLang="zh-CN" sz="2000" kern="0" dirty="0">
                <a:solidFill>
                  <a:srgbClr val="3E3E3E"/>
                </a:solidFill>
                <a:latin typeface="仿宋" panose="02010609060101010101" pitchFamily="49" charset="-122"/>
                <a:ea typeface="宋体" panose="02010600030101010101" pitchFamily="2" charset="-122"/>
                <a:cs typeface="Helvetica" panose="020B0604020202020204" pitchFamily="34" charset="0"/>
              </a:rPr>
              <a:t>: guess = </a:t>
            </a:r>
            <a:r>
              <a:rPr lang="en-US" altLang="zh-CN" sz="2000" kern="0" dirty="0" err="1">
                <a:solidFill>
                  <a:srgbClr val="3E3E3E"/>
                </a:solidFill>
                <a:latin typeface="仿宋" panose="02010609060101010101" pitchFamily="49" charset="-122"/>
                <a:ea typeface="宋体" panose="02010600030101010101" pitchFamily="2" charset="-122"/>
                <a:cs typeface="Helvetica" panose="020B0604020202020204" pitchFamily="34" charset="0"/>
              </a:rPr>
              <a:t>int</a:t>
            </a:r>
            <a:r>
              <a:rPr lang="en-US" altLang="zh-CN" sz="2000" kern="0" dirty="0">
                <a:solidFill>
                  <a:srgbClr val="3E3E3E"/>
                </a:solidFill>
                <a:latin typeface="仿宋" panose="02010609060101010101" pitchFamily="49" charset="-122"/>
                <a:ea typeface="宋体" panose="02010600030101010101" pitchFamily="2" charset="-122"/>
                <a:cs typeface="Helvetica" panose="020B0604020202020204" pitchFamily="34" charset="0"/>
              </a:rPr>
              <a:t>(input('Enter an integer : ')) </a:t>
            </a:r>
            <a:endParaRPr lang="zh-CN" altLang="zh-CN" sz="20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0" dirty="0">
                <a:latin typeface="仿宋" panose="02010609060101010101" pitchFamily="49" charset="-122"/>
                <a:ea typeface="宋体" panose="02010600030101010101" pitchFamily="2" charset="-122"/>
                <a:cs typeface="Helvetica" panose="020B0604020202020204" pitchFamily="34" charset="0"/>
              </a:rPr>
              <a:t>7</a:t>
            </a:r>
            <a:r>
              <a:rPr lang="zh-CN" altLang="zh-CN" sz="2000" kern="0" dirty="0">
                <a:latin typeface="Calibri" panose="020F0502020204030204" pitchFamily="34" charset="0"/>
                <a:ea typeface="仿宋" panose="02010609060101010101" pitchFamily="49" charset="-122"/>
                <a:cs typeface="Helvetica" panose="020B0604020202020204" pitchFamily="34" charset="0"/>
              </a:rPr>
              <a:t>）删除了</a:t>
            </a:r>
            <a:r>
              <a:rPr lang="en-US" altLang="zh-CN" sz="2000" kern="0" dirty="0" err="1">
                <a:latin typeface="Calibri" panose="020F0502020204030204" pitchFamily="34" charset="0"/>
                <a:ea typeface="仿宋" panose="02010609060101010101" pitchFamily="49" charset="-122"/>
                <a:cs typeface="Helvetica" panose="020B0604020202020204" pitchFamily="34" charset="0"/>
              </a:rPr>
              <a:t>cmp</a:t>
            </a:r>
            <a:r>
              <a:rPr lang="zh-CN" altLang="zh-CN" sz="2000" kern="0" dirty="0">
                <a:latin typeface="Calibri" panose="020F0502020204030204" pitchFamily="34" charset="0"/>
                <a:ea typeface="仿宋" panose="02010609060101010101" pitchFamily="49" charset="-122"/>
                <a:cs typeface="Helvetica" panose="020B0604020202020204" pitchFamily="34" charset="0"/>
              </a:rPr>
              <a:t>（）比较函数。</a:t>
            </a:r>
            <a:endParaRPr lang="zh-CN" altLang="zh-CN" sz="20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873267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>
            <a:spLocks/>
          </p:cNvSpPr>
          <p:nvPr/>
        </p:nvSpPr>
        <p:spPr>
          <a:xfrm>
            <a:off x="477788" y="1124744"/>
            <a:ext cx="11071516" cy="666328"/>
          </a:xfrm>
          <a:prstGeom prst="rect">
            <a:avLst/>
          </a:prstGeom>
        </p:spPr>
        <p:txBody>
          <a:bodyPr vert="horz" lIns="0" tIns="45720" rIns="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实例演示：画方形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49797" y="2276872"/>
            <a:ext cx="453650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/>
              <a:t>import turtle as </a:t>
            </a:r>
            <a:r>
              <a:rPr lang="en-US" altLang="zh-CN" dirty="0" err="1" smtClean="0"/>
              <a:t>tu</a:t>
            </a:r>
            <a:endParaRPr lang="en-US" altLang="zh-CN" dirty="0" smtClean="0"/>
          </a:p>
          <a:p>
            <a:r>
              <a:rPr lang="en-US" altLang="zh-CN" dirty="0" smtClean="0"/>
              <a:t>#Method 1 </a:t>
            </a:r>
            <a:r>
              <a:rPr lang="zh-CN" altLang="en-US" dirty="0" smtClean="0"/>
              <a:t>画方形方法一（顺序结构）</a:t>
            </a:r>
          </a:p>
          <a:p>
            <a:r>
              <a:rPr lang="en-US" altLang="zh-CN" dirty="0" err="1" smtClean="0"/>
              <a:t>squ</a:t>
            </a:r>
            <a:r>
              <a:rPr lang="en-US" altLang="zh-CN" dirty="0" smtClean="0"/>
              <a:t>=</a:t>
            </a:r>
            <a:r>
              <a:rPr lang="en-US" altLang="zh-CN" dirty="0" err="1" smtClean="0"/>
              <a:t>tu.Turtle</a:t>
            </a:r>
            <a:r>
              <a:rPr lang="en-US" altLang="zh-CN" dirty="0" smtClean="0"/>
              <a:t>()</a:t>
            </a:r>
          </a:p>
          <a:p>
            <a:r>
              <a:rPr lang="en-US" altLang="zh-CN" dirty="0" err="1" smtClean="0"/>
              <a:t>squ.color</a:t>
            </a:r>
            <a:r>
              <a:rPr lang="en-US" altLang="zh-CN" dirty="0" smtClean="0"/>
              <a:t>('red')</a:t>
            </a:r>
          </a:p>
          <a:p>
            <a:r>
              <a:rPr lang="en-US" altLang="zh-CN" dirty="0" err="1" smtClean="0"/>
              <a:t>squ.forward</a:t>
            </a:r>
            <a:r>
              <a:rPr lang="en-US" altLang="zh-CN" dirty="0" smtClean="0"/>
              <a:t>(100)  # move 100 steps forward </a:t>
            </a:r>
          </a:p>
          <a:p>
            <a:r>
              <a:rPr lang="en-US" altLang="zh-CN" dirty="0" err="1" smtClean="0"/>
              <a:t>squ.left</a:t>
            </a:r>
            <a:r>
              <a:rPr lang="en-US" altLang="zh-CN" dirty="0" smtClean="0"/>
              <a:t>(90)      # turn 90 degrees to the left</a:t>
            </a:r>
          </a:p>
          <a:p>
            <a:r>
              <a:rPr lang="en-US" altLang="zh-CN" dirty="0" err="1" smtClean="0"/>
              <a:t>squ.forward</a:t>
            </a:r>
            <a:r>
              <a:rPr lang="en-US" altLang="zh-CN" dirty="0" smtClean="0"/>
              <a:t>(100)  # repeat </a:t>
            </a:r>
          </a:p>
          <a:p>
            <a:r>
              <a:rPr lang="en-US" altLang="zh-CN" dirty="0" err="1" smtClean="0"/>
              <a:t>squ.left</a:t>
            </a:r>
            <a:r>
              <a:rPr lang="en-US" altLang="zh-CN" dirty="0" smtClean="0"/>
              <a:t>(90)</a:t>
            </a:r>
          </a:p>
          <a:p>
            <a:r>
              <a:rPr lang="en-US" altLang="zh-CN" dirty="0" err="1" smtClean="0"/>
              <a:t>squ.forward</a:t>
            </a:r>
            <a:r>
              <a:rPr lang="en-US" altLang="zh-CN" dirty="0" smtClean="0"/>
              <a:t>(100)  # repeat</a:t>
            </a:r>
          </a:p>
          <a:p>
            <a:r>
              <a:rPr lang="en-US" altLang="zh-CN" dirty="0" err="1" smtClean="0"/>
              <a:t>squ.left</a:t>
            </a:r>
            <a:r>
              <a:rPr lang="en-US" altLang="zh-CN" dirty="0" smtClean="0"/>
              <a:t>(90)</a:t>
            </a:r>
          </a:p>
          <a:p>
            <a:r>
              <a:rPr lang="en-US" altLang="zh-CN" dirty="0" err="1" smtClean="0"/>
              <a:t>squ.forward</a:t>
            </a:r>
            <a:r>
              <a:rPr lang="en-US" altLang="zh-CN" dirty="0" smtClean="0"/>
              <a:t>(100)  # repeat  </a:t>
            </a:r>
          </a:p>
          <a:p>
            <a:r>
              <a:rPr lang="en-US" altLang="zh-CN" dirty="0" err="1" smtClean="0"/>
              <a:t>squ.left</a:t>
            </a:r>
            <a:r>
              <a:rPr lang="en-US" altLang="zh-CN" dirty="0" smtClean="0"/>
              <a:t>(90)</a:t>
            </a:r>
            <a:endParaRPr lang="zh-CN" alt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66420" y="1988840"/>
            <a:ext cx="4305300" cy="3971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142084" y="548680"/>
            <a:ext cx="264687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3200" dirty="0" smtClean="0"/>
              <a:t>蟒蛇绘制程序</a:t>
            </a:r>
            <a:endParaRPr lang="zh-CN" altLang="en-US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621804" y="620688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/>
              <a:t>趣味程序一：</a:t>
            </a:r>
            <a:endParaRPr lang="zh-CN" altLang="en-US" sz="3200" dirty="0"/>
          </a:p>
        </p:txBody>
      </p:sp>
      <p:sp>
        <p:nvSpPr>
          <p:cNvPr id="5" name="矩形 4"/>
          <p:cNvSpPr/>
          <p:nvPr/>
        </p:nvSpPr>
        <p:spPr>
          <a:xfrm>
            <a:off x="405780" y="1916832"/>
            <a:ext cx="820891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 smtClean="0"/>
              <a:t> </a:t>
            </a:r>
            <a:r>
              <a:rPr lang="zh-CN" altLang="en-US" sz="2800" dirty="0" smtClean="0"/>
              <a:t>知识准备：</a:t>
            </a:r>
            <a:r>
              <a:rPr lang="en-US" altLang="zh-CN" sz="2800" dirty="0" smtClean="0"/>
              <a:t>   Turtle</a:t>
            </a:r>
            <a:r>
              <a:rPr lang="zh-CN" altLang="zh-CN" sz="2800" dirty="0" smtClean="0"/>
              <a:t>库是</a:t>
            </a:r>
            <a:r>
              <a:rPr lang="en-US" altLang="zh-CN" sz="2800" dirty="0" smtClean="0"/>
              <a:t>Python</a:t>
            </a:r>
            <a:r>
              <a:rPr lang="zh-CN" altLang="zh-CN" sz="2800" dirty="0" smtClean="0"/>
              <a:t>语言中一个非常流行的绘制图像的函数库。想象有一个小乌龟，在一个横轴为</a:t>
            </a:r>
            <a:r>
              <a:rPr lang="en-US" altLang="zh-CN" sz="2800" dirty="0" smtClean="0"/>
              <a:t>X</a:t>
            </a:r>
            <a:r>
              <a:rPr lang="zh-CN" altLang="zh-CN" sz="2800" dirty="0" smtClean="0"/>
              <a:t>，纵轴为</a:t>
            </a:r>
            <a:r>
              <a:rPr lang="en-US" altLang="zh-CN" sz="2800" dirty="0" smtClean="0"/>
              <a:t>Y</a:t>
            </a:r>
            <a:r>
              <a:rPr lang="zh-CN" altLang="zh-CN" sz="2800" dirty="0" smtClean="0"/>
              <a:t>的坐标系中，在一组函数指令控制下，在这个平面坐标系中爬行，其</a:t>
            </a:r>
            <a:r>
              <a:rPr lang="zh-CN" altLang="zh-CN" sz="2800" b="1" dirty="0" smtClean="0">
                <a:solidFill>
                  <a:srgbClr val="FF0000"/>
                </a:solidFill>
              </a:rPr>
              <a:t>经过的路径构成图形</a:t>
            </a:r>
            <a:r>
              <a:rPr lang="zh-CN" altLang="zh-CN" sz="2800" b="1" dirty="0" smtClean="0"/>
              <a:t>。</a:t>
            </a:r>
            <a:endParaRPr lang="zh-CN" altLang="en-US" sz="2800" b="1" dirty="0"/>
          </a:p>
        </p:txBody>
      </p:sp>
      <p:pic>
        <p:nvPicPr>
          <p:cNvPr id="6" name="图片 5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74732" y="1844824"/>
            <a:ext cx="3024336" cy="2232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矩形 6"/>
          <p:cNvSpPr/>
          <p:nvPr/>
        </p:nvSpPr>
        <p:spPr>
          <a:xfrm>
            <a:off x="621804" y="4797152"/>
            <a:ext cx="108012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800" dirty="0" smtClean="0"/>
              <a:t>画笔（小乌龟）：在画布上，默认有一个</a:t>
            </a:r>
            <a:r>
              <a:rPr lang="zh-CN" altLang="zh-CN" sz="2800" b="1" dirty="0" smtClean="0"/>
              <a:t>坐标原点</a:t>
            </a:r>
            <a:r>
              <a:rPr lang="zh-CN" altLang="zh-CN" sz="2800" dirty="0" smtClean="0"/>
              <a:t>为画布中心的坐标轴，坐标原点上有一只面朝</a:t>
            </a:r>
            <a:r>
              <a:rPr lang="en-US" altLang="zh-CN" sz="2800" b="1" dirty="0" smtClean="0"/>
              <a:t>X</a:t>
            </a:r>
            <a:r>
              <a:rPr lang="zh-CN" altLang="zh-CN" sz="2800" b="1" dirty="0" smtClean="0"/>
              <a:t>轴正方向</a:t>
            </a:r>
            <a:r>
              <a:rPr lang="zh-CN" altLang="zh-CN" sz="2800" dirty="0" smtClean="0"/>
              <a:t>的小乌龟，即画笔的初始状态。</a:t>
            </a:r>
            <a:endParaRPr lang="zh-CN" altLang="en-US" sz="2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05980" y="404664"/>
            <a:ext cx="7632848" cy="6189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1178395" y="153208"/>
            <a:ext cx="10100593" cy="594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代码如下 ：</a:t>
            </a:r>
            <a:endParaRPr kumimoji="0" lang="zh-CN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# drawSnake.py 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蟒蛇绘制程序</a:t>
            </a:r>
            <a:endParaRPr kumimoji="0" lang="zh-CN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import  turtle   </a:t>
            </a:r>
            <a:r>
              <a:rPr lang="en-US" altLang="zh-CN" sz="2000" dirty="0" smtClean="0">
                <a:latin typeface="Arial" pitchFamily="34" charset="0"/>
                <a:ea typeface="宋体" pitchFamily="2" charset="-122"/>
                <a:cs typeface="Times New Roman" pitchFamily="18" charset="0"/>
              </a:rPr>
              <a:t>    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#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引用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turtle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库，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Python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中绘制图像的函数库</a:t>
            </a:r>
            <a:endParaRPr kumimoji="0" lang="zh-CN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def </a:t>
            </a:r>
            <a:r>
              <a:rPr kumimoji="0" lang="en-US" altLang="zh-CN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drawSnake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(</a:t>
            </a:r>
            <a:r>
              <a:rPr kumimoji="0" lang="en-US" altLang="zh-CN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rad,angle,len,neckrad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):     #40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，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80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，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5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，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15</a:t>
            </a:r>
            <a:endParaRPr kumimoji="0" lang="en-US" altLang="zh-CN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    for </a:t>
            </a:r>
            <a:r>
              <a:rPr kumimoji="0" lang="en-US" altLang="zh-CN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i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 in range(</a:t>
            </a:r>
            <a:r>
              <a:rPr kumimoji="0" lang="en-US" altLang="zh-CN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len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):                  #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循环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5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次，从左向右画出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5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个波浪形的蛇身。</a:t>
            </a:r>
            <a:endParaRPr kumimoji="0" lang="zh-CN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        </a:t>
            </a:r>
            <a:r>
              <a:rPr kumimoji="0" lang="en-US" altLang="zh-CN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turtle.circle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(</a:t>
            </a:r>
            <a:r>
              <a:rPr kumimoji="0" lang="en-US" altLang="zh-CN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rad,angle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)          #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两个参数为：半径值、画笔沿圆形画的角度值。</a:t>
            </a:r>
            <a:endParaRPr kumimoji="0" lang="zh-CN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        </a:t>
            </a:r>
            <a:r>
              <a:rPr kumimoji="0" lang="en-US" altLang="zh-CN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turtle.circle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(-</a:t>
            </a:r>
            <a:r>
              <a:rPr kumimoji="0" lang="en-US" altLang="zh-CN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rad,angle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)          #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半径为正值（负值），圆心在画笔的左边（右边）。</a:t>
            </a:r>
            <a:endParaRPr kumimoji="0" lang="zh-CN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    </a:t>
            </a:r>
            <a:r>
              <a:rPr kumimoji="0" lang="en-US" altLang="zh-CN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turtle.circle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(</a:t>
            </a:r>
            <a:r>
              <a:rPr kumimoji="0" lang="en-US" altLang="zh-CN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rad,angle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/2)            #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下行的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40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度圆弧，然后下一条语句蛇身直行。</a:t>
            </a:r>
            <a:endParaRPr kumimoji="0" lang="zh-CN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    </a:t>
            </a:r>
            <a:r>
              <a:rPr kumimoji="0" lang="en-US" altLang="zh-CN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turtle.fd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(</a:t>
            </a:r>
            <a:r>
              <a:rPr kumimoji="0" lang="en-US" altLang="zh-CN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rad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)                     #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向当前画笔方向移动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—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蛇身向右直行。</a:t>
            </a:r>
            <a:endParaRPr kumimoji="0" lang="zh-CN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    </a:t>
            </a:r>
            <a:r>
              <a:rPr kumimoji="0" lang="en-US" altLang="zh-CN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turtle.circle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(neckrad+1,180)         #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旋转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180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度。蛇头向上转弯部分</a:t>
            </a:r>
            <a:endParaRPr kumimoji="0" lang="zh-CN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    </a:t>
            </a:r>
            <a:r>
              <a:rPr kumimoji="0" lang="en-US" altLang="zh-CN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turtle.fd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(</a:t>
            </a:r>
            <a:r>
              <a:rPr kumimoji="0" lang="en-US" altLang="zh-CN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rad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*2/3)                 #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蛇头转弯后直行的部分。</a:t>
            </a:r>
            <a:endParaRPr kumimoji="0" lang="zh-CN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def main():</a:t>
            </a:r>
            <a:endParaRPr kumimoji="0" lang="en-US" altLang="zh-CN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    </a:t>
            </a:r>
            <a:r>
              <a:rPr kumimoji="0" lang="en-US" altLang="zh-CN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turtle.setup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(1300,800,0,0)  #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窗口宽度、高度（像素值），窗口左上角在屏幕上坐标位置</a:t>
            </a:r>
            <a:endParaRPr kumimoji="0" lang="zh-CN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    </a:t>
            </a:r>
            <a:r>
              <a:rPr kumimoji="0" lang="en-US" altLang="zh-CN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pythonsize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=30           # 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采用变量来设置画笔宽度，好处是便于修改。</a:t>
            </a:r>
            <a:endParaRPr kumimoji="0" lang="zh-CN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    </a:t>
            </a:r>
            <a:r>
              <a:rPr kumimoji="0" lang="en-US" altLang="zh-CN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turtle.pensize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(</a:t>
            </a:r>
            <a:r>
              <a:rPr kumimoji="0" lang="en-US" altLang="zh-CN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pythonsize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)  #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小乌龟（画笔）运行轨迹的宽度，设为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30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个像素</a:t>
            </a:r>
            <a:endParaRPr kumimoji="0" lang="zh-CN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    </a:t>
            </a:r>
            <a:r>
              <a:rPr kumimoji="0" lang="en-US" altLang="zh-CN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turtle.pencolor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("blue")    #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小乌龟（画笔）运行轨迹的顔色</a:t>
            </a:r>
            <a:endParaRPr kumimoji="0" lang="zh-CN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    </a:t>
            </a:r>
            <a:r>
              <a:rPr kumimoji="0" lang="en-US" altLang="zh-CN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turtle.seth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(-40)          #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小乌龟初始爬行的方位。正值为逆时针旋转，负值为顺时针。</a:t>
            </a:r>
            <a:endParaRPr kumimoji="0" lang="zh-CN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    </a:t>
            </a:r>
            <a:r>
              <a:rPr kumimoji="0" lang="en-US" altLang="zh-CN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drawSnake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(40,80,5,pythonsize/2)  #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调用函数库</a:t>
            </a:r>
            <a:r>
              <a:rPr kumimoji="0" lang="en-US" altLang="zh-CN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drawSnake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()</a:t>
            </a:r>
            <a:endParaRPr kumimoji="0" lang="en-US" altLang="zh-CN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main()    #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执行的第一条语句，接着进入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main()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函数执行函数中的语句。</a:t>
            </a:r>
            <a:endParaRPr kumimoji="0" lang="zh-CN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341884" y="6165304"/>
            <a:ext cx="89289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dirty="0" smtClean="0"/>
              <a:t>建议：同学们尝试修改程序中函数的参数值，以产生不同图形。</a:t>
            </a:r>
            <a:endParaRPr lang="zh-CN" altLang="en-US" sz="24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038628" y="548680"/>
            <a:ext cx="3504232" cy="7986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1"/>
          <p:cNvSpPr>
            <a:spLocks noChangeArrowheads="1"/>
          </p:cNvSpPr>
          <p:nvPr/>
        </p:nvSpPr>
        <p:spPr bwMode="auto">
          <a:xfrm>
            <a:off x="72009" y="888976"/>
            <a:ext cx="11999067" cy="594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math</a:t>
            </a:r>
            <a:r>
              <a:rPr kumimoji="0" lang="zh-CN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、</a:t>
            </a:r>
            <a:r>
              <a:rPr kumimoji="0" lang="en-US" altLang="zh-CN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random</a:t>
            </a:r>
            <a:r>
              <a:rPr kumimoji="0" lang="zh-CN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、</a:t>
            </a:r>
            <a:r>
              <a:rPr kumimoji="0" lang="en-US" altLang="zh-CN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turtle</a:t>
            </a:r>
            <a:r>
              <a:rPr kumimoji="0" lang="zh-CN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库在</a:t>
            </a:r>
            <a:r>
              <a:rPr kumimoji="0" lang="en-US" altLang="zh-CN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Python</a:t>
            </a:r>
            <a:r>
              <a:rPr kumimoji="0" lang="zh-CN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安装时已经安装好。使用时只要声明引用，就可以使用其中的函数。但是很多外部函数库需要用户自己去安装，然后程序就可以对外部库进行调用。通过这些功能强大的外部库，用户可以编写功能多样化的</a:t>
            </a:r>
            <a:r>
              <a:rPr kumimoji="0" lang="en-US" altLang="zh-CN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Python</a:t>
            </a:r>
            <a:r>
              <a:rPr kumimoji="0" lang="zh-CN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程序。</a:t>
            </a:r>
            <a:endParaRPr kumimoji="0" lang="zh-CN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   </a:t>
            </a: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Python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有两种对库函数的引用方式</a:t>
            </a:r>
            <a:endParaRPr kumimoji="0" lang="zh-CN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1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、格式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1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： 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import  &lt;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库名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&gt;</a:t>
            </a:r>
            <a:endParaRPr kumimoji="0" lang="en-US" altLang="zh-CN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如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:  import math</a:t>
            </a:r>
            <a:endParaRPr kumimoji="0" lang="en-US" altLang="zh-CN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     math.sin (3.1415926)</a:t>
            </a:r>
            <a:endParaRPr kumimoji="0" lang="en-US" altLang="zh-CN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     </a:t>
            </a:r>
            <a:r>
              <a:rPr kumimoji="0" lang="en-US" altLang="zh-CN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math.sqrt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 (50)     #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引用数学中的∏，</a:t>
            </a:r>
            <a:r>
              <a:rPr lang="en-US" altLang="zh-CN" sz="2000" dirty="0" smtClean="0">
                <a:latin typeface="Calibri" pitchFamily="34" charset="0"/>
                <a:ea typeface="宋体" pitchFamily="2" charset="-122"/>
                <a:cs typeface="Times New Roman" pitchFamily="18" charset="0"/>
              </a:rPr>
              <a:t>3.141592653589793</a:t>
            </a:r>
            <a:endParaRPr kumimoji="0" lang="en-US" altLang="zh-CN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000" dirty="0" smtClean="0">
                <a:latin typeface="Calibri" pitchFamily="34" charset="0"/>
                <a:ea typeface="宋体" pitchFamily="2" charset="-122"/>
                <a:cs typeface="Times New Roman" pitchFamily="18" charset="0"/>
              </a:rPr>
              <a:t>     </a:t>
            </a:r>
            <a:r>
              <a:rPr lang="en-US" altLang="zh-CN" sz="2000" dirty="0" err="1" smtClean="0">
                <a:latin typeface="Calibri" pitchFamily="34" charset="0"/>
                <a:ea typeface="宋体" pitchFamily="2" charset="-122"/>
                <a:cs typeface="Times New Roman" pitchFamily="18" charset="0"/>
              </a:rPr>
              <a:t>math.pi</a:t>
            </a:r>
            <a:endParaRPr kumimoji="0" lang="en-US" altLang="zh-CN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2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、 格式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2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：</a:t>
            </a:r>
            <a:endParaRPr kumimoji="0" lang="zh-CN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       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f</a:t>
            </a:r>
            <a:r>
              <a:rPr lang="en-US" altLang="zh-CN" sz="2000" dirty="0" smtClean="0">
                <a:latin typeface="Calibri" pitchFamily="34" charset="0"/>
                <a:ea typeface="宋体" pitchFamily="2" charset="-122"/>
                <a:cs typeface="Times New Roman" pitchFamily="18" charset="0"/>
              </a:rPr>
              <a:t>rom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  &lt;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库名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&gt; import  &lt;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函数名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&gt;</a:t>
            </a:r>
            <a:endParaRPr kumimoji="0" lang="en-US" altLang="zh-CN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       from  &lt;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库名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&gt; import  *</a:t>
            </a:r>
            <a:endParaRPr kumimoji="0" lang="en-US" altLang="zh-CN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如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:  from  math  import * 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或  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from  math  import sin</a:t>
            </a:r>
            <a:endParaRPr kumimoji="0" lang="en-US" altLang="zh-CN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    sin(3.1415926)</a:t>
            </a:r>
            <a:endParaRPr kumimoji="0" lang="en-US" altLang="zh-CN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    floor(2.78)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000" dirty="0" smtClean="0">
                <a:latin typeface="Calibri" pitchFamily="34" charset="0"/>
                <a:ea typeface="宋体" pitchFamily="2" charset="-122"/>
                <a:cs typeface="Times New Roman" pitchFamily="18" charset="0"/>
              </a:rPr>
              <a:t>    ceil(2.78)</a:t>
            </a:r>
            <a:endParaRPr kumimoji="0" lang="en-US" altLang="zh-CN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332656"/>
            <a:ext cx="264687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3200" b="1" dirty="0" smtClean="0"/>
              <a:t>函数库的</a:t>
            </a:r>
            <a:r>
              <a:rPr lang="zh-CN" altLang="en-US" sz="3200" b="1" dirty="0" smtClean="0"/>
              <a:t>引用</a:t>
            </a:r>
            <a:endParaRPr lang="zh-CN" altLang="en-US" sz="3200" b="1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33772" y="1268760"/>
            <a:ext cx="11449272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1700"/>
              </a:spcBef>
              <a:spcAft>
                <a:spcPts val="0"/>
              </a:spcAft>
            </a:pPr>
            <a:r>
              <a:rPr lang="zh-CN" altLang="zh-CN" sz="3600" b="1" kern="2200" dirty="0" smtClean="0">
                <a:latin typeface="Calibri" panose="020F050202020403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第</a:t>
            </a:r>
            <a:r>
              <a:rPr lang="zh-CN" altLang="en-US" sz="3600" b="1" kern="2200" dirty="0" smtClean="0">
                <a:latin typeface="Calibri" panose="020F050202020403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二部分     </a:t>
            </a:r>
            <a:r>
              <a:rPr lang="en-US" altLang="zh-CN" sz="3600" b="1" kern="2200" dirty="0" smtClean="0">
                <a:latin typeface="Calibri" panose="020F050202020403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Python</a:t>
            </a:r>
            <a:r>
              <a:rPr lang="zh-CN" altLang="zh-CN" sz="3600" b="1" kern="2200" dirty="0">
                <a:latin typeface="Calibri" panose="020F050202020403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数据类型与运算</a:t>
            </a:r>
            <a:endParaRPr lang="zh-CN" altLang="zh-CN" sz="3600" b="1" kern="22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800" kern="0" dirty="0">
                <a:solidFill>
                  <a:srgbClr val="3E3E3E"/>
                </a:solidFill>
                <a:latin typeface="仿宋" panose="02010609060101010101" pitchFamily="49" charset="-122"/>
                <a:ea typeface="宋体" panose="02010600030101010101" pitchFamily="2" charset="-122"/>
                <a:cs typeface="Helvetica" panose="020B0604020202020204" pitchFamily="34" charset="0"/>
              </a:rPr>
              <a:t> </a:t>
            </a:r>
            <a:endParaRPr lang="zh-CN" altLang="zh-CN" sz="28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304800">
              <a:lnSpc>
                <a:spcPct val="150000"/>
              </a:lnSpc>
            </a:pPr>
            <a:r>
              <a:rPr lang="zh-CN" altLang="zh-CN" sz="2800" kern="0" dirty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必须先了解的几个</a:t>
            </a:r>
            <a:r>
              <a:rPr lang="en-US" altLang="zh-CN" sz="2800" kern="0" dirty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Python</a:t>
            </a:r>
            <a:r>
              <a:rPr lang="zh-CN" altLang="zh-CN" sz="2800" kern="0" dirty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语法常识。</a:t>
            </a:r>
            <a:endParaRPr lang="zh-CN" altLang="zh-CN" sz="2800" kern="100" dirty="0"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  <a:p>
            <a:pPr indent="304800">
              <a:lnSpc>
                <a:spcPct val="150000"/>
              </a:lnSpc>
            </a:pPr>
            <a:r>
              <a:rPr lang="en-US" altLang="zh-CN" sz="2800" kern="0" dirty="0"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1</a:t>
            </a:r>
            <a:r>
              <a:rPr lang="en-US" altLang="zh-CN" sz="2800" kern="0" dirty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.</a:t>
            </a:r>
            <a:r>
              <a:rPr lang="zh-CN" altLang="zh-CN" sz="2800" kern="0" dirty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代码注释方法</a:t>
            </a:r>
            <a:endParaRPr lang="zh-CN" altLang="zh-CN" sz="2800" kern="100" dirty="0"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  <a:p>
            <a:pPr indent="304800">
              <a:lnSpc>
                <a:spcPct val="150000"/>
              </a:lnSpc>
            </a:pPr>
            <a:r>
              <a:rPr lang="en-US" altLang="zh-CN" sz="2800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  1</a:t>
            </a:r>
            <a:r>
              <a:rPr lang="en-US" altLang="zh-CN" sz="2800" kern="0" dirty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)</a:t>
            </a:r>
            <a:r>
              <a:rPr lang="zh-CN" altLang="zh-CN" sz="2800" kern="0" dirty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在一行中，“</a:t>
            </a:r>
            <a:r>
              <a:rPr lang="en-US" altLang="zh-CN" sz="2800" kern="0" dirty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#</a:t>
            </a:r>
            <a:r>
              <a:rPr lang="zh-CN" altLang="zh-CN" sz="2800" kern="0" dirty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”后的语句不再执行，而表示被</a:t>
            </a:r>
            <a:r>
              <a:rPr lang="zh-CN" altLang="zh-CN" sz="2800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注释</a:t>
            </a:r>
            <a:r>
              <a:rPr lang="zh-CN" altLang="en-US" sz="2800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。</a:t>
            </a:r>
            <a:endParaRPr lang="zh-CN" altLang="zh-CN" sz="2800" kern="100" dirty="0"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  <a:p>
            <a:pPr indent="304800">
              <a:lnSpc>
                <a:spcPct val="150000"/>
              </a:lnSpc>
            </a:pPr>
            <a:r>
              <a:rPr lang="en-US" altLang="zh-CN" sz="2800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  2</a:t>
            </a:r>
            <a:r>
              <a:rPr lang="en-US" altLang="zh-CN" sz="2800" kern="0" dirty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)</a:t>
            </a:r>
            <a:r>
              <a:rPr lang="zh-CN" altLang="zh-CN" sz="2800" kern="0" dirty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如果要进行大段的注释可以</a:t>
            </a:r>
            <a:r>
              <a:rPr lang="zh-CN" altLang="zh-CN" sz="2800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使用</a:t>
            </a:r>
            <a:r>
              <a:rPr lang="zh-CN" altLang="en-US" sz="2800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一对</a:t>
            </a:r>
            <a:r>
              <a:rPr lang="zh-CN" altLang="zh-CN" sz="2800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三</a:t>
            </a:r>
            <a:r>
              <a:rPr lang="zh-CN" altLang="zh-CN" sz="2800" kern="0" dirty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个单引号（</a:t>
            </a:r>
            <a:r>
              <a:rPr lang="en-US" altLang="zh-CN" sz="2800" kern="0" dirty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'''</a:t>
            </a:r>
            <a:r>
              <a:rPr lang="zh-CN" altLang="zh-CN" sz="2800" kern="0" dirty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）或者双引号（</a:t>
            </a:r>
            <a:r>
              <a:rPr lang="en-US" altLang="zh-CN" sz="2800" kern="0" dirty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"""</a:t>
            </a:r>
            <a:r>
              <a:rPr lang="zh-CN" altLang="zh-CN" sz="2800" kern="0" dirty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）将注释内容包围</a:t>
            </a:r>
            <a:r>
              <a:rPr lang="zh-CN" altLang="zh-CN" sz="2800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。</a:t>
            </a:r>
            <a:endParaRPr lang="zh-CN" altLang="zh-CN" sz="2800" kern="100" dirty="0">
              <a:effectLst/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065864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629916" y="1124744"/>
            <a:ext cx="10513168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04800">
              <a:lnSpc>
                <a:spcPct val="150000"/>
              </a:lnSpc>
            </a:pPr>
            <a:r>
              <a:rPr lang="zh-CN" altLang="zh-CN" sz="2800" kern="0" dirty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【</a:t>
            </a:r>
            <a:r>
              <a:rPr lang="zh-CN" altLang="zh-CN" sz="2800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例</a:t>
            </a:r>
            <a:r>
              <a:rPr lang="en-US" altLang="zh-CN" sz="2800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1</a:t>
            </a:r>
            <a:r>
              <a:rPr lang="zh-CN" altLang="zh-CN" sz="2800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】</a:t>
            </a:r>
            <a:r>
              <a:rPr lang="en-US" altLang="zh-CN" sz="2800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#</a:t>
            </a:r>
            <a:r>
              <a:rPr lang="zh-CN" altLang="en-US" sz="2800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、</a:t>
            </a:r>
            <a:r>
              <a:rPr lang="zh-CN" altLang="zh-CN" sz="2800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三双引号</a:t>
            </a:r>
            <a:r>
              <a:rPr lang="zh-CN" altLang="en-US" sz="2800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或三单引号</a:t>
            </a:r>
            <a:r>
              <a:rPr lang="en-US" altLang="zh-CN" sz="2800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(</a:t>
            </a:r>
            <a:r>
              <a:rPr lang="zh-CN" altLang="en-US" sz="2800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都需要一对）</a:t>
            </a:r>
            <a:r>
              <a:rPr lang="zh-CN" altLang="zh-CN" sz="2800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注释</a:t>
            </a:r>
            <a:r>
              <a:rPr lang="zh-CN" altLang="en-US" sz="2800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语句或</a:t>
            </a:r>
            <a:r>
              <a:rPr lang="zh-CN" altLang="zh-CN" sz="2800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段落</a:t>
            </a:r>
            <a:r>
              <a:rPr lang="zh-CN" altLang="en-US" sz="2800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。</a:t>
            </a:r>
            <a:endParaRPr lang="zh-CN" altLang="zh-CN" sz="2800" kern="100" dirty="0"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  <a:p>
            <a:pPr marL="449580" indent="304800"/>
            <a:r>
              <a:rPr lang="en-US" altLang="zh-CN" sz="2800" kern="0" dirty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# -*- coding: utf-8 -*-</a:t>
            </a:r>
            <a:endParaRPr lang="zh-CN" altLang="zh-CN" sz="2800" kern="100" dirty="0"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  <a:p>
            <a:pPr marL="449580" indent="304800"/>
            <a:r>
              <a:rPr lang="en-US" altLang="zh-CN" sz="2800" kern="0" dirty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"""</a:t>
            </a:r>
            <a:endParaRPr lang="zh-CN" altLang="zh-CN" sz="2800" kern="100" dirty="0"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  <a:p>
            <a:pPr marL="449580" indent="304800"/>
            <a:r>
              <a:rPr lang="en-US" altLang="zh-CN" sz="2800" kern="0" dirty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Created on Sun Mar 13 21:20:06 2016</a:t>
            </a:r>
            <a:endParaRPr lang="zh-CN" altLang="zh-CN" sz="2800" kern="100" dirty="0"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  <a:p>
            <a:pPr marL="449580" indent="304800"/>
            <a:r>
              <a:rPr lang="en-US" altLang="zh-CN" sz="2800" kern="0" dirty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@author: </a:t>
            </a:r>
            <a:r>
              <a:rPr lang="en-US" altLang="zh-CN" sz="2800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John</a:t>
            </a:r>
            <a:endParaRPr lang="zh-CN" altLang="zh-CN" sz="2800" kern="100" dirty="0"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  <a:p>
            <a:pPr marL="449580" indent="304800"/>
            <a:r>
              <a:rPr lang="en-US" altLang="zh-CN" sz="2800" kern="0" dirty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"""</a:t>
            </a:r>
            <a:endParaRPr lang="zh-CN" altLang="zh-CN" sz="2800" kern="100" dirty="0"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  <a:p>
            <a:pPr marL="449580" indent="304800"/>
            <a:r>
              <a:rPr lang="en-US" altLang="zh-CN" sz="2800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list1=[</a:t>
            </a:r>
            <a:r>
              <a:rPr lang="en-US" altLang="zh-CN" sz="2800" kern="0" dirty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1,2,3]</a:t>
            </a:r>
            <a:endParaRPr lang="zh-CN" altLang="zh-CN" sz="2800" kern="100" dirty="0"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  <a:p>
            <a:pPr marL="449580" indent="304800"/>
            <a:r>
              <a:rPr lang="en-US" altLang="zh-CN" sz="2800" kern="0" dirty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for </a:t>
            </a:r>
            <a:r>
              <a:rPr lang="en-US" altLang="zh-CN" sz="2800" kern="0" dirty="0" err="1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i</a:t>
            </a:r>
            <a:r>
              <a:rPr lang="en-US" altLang="zh-CN" sz="2800" kern="0" dirty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 in </a:t>
            </a:r>
            <a:r>
              <a:rPr lang="en-US" altLang="zh-CN" sz="2800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list1:   </a:t>
            </a:r>
            <a:r>
              <a:rPr lang="en-US" altLang="zh-CN" sz="2800" kern="0" dirty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#</a:t>
            </a:r>
            <a:r>
              <a:rPr lang="zh-CN" altLang="zh-CN" sz="2800" kern="0" dirty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半角状态冒号不能少，下一行注意缩进</a:t>
            </a:r>
            <a:endParaRPr lang="zh-CN" altLang="zh-CN" sz="2800" kern="100" dirty="0"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  <a:p>
            <a:pPr marL="449580" indent="304800"/>
            <a:r>
              <a:rPr lang="en-US" altLang="zh-CN" sz="2800" kern="0" dirty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    </a:t>
            </a:r>
            <a:r>
              <a:rPr lang="en-US" altLang="zh-CN" sz="2800" kern="0" dirty="0" err="1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i</a:t>
            </a:r>
            <a:r>
              <a:rPr lang="en-US" altLang="zh-CN" sz="2800" kern="0" dirty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+=1</a:t>
            </a:r>
            <a:endParaRPr lang="zh-CN" altLang="zh-CN" sz="2800" kern="100" dirty="0"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  <a:p>
            <a:pPr marL="449580" indent="304800"/>
            <a:r>
              <a:rPr lang="en-US" altLang="zh-CN" sz="2800" kern="0" dirty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    print(</a:t>
            </a:r>
            <a:r>
              <a:rPr lang="en-US" altLang="zh-CN" sz="2800" kern="0" dirty="0" err="1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i</a:t>
            </a:r>
            <a:r>
              <a:rPr lang="en-US" altLang="zh-CN" sz="2800" kern="0" dirty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)</a:t>
            </a:r>
            <a:endParaRPr lang="zh-CN" altLang="zh-CN" sz="2800" kern="100" dirty="0"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kern="0" dirty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    </a:t>
            </a:r>
            <a:endParaRPr lang="zh-CN" altLang="zh-CN" kern="100" dirty="0">
              <a:effectLst/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圆角矩形标注 3"/>
          <p:cNvSpPr/>
          <p:nvPr/>
        </p:nvSpPr>
        <p:spPr>
          <a:xfrm>
            <a:off x="333772" y="1916832"/>
            <a:ext cx="1080120" cy="432048"/>
          </a:xfrm>
          <a:prstGeom prst="wedgeRoundRectCallout">
            <a:avLst>
              <a:gd name="adj1" fmla="val 142975"/>
              <a:gd name="adj2" fmla="val -2267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 smtClean="0">
                <a:latin typeface="楷体" pitchFamily="49" charset="-122"/>
                <a:ea typeface="楷体" pitchFamily="49" charset="-122"/>
              </a:rPr>
              <a:t>注释</a:t>
            </a:r>
            <a:endParaRPr lang="zh-CN" altLang="en-US" sz="2400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5" name="圆角矩形标注 4"/>
          <p:cNvSpPr/>
          <p:nvPr/>
        </p:nvSpPr>
        <p:spPr>
          <a:xfrm>
            <a:off x="6670476" y="5085184"/>
            <a:ext cx="1080120" cy="432048"/>
          </a:xfrm>
          <a:prstGeom prst="wedgeRoundRectCallout">
            <a:avLst>
              <a:gd name="adj1" fmla="val -118135"/>
              <a:gd name="adj2" fmla="val -11496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 smtClean="0">
                <a:latin typeface="楷体" pitchFamily="49" charset="-122"/>
                <a:ea typeface="楷体" pitchFamily="49" charset="-122"/>
              </a:rPr>
              <a:t>注释</a:t>
            </a:r>
            <a:endParaRPr lang="zh-CN" altLang="en-US" sz="2400" dirty="0">
              <a:latin typeface="楷体" pitchFamily="49" charset="-122"/>
              <a:ea typeface="楷体" pitchFamily="49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405780" y="2996952"/>
            <a:ext cx="2016224" cy="648072"/>
            <a:chOff x="405780" y="2996952"/>
            <a:chExt cx="2016224" cy="648072"/>
          </a:xfrm>
        </p:grpSpPr>
        <p:sp>
          <p:nvSpPr>
            <p:cNvPr id="3" name="圆角矩形标注 2"/>
            <p:cNvSpPr/>
            <p:nvPr/>
          </p:nvSpPr>
          <p:spPr>
            <a:xfrm>
              <a:off x="405780" y="2996952"/>
              <a:ext cx="1080120" cy="432048"/>
            </a:xfrm>
            <a:prstGeom prst="wedgeRoundRectCallout">
              <a:avLst>
                <a:gd name="adj1" fmla="val 147105"/>
                <a:gd name="adj2" fmla="val -169792"/>
                <a:gd name="adj3" fmla="val 1666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 smtClean="0">
                  <a:latin typeface="楷体" pitchFamily="49" charset="-122"/>
                  <a:ea typeface="楷体" pitchFamily="49" charset="-122"/>
                </a:rPr>
                <a:t>注释</a:t>
              </a:r>
              <a:endParaRPr lang="zh-CN" altLang="en-US" sz="2400" dirty="0">
                <a:latin typeface="楷体" pitchFamily="49" charset="-122"/>
                <a:ea typeface="楷体" pitchFamily="49" charset="-122"/>
              </a:endParaRPr>
            </a:p>
          </p:txBody>
        </p:sp>
        <p:cxnSp>
          <p:nvCxnSpPr>
            <p:cNvPr id="9" name="直接箭头连接符 8"/>
            <p:cNvCxnSpPr/>
            <p:nvPr/>
          </p:nvCxnSpPr>
          <p:spPr>
            <a:xfrm>
              <a:off x="1413892" y="3429000"/>
              <a:ext cx="1008112" cy="216024"/>
            </a:xfrm>
            <a:prstGeom prst="straightConnector1">
              <a:avLst/>
            </a:prstGeom>
            <a:ln w="317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22154623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909836" y="548680"/>
            <a:ext cx="1058517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2</a:t>
            </a:r>
            <a:r>
              <a:rPr lang="zh-CN" altLang="en-US" sz="2800" dirty="0" smtClean="0">
                <a:latin typeface="楷体" pitchFamily="49" charset="-122"/>
                <a:ea typeface="楷体" pitchFamily="49" charset="-122"/>
              </a:rPr>
              <a:t>、</a:t>
            </a:r>
            <a:r>
              <a:rPr lang="zh-CN" altLang="zh-CN" sz="2800" dirty="0" smtClean="0">
                <a:latin typeface="楷体" pitchFamily="49" charset="-122"/>
                <a:ea typeface="楷体" pitchFamily="49" charset="-122"/>
              </a:rPr>
              <a:t>变量</a:t>
            </a:r>
          </a:p>
          <a:p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   </a:t>
            </a:r>
            <a:r>
              <a:rPr lang="zh-CN" altLang="en-US" sz="2800" dirty="0" smtClean="0">
                <a:latin typeface="楷体" pitchFamily="49" charset="-122"/>
                <a:ea typeface="楷体" pitchFamily="49" charset="-122"/>
              </a:rPr>
              <a:t>变量</a:t>
            </a:r>
            <a:r>
              <a:rPr lang="zh-CN" altLang="zh-CN" sz="2800" dirty="0" smtClean="0">
                <a:latin typeface="楷体" pitchFamily="49" charset="-122"/>
                <a:ea typeface="楷体" pitchFamily="49" charset="-122"/>
              </a:rPr>
              <a:t>命名规则：使用大小写字母、数字和下划线的组合</a:t>
            </a:r>
            <a:r>
              <a:rPr lang="zh-CN" altLang="en-US" sz="2800" dirty="0" smtClean="0">
                <a:latin typeface="楷体" pitchFamily="49" charset="-122"/>
                <a:ea typeface="楷体" pitchFamily="49" charset="-122"/>
              </a:rPr>
              <a:t>。</a:t>
            </a:r>
            <a:r>
              <a:rPr lang="zh-CN" altLang="zh-CN" sz="2800" dirty="0" smtClean="0">
                <a:latin typeface="楷体" pitchFamily="49" charset="-122"/>
                <a:ea typeface="楷体" pitchFamily="49" charset="-122"/>
              </a:rPr>
              <a:t>但首字母只能是大小字母或下划线</a:t>
            </a:r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,</a:t>
            </a:r>
            <a:r>
              <a:rPr lang="zh-CN" altLang="zh-CN" sz="2800" dirty="0" smtClean="0">
                <a:latin typeface="楷体" pitchFamily="49" charset="-122"/>
                <a:ea typeface="楷体" pitchFamily="49" charset="-122"/>
              </a:rPr>
              <a:t>不能使用空格。</a:t>
            </a:r>
            <a:r>
              <a:rPr lang="zh-CN" altLang="en-US" sz="2800" dirty="0" smtClean="0">
                <a:latin typeface="楷体" pitchFamily="49" charset="-122"/>
                <a:ea typeface="楷体" pitchFamily="49" charset="-122"/>
              </a:rPr>
              <a:t>支持</a:t>
            </a:r>
            <a:r>
              <a:rPr lang="zh-CN" altLang="zh-CN" sz="2800" dirty="0" smtClean="0">
                <a:latin typeface="楷体" pitchFamily="49" charset="-122"/>
                <a:ea typeface="楷体" pitchFamily="49" charset="-122"/>
              </a:rPr>
              <a:t>中文等非字母符号可以作为名字。</a:t>
            </a:r>
          </a:p>
          <a:p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   </a:t>
            </a:r>
            <a:r>
              <a:rPr lang="zh-CN" altLang="en-US" sz="2800" dirty="0" smtClean="0">
                <a:latin typeface="楷体" pitchFamily="49" charset="-122"/>
                <a:ea typeface="楷体" pitchFamily="49" charset="-122"/>
              </a:rPr>
              <a:t>注意：</a:t>
            </a:r>
            <a:r>
              <a:rPr lang="zh-CN" altLang="zh-CN" sz="2800" dirty="0" smtClean="0">
                <a:latin typeface="楷体" pitchFamily="49" charset="-122"/>
                <a:ea typeface="楷体" pitchFamily="49" charset="-122"/>
              </a:rPr>
              <a:t>以下保留字不能</a:t>
            </a:r>
            <a:r>
              <a:rPr lang="zh-CN" altLang="en-US" sz="2800" dirty="0" smtClean="0">
                <a:latin typeface="楷体" pitchFamily="49" charset="-122"/>
                <a:ea typeface="楷体" pitchFamily="49" charset="-122"/>
              </a:rPr>
              <a:t>作为变量名</a:t>
            </a:r>
            <a:r>
              <a:rPr lang="zh-CN" altLang="zh-CN" sz="2800" dirty="0" smtClean="0">
                <a:latin typeface="楷体" pitchFamily="49" charset="-122"/>
                <a:ea typeface="楷体" pitchFamily="49" charset="-122"/>
              </a:rPr>
              <a:t>使用</a:t>
            </a:r>
            <a:r>
              <a:rPr lang="zh-CN" altLang="en-US" sz="2800" dirty="0" smtClean="0">
                <a:latin typeface="楷体" pitchFamily="49" charset="-122"/>
                <a:ea typeface="楷体" pitchFamily="49" charset="-122"/>
              </a:rPr>
              <a:t>。</a:t>
            </a:r>
            <a:endParaRPr lang="zh-CN" altLang="zh-CN" sz="2800" dirty="0">
              <a:latin typeface="楷体" pitchFamily="49" charset="-122"/>
              <a:ea typeface="楷体" pitchFamily="49" charset="-122"/>
            </a:endParaRPr>
          </a:p>
        </p:txBody>
      </p:sp>
      <p:pic>
        <p:nvPicPr>
          <p:cNvPr id="4" name="图片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45940" y="2924944"/>
            <a:ext cx="7200800" cy="36724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矩形标注 4"/>
          <p:cNvSpPr/>
          <p:nvPr/>
        </p:nvSpPr>
        <p:spPr>
          <a:xfrm>
            <a:off x="9478788" y="4581128"/>
            <a:ext cx="2160240" cy="720080"/>
          </a:xfrm>
          <a:prstGeom prst="wedgeRectCallout">
            <a:avLst>
              <a:gd name="adj1" fmla="val -69450"/>
              <a:gd name="adj2" fmla="val -1732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 smtClean="0"/>
              <a:t>保留字，不能用作变量名</a:t>
            </a:r>
            <a:endParaRPr lang="zh-CN" altLang="en-US" sz="2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764704"/>
            <a:ext cx="5230316" cy="4585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 smtClean="0">
                <a:latin typeface="宋体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一、</a:t>
            </a:r>
            <a:r>
              <a:rPr lang="zh-CN" altLang="zh-CN" sz="3200" b="1" dirty="0" smtClean="0">
                <a:latin typeface="宋体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数据类型</a:t>
            </a:r>
            <a:endParaRPr lang="zh-CN" altLang="zh-CN" sz="3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304800"/>
            <a:endParaRPr lang="en-US" altLang="zh-CN" sz="2000" kern="100" dirty="0" smtClean="0">
              <a:latin typeface="仿宋" panose="02010609060101010101" pitchFamily="49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304800"/>
            <a:r>
              <a:rPr lang="en-US" altLang="zh-CN" sz="24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4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4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Python</a:t>
            </a:r>
            <a:r>
              <a:rPr lang="zh-CN" altLang="zh-CN" sz="24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中总共有六种</a:t>
            </a:r>
            <a:r>
              <a:rPr lang="zh-CN" altLang="zh-CN" sz="24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数据类型</a:t>
            </a:r>
            <a:endParaRPr lang="zh-CN" altLang="zh-CN" sz="2400" kern="100" dirty="0"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  <a:p>
            <a:pPr indent="304800">
              <a:lnSpc>
                <a:spcPct val="150000"/>
              </a:lnSpc>
            </a:pPr>
            <a:r>
              <a:rPr lang="en-US" altLang="zh-CN" sz="24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	</a:t>
            </a:r>
            <a:r>
              <a:rPr lang="en-US" altLang="zh-CN" sz="24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sz="24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数字</a:t>
            </a:r>
            <a:r>
              <a:rPr lang="zh-CN" altLang="zh-CN" sz="24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4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Numbers</a:t>
            </a:r>
            <a:r>
              <a:rPr lang="zh-CN" altLang="zh-CN" sz="24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）</a:t>
            </a:r>
          </a:p>
          <a:p>
            <a:pPr indent="304800">
              <a:lnSpc>
                <a:spcPct val="150000"/>
              </a:lnSpc>
            </a:pPr>
            <a:r>
              <a:rPr lang="en-US" altLang="zh-CN" sz="24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	</a:t>
            </a:r>
            <a:r>
              <a:rPr lang="en-US" altLang="zh-CN" sz="24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sz="24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字符串</a:t>
            </a:r>
            <a:r>
              <a:rPr lang="zh-CN" altLang="zh-CN" sz="24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4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String</a:t>
            </a:r>
            <a:r>
              <a:rPr lang="zh-CN" altLang="zh-CN" sz="24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）</a:t>
            </a:r>
          </a:p>
          <a:p>
            <a:pPr indent="304800">
              <a:lnSpc>
                <a:spcPct val="150000"/>
              </a:lnSpc>
            </a:pPr>
            <a:r>
              <a:rPr lang="en-US" altLang="zh-CN" sz="24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	</a:t>
            </a:r>
            <a:r>
              <a:rPr lang="en-US" altLang="zh-CN" sz="24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sz="24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列表</a:t>
            </a:r>
            <a:r>
              <a:rPr lang="zh-CN" altLang="zh-CN" sz="24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4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List</a:t>
            </a:r>
            <a:r>
              <a:rPr lang="zh-CN" altLang="zh-CN" sz="24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）</a:t>
            </a:r>
          </a:p>
          <a:p>
            <a:pPr indent="304800">
              <a:lnSpc>
                <a:spcPct val="150000"/>
              </a:lnSpc>
            </a:pPr>
            <a:r>
              <a:rPr lang="en-US" altLang="zh-CN" sz="24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	</a:t>
            </a:r>
            <a:r>
              <a:rPr lang="en-US" altLang="zh-CN" sz="24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sz="24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元组</a:t>
            </a:r>
            <a:r>
              <a:rPr lang="zh-CN" altLang="zh-CN" sz="24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4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Tuple</a:t>
            </a:r>
            <a:r>
              <a:rPr lang="zh-CN" altLang="zh-CN" sz="24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）</a:t>
            </a:r>
          </a:p>
          <a:p>
            <a:pPr indent="304800">
              <a:lnSpc>
                <a:spcPct val="150000"/>
              </a:lnSpc>
            </a:pPr>
            <a:r>
              <a:rPr lang="en-US" altLang="zh-CN" sz="24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	</a:t>
            </a:r>
            <a:r>
              <a:rPr lang="en-US" altLang="zh-CN" sz="24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sz="24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集合</a:t>
            </a:r>
            <a:r>
              <a:rPr lang="zh-CN" altLang="zh-CN" sz="24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4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Sets</a:t>
            </a:r>
            <a:r>
              <a:rPr lang="zh-CN" altLang="zh-CN" sz="24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）</a:t>
            </a:r>
          </a:p>
          <a:p>
            <a:pPr indent="304800">
              <a:lnSpc>
                <a:spcPct val="150000"/>
              </a:lnSpc>
            </a:pPr>
            <a:r>
              <a:rPr lang="en-US" altLang="zh-CN" sz="24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	</a:t>
            </a:r>
            <a:r>
              <a:rPr lang="en-US" altLang="zh-CN" sz="24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sz="24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字典</a:t>
            </a:r>
            <a:r>
              <a:rPr lang="zh-CN" altLang="zh-CN" sz="24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4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Dictionaries</a:t>
            </a:r>
            <a:r>
              <a:rPr lang="zh-CN" altLang="zh-CN" sz="24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）</a:t>
            </a:r>
            <a:endParaRPr lang="zh-CN" altLang="zh-CN" sz="2400" kern="100" dirty="0">
              <a:effectLst/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230316" y="1268760"/>
            <a:ext cx="6092825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306070"/>
            <a:r>
              <a:rPr lang="zh-CN" altLang="zh-CN" sz="2400" b="1" kern="0" dirty="0"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查看数据类型的方法：</a:t>
            </a:r>
            <a:r>
              <a:rPr lang="en-US" altLang="zh-CN" sz="2400" kern="0" dirty="0"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type(</a:t>
            </a:r>
            <a:r>
              <a:rPr lang="zh-CN" altLang="zh-CN" sz="2400" kern="0" dirty="0"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变量名</a:t>
            </a:r>
            <a:r>
              <a:rPr lang="en-US" altLang="zh-CN" sz="2400" kern="0" dirty="0" smtClean="0">
                <a:latin typeface="楷体" pitchFamily="49" charset="-122"/>
                <a:ea typeface="楷体" pitchFamily="49" charset="-122"/>
                <a:cs typeface="宋体" panose="02010600030101010101" pitchFamily="2" charset="-122"/>
              </a:rPr>
              <a:t>)</a:t>
            </a:r>
            <a:endParaRPr lang="zh-CN" altLang="zh-CN" sz="2400" kern="100" dirty="0"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62364" y="2532335"/>
            <a:ext cx="6308725" cy="413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矩形 4"/>
          <p:cNvSpPr/>
          <p:nvPr/>
        </p:nvSpPr>
        <p:spPr>
          <a:xfrm>
            <a:off x="5158308" y="1772816"/>
            <a:ext cx="1723549" cy="7155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304800">
              <a:lnSpc>
                <a:spcPct val="150000"/>
              </a:lnSpc>
            </a:pPr>
            <a:r>
              <a:rPr lang="zh-CN" altLang="zh-CN" sz="32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【例】</a:t>
            </a:r>
            <a:endParaRPr lang="zh-CN" altLang="zh-CN" sz="3200" kern="100" dirty="0"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58143295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3772" y="260648"/>
            <a:ext cx="11071516" cy="782960"/>
          </a:xfrm>
        </p:spPr>
        <p:txBody>
          <a:bodyPr>
            <a:normAutofit fontScale="90000"/>
          </a:bodyPr>
          <a:lstStyle/>
          <a:p>
            <a:r>
              <a:rPr lang="zh-CN" altLang="en-US" sz="5400" dirty="0" smtClean="0">
                <a:solidFill>
                  <a:schemeClr val="tx1"/>
                </a:solidFill>
                <a:latin typeface="+mj-ea"/>
                <a:cs typeface="Times New Roman" pitchFamily="18" charset="0"/>
              </a:rPr>
              <a:t>数字类型</a:t>
            </a:r>
            <a:endParaRPr lang="zh-CN" altLang="en-US" dirty="0">
              <a:latin typeface="+mj-ea"/>
            </a:endParaRPr>
          </a:p>
        </p:txBody>
      </p:sp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549796" y="1268760"/>
            <a:ext cx="10729192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98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" pitchFamily="49" charset="-122"/>
                <a:ea typeface="楷体" pitchFamily="49" charset="-122"/>
                <a:cs typeface="Times New Roman" pitchFamily="18" charset="0"/>
              </a:rPr>
              <a:t>1</a:t>
            </a:r>
            <a:r>
              <a:rPr kumimoji="0" lang="zh-CN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" pitchFamily="49" charset="-122"/>
                <a:ea typeface="楷体" pitchFamily="49" charset="-122"/>
                <a:cs typeface="Times New Roman" pitchFamily="18" charset="0"/>
              </a:rPr>
              <a:t>、数字类型的三种类型：</a:t>
            </a:r>
            <a:endParaRPr kumimoji="0" lang="zh-CN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楷体" pitchFamily="49" charset="-122"/>
              <a:ea typeface="楷体" pitchFamily="49" charset="-122"/>
              <a:cs typeface="宋体" pitchFamily="2" charset="-122"/>
            </a:endParaRPr>
          </a:p>
          <a:p>
            <a:pPr marL="0" marR="0" lvl="0" indent="2698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" pitchFamily="49" charset="-122"/>
                <a:ea typeface="楷体" pitchFamily="49" charset="-122"/>
                <a:cs typeface="Times New Roman" pitchFamily="18" charset="0"/>
              </a:rPr>
              <a:t>   </a:t>
            </a:r>
            <a:r>
              <a:rPr kumimoji="0" lang="zh-CN" altLang="en-US" sz="2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楷体" pitchFamily="49" charset="-122"/>
                <a:ea typeface="楷体" pitchFamily="49" charset="-122"/>
                <a:cs typeface="Times New Roman" pitchFamily="18" charset="0"/>
              </a:rPr>
              <a:t>整数</a:t>
            </a:r>
            <a:r>
              <a:rPr kumimoji="0" lang="zh-CN" altLang="en-US" sz="2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楷体" pitchFamily="49" charset="-122"/>
                <a:ea typeface="楷体" pitchFamily="49" charset="-122"/>
                <a:cs typeface="Times New Roman" pitchFamily="18" charset="0"/>
              </a:rPr>
              <a:t>类型（</a:t>
            </a:r>
            <a:r>
              <a:rPr kumimoji="0" lang="en-US" altLang="zh-CN" sz="2800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楷体" pitchFamily="49" charset="-122"/>
                <a:ea typeface="楷体" pitchFamily="49" charset="-122"/>
                <a:cs typeface="Times New Roman" pitchFamily="18" charset="0"/>
              </a:rPr>
              <a:t>int</a:t>
            </a:r>
            <a:r>
              <a:rPr kumimoji="0" lang="en-US" altLang="zh-CN" sz="2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楷体" pitchFamily="49" charset="-122"/>
                <a:ea typeface="楷体" pitchFamily="49" charset="-122"/>
                <a:cs typeface="Times New Roman" pitchFamily="18" charset="0"/>
              </a:rPr>
              <a:t>)</a:t>
            </a:r>
            <a:r>
              <a:rPr kumimoji="0" lang="zh-CN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" pitchFamily="49" charset="-122"/>
                <a:ea typeface="楷体" pitchFamily="49" charset="-122"/>
                <a:cs typeface="Times New Roman" pitchFamily="18" charset="0"/>
              </a:rPr>
              <a:t>：</a:t>
            </a:r>
            <a:r>
              <a:rPr kumimoji="0" lang="zh-CN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" pitchFamily="49" charset="-122"/>
                <a:ea typeface="楷体" pitchFamily="49" charset="-122"/>
                <a:cs typeface="Times New Roman" pitchFamily="18" charset="0"/>
              </a:rPr>
              <a:t>没有取值范围的限制。</a:t>
            </a:r>
            <a:endParaRPr kumimoji="0" lang="zh-CN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楷体" pitchFamily="49" charset="-122"/>
              <a:ea typeface="楷体" pitchFamily="49" charset="-122"/>
              <a:cs typeface="宋体" pitchFamily="2" charset="-122"/>
            </a:endParaRPr>
          </a:p>
        </p:txBody>
      </p:sp>
      <p:pic>
        <p:nvPicPr>
          <p:cNvPr id="7169" name="图片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09836" y="3573760"/>
            <a:ext cx="9457430" cy="2879576"/>
          </a:xfrm>
          <a:prstGeom prst="rect">
            <a:avLst/>
          </a:prstGeom>
          <a:noFill/>
        </p:spPr>
      </p:pic>
      <p:sp>
        <p:nvSpPr>
          <p:cNvPr id="6" name="矩形 5"/>
          <p:cNvSpPr/>
          <p:nvPr/>
        </p:nvSpPr>
        <p:spPr>
          <a:xfrm>
            <a:off x="621804" y="2420888"/>
            <a:ext cx="108012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269875"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800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十进制数、十六进制数（</a:t>
            </a:r>
            <a:r>
              <a:rPr lang="en-US" altLang="zh-CN" sz="2800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0x, 0X</a:t>
            </a:r>
            <a:r>
              <a:rPr lang="zh-CN" altLang="en-US" sz="2800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开头</a:t>
            </a:r>
            <a:r>
              <a:rPr lang="en-US" altLang="zh-CN" sz="2800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)</a:t>
            </a:r>
            <a:r>
              <a:rPr lang="zh-CN" altLang="en-US" sz="2800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、八进制数（</a:t>
            </a:r>
            <a:r>
              <a:rPr lang="en-US" altLang="zh-CN" sz="2800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0o, 0O</a:t>
            </a:r>
            <a:r>
              <a:rPr lang="zh-CN" altLang="en-US" sz="2800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开头</a:t>
            </a:r>
            <a:r>
              <a:rPr lang="en-US" altLang="zh-CN" sz="2800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)</a:t>
            </a:r>
            <a:r>
              <a:rPr lang="zh-CN" altLang="en-US" sz="2800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、二进制数（</a:t>
            </a:r>
            <a:r>
              <a:rPr lang="en-US" altLang="zh-CN" sz="2800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0b, 0B</a:t>
            </a:r>
            <a:r>
              <a:rPr lang="zh-CN" altLang="en-US" sz="2800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开头</a:t>
            </a:r>
            <a:r>
              <a:rPr lang="en-US" altLang="zh-CN" sz="2800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)</a:t>
            </a:r>
            <a:endParaRPr lang="en-US" altLang="zh-CN" sz="2800" dirty="0" smtClean="0">
              <a:latin typeface="楷体" pitchFamily="49" charset="-122"/>
              <a:ea typeface="楷体" pitchFamily="49" charset="-122"/>
              <a:cs typeface="宋体" pitchFamily="2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061964" y="3933056"/>
            <a:ext cx="801496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800" dirty="0" smtClean="0">
                <a:latin typeface="楷体" pitchFamily="49" charset="-122"/>
                <a:ea typeface="楷体" pitchFamily="49" charset="-122"/>
              </a:rPr>
              <a:t>表示</a:t>
            </a:r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10</a:t>
            </a:r>
            <a:r>
              <a:rPr lang="en-US" altLang="zh-CN" sz="2800" baseline="30000" dirty="0" smtClean="0">
                <a:latin typeface="楷体" pitchFamily="49" charset="-122"/>
                <a:ea typeface="楷体" pitchFamily="49" charset="-122"/>
              </a:rPr>
              <a:t>-308</a:t>
            </a:r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~10</a:t>
            </a:r>
            <a:r>
              <a:rPr lang="en-US" altLang="zh-CN" sz="2800" baseline="30000" dirty="0" smtClean="0">
                <a:latin typeface="楷体" pitchFamily="49" charset="-122"/>
                <a:ea typeface="楷体" pitchFamily="49" charset="-122"/>
              </a:rPr>
              <a:t>308</a:t>
            </a:r>
            <a:r>
              <a:rPr lang="zh-CN" altLang="zh-CN" sz="2800" dirty="0" smtClean="0">
                <a:latin typeface="楷体" pitchFamily="49" charset="-122"/>
                <a:ea typeface="楷体" pitchFamily="49" charset="-122"/>
              </a:rPr>
              <a:t>，小数点后的位数可达到</a:t>
            </a:r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53</a:t>
            </a:r>
            <a:r>
              <a:rPr lang="zh-CN" altLang="zh-CN" sz="2800" dirty="0" smtClean="0">
                <a:latin typeface="楷体" pitchFamily="49" charset="-122"/>
                <a:ea typeface="楷体" pitchFamily="49" charset="-122"/>
              </a:rPr>
              <a:t>位。</a:t>
            </a:r>
          </a:p>
          <a:p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  0.0</a:t>
            </a:r>
            <a:r>
              <a:rPr lang="zh-CN" altLang="zh-CN" sz="2800" dirty="0" smtClean="0">
                <a:latin typeface="楷体" pitchFamily="49" charset="-122"/>
                <a:ea typeface="楷体" pitchFamily="49" charset="-122"/>
              </a:rPr>
              <a:t>是浮点数，</a:t>
            </a:r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0</a:t>
            </a:r>
            <a:r>
              <a:rPr lang="zh-CN" altLang="zh-CN" sz="2800" dirty="0" smtClean="0">
                <a:latin typeface="楷体" pitchFamily="49" charset="-122"/>
                <a:ea typeface="楷体" pitchFamily="49" charset="-122"/>
              </a:rPr>
              <a:t>是整数。</a:t>
            </a:r>
          </a:p>
          <a:p>
            <a:r>
              <a:rPr lang="zh-CN" altLang="zh-CN" sz="2800" dirty="0" smtClean="0">
                <a:latin typeface="楷体" pitchFamily="49" charset="-122"/>
                <a:ea typeface="楷体" pitchFamily="49" charset="-122"/>
              </a:rPr>
              <a:t>科学计数法，</a:t>
            </a:r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E</a:t>
            </a:r>
            <a:r>
              <a:rPr lang="zh-CN" altLang="zh-CN" sz="2800" dirty="0" smtClean="0">
                <a:latin typeface="楷体" pitchFamily="49" charset="-122"/>
                <a:ea typeface="楷体" pitchFamily="49" charset="-122"/>
              </a:rPr>
              <a:t>或</a:t>
            </a:r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e</a:t>
            </a:r>
            <a:r>
              <a:rPr lang="zh-CN" altLang="zh-CN" sz="2800" dirty="0" smtClean="0">
                <a:latin typeface="楷体" pitchFamily="49" charset="-122"/>
                <a:ea typeface="楷体" pitchFamily="49" charset="-122"/>
              </a:rPr>
              <a:t>来表示</a:t>
            </a:r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10</a:t>
            </a:r>
            <a:r>
              <a:rPr lang="zh-CN" altLang="zh-CN" sz="2800" dirty="0" smtClean="0">
                <a:latin typeface="楷体" pitchFamily="49" charset="-122"/>
                <a:ea typeface="楷体" pitchFamily="49" charset="-122"/>
              </a:rPr>
              <a:t>的幂次。</a:t>
            </a:r>
          </a:p>
          <a:p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    </a:t>
            </a:r>
            <a:r>
              <a:rPr lang="zh-CN" altLang="zh-CN" sz="2800" dirty="0" smtClean="0">
                <a:latin typeface="楷体" pitchFamily="49" charset="-122"/>
                <a:ea typeface="楷体" pitchFamily="49" charset="-122"/>
              </a:rPr>
              <a:t>如：</a:t>
            </a:r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9600000</a:t>
            </a:r>
            <a:r>
              <a:rPr lang="zh-CN" altLang="zh-CN" sz="2800" dirty="0" smtClean="0">
                <a:latin typeface="楷体" pitchFamily="49" charset="-122"/>
                <a:ea typeface="楷体" pitchFamily="49" charset="-122"/>
              </a:rPr>
              <a:t>可表示主</a:t>
            </a:r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9.6e6</a:t>
            </a:r>
            <a:r>
              <a:rPr lang="zh-CN" altLang="zh-CN" sz="2800" dirty="0" smtClean="0"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9.6E+6</a:t>
            </a:r>
            <a:endParaRPr lang="zh-CN" altLang="zh-CN" sz="2800" dirty="0" smtClean="0">
              <a:latin typeface="楷体" pitchFamily="49" charset="-122"/>
              <a:ea typeface="楷体" pitchFamily="49" charset="-122"/>
            </a:endParaRPr>
          </a:p>
          <a:p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        0.00057</a:t>
            </a:r>
            <a:r>
              <a:rPr lang="zh-CN" altLang="zh-CN" sz="2800" dirty="0" smtClean="0">
                <a:latin typeface="楷体" pitchFamily="49" charset="-122"/>
                <a:ea typeface="楷体" pitchFamily="49" charset="-122"/>
              </a:rPr>
              <a:t>可表示为</a:t>
            </a:r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5.7e-4</a:t>
            </a:r>
            <a:endParaRPr lang="zh-CN" altLang="zh-CN" sz="2800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1269876" y="805935"/>
            <a:ext cx="754565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800" dirty="0" smtClean="0">
                <a:solidFill>
                  <a:srgbClr val="FF0000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浮点数</a:t>
            </a:r>
            <a:r>
              <a:rPr lang="zh-CN" altLang="en-US" sz="2800" dirty="0" smtClean="0">
                <a:solidFill>
                  <a:srgbClr val="FF0000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类型</a:t>
            </a:r>
            <a:r>
              <a:rPr lang="en-US" altLang="zh-CN" sz="2800" dirty="0" smtClean="0">
                <a:solidFill>
                  <a:srgbClr val="FF0000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(float)</a:t>
            </a:r>
            <a:r>
              <a:rPr lang="zh-CN" altLang="en-US" sz="2800" dirty="0" smtClean="0">
                <a:solidFill>
                  <a:srgbClr val="FF0000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：</a:t>
            </a:r>
            <a:r>
              <a:rPr lang="zh-CN" altLang="en-US" sz="2800" dirty="0" smtClean="0">
                <a:solidFill>
                  <a:schemeClr val="accent6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带有小数点及小数数字。</a:t>
            </a:r>
          </a:p>
        </p:txBody>
      </p:sp>
      <p:sp>
        <p:nvSpPr>
          <p:cNvPr id="5" name="矩形 4"/>
          <p:cNvSpPr/>
          <p:nvPr/>
        </p:nvSpPr>
        <p:spPr>
          <a:xfrm>
            <a:off x="1773932" y="1268760"/>
            <a:ext cx="808426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800" dirty="0" smtClean="0">
                <a:latin typeface="楷体" pitchFamily="49" charset="-122"/>
                <a:ea typeface="楷体" pitchFamily="49" charset="-122"/>
              </a:rPr>
              <a:t>下面命令测试所使用机器的浮点数类型数的精度：</a:t>
            </a:r>
            <a:endParaRPr lang="zh-CN" altLang="en-US" sz="2800" dirty="0">
              <a:latin typeface="楷体" pitchFamily="49" charset="-122"/>
              <a:ea typeface="楷体" pitchFamily="49" charset="-122"/>
            </a:endParaRPr>
          </a:p>
        </p:txBody>
      </p:sp>
      <p:pic>
        <p:nvPicPr>
          <p:cNvPr id="6" name="图片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7788" y="1988840"/>
            <a:ext cx="11129423" cy="1440160"/>
          </a:xfrm>
          <a:prstGeom prst="rect">
            <a:avLst/>
          </a:prstGeom>
          <a:noFill/>
        </p:spPr>
      </p:pic>
      <p:cxnSp>
        <p:nvCxnSpPr>
          <p:cNvPr id="8" name="直接连接符 7"/>
          <p:cNvCxnSpPr/>
          <p:nvPr/>
        </p:nvCxnSpPr>
        <p:spPr>
          <a:xfrm>
            <a:off x="9982844" y="2708920"/>
            <a:ext cx="576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2854052" y="2957763"/>
            <a:ext cx="64807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61764" y="764704"/>
            <a:ext cx="1159328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 smtClean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复数</a:t>
            </a:r>
            <a:r>
              <a:rPr lang="zh-CN" altLang="en-US" sz="2800" dirty="0" smtClean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类型</a:t>
            </a:r>
            <a:r>
              <a:rPr lang="en-US" altLang="zh-CN" sz="2800" dirty="0" smtClean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(complex)</a:t>
            </a:r>
            <a:r>
              <a:rPr lang="zh-CN" altLang="en-US" sz="2800" dirty="0" smtClean="0">
                <a:latin typeface="楷体" pitchFamily="49" charset="-122"/>
                <a:ea typeface="楷体" pitchFamily="49" charset="-122"/>
              </a:rPr>
              <a:t>： </a:t>
            </a:r>
            <a:r>
              <a:rPr lang="zh-CN" altLang="en-US" sz="2800" dirty="0" smtClean="0">
                <a:latin typeface="楷体" pitchFamily="49" charset="-122"/>
                <a:ea typeface="楷体" pitchFamily="49" charset="-122"/>
              </a:rPr>
              <a:t>形如：</a:t>
            </a:r>
            <a:r>
              <a:rPr lang="en-US" altLang="zh-CN" sz="2800" dirty="0" err="1" smtClean="0">
                <a:latin typeface="楷体" pitchFamily="49" charset="-122"/>
                <a:ea typeface="楷体" pitchFamily="49" charset="-122"/>
              </a:rPr>
              <a:t>a+bj</a:t>
            </a:r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    a</a:t>
            </a:r>
            <a:r>
              <a:rPr lang="zh-CN" altLang="en-US" sz="2800" dirty="0" smtClean="0">
                <a:latin typeface="楷体" pitchFamily="49" charset="-122"/>
                <a:ea typeface="楷体" pitchFamily="49" charset="-122"/>
              </a:rPr>
              <a:t>和</a:t>
            </a:r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b</a:t>
            </a:r>
            <a:r>
              <a:rPr lang="zh-CN" altLang="en-US" sz="2800" dirty="0" smtClean="0">
                <a:latin typeface="楷体" pitchFamily="49" charset="-122"/>
                <a:ea typeface="楷体" pitchFamily="49" charset="-122"/>
              </a:rPr>
              <a:t>可以是浮点数也可以是整数。</a:t>
            </a:r>
          </a:p>
          <a:p>
            <a:r>
              <a:rPr lang="zh-CN" altLang="en-US" sz="2800" dirty="0" smtClean="0">
                <a:latin typeface="楷体" pitchFamily="49" charset="-122"/>
                <a:ea typeface="楷体" pitchFamily="49" charset="-122"/>
              </a:rPr>
              <a:t>   对于复数</a:t>
            </a:r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z=</a:t>
            </a:r>
            <a:r>
              <a:rPr lang="en-US" altLang="zh-CN" sz="2800" dirty="0" err="1" smtClean="0">
                <a:latin typeface="楷体" pitchFamily="49" charset="-122"/>
                <a:ea typeface="楷体" pitchFamily="49" charset="-122"/>
              </a:rPr>
              <a:t>a+bj</a:t>
            </a:r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 </a:t>
            </a:r>
            <a:r>
              <a:rPr lang="zh-CN" altLang="en-US" sz="2800" dirty="0" smtClean="0">
                <a:latin typeface="楷体" pitchFamily="49" charset="-122"/>
                <a:ea typeface="楷体" pitchFamily="49" charset="-122"/>
              </a:rPr>
              <a:t>，可用</a:t>
            </a:r>
            <a:r>
              <a:rPr lang="en-US" altLang="zh-CN" sz="2800" dirty="0" err="1" smtClean="0">
                <a:latin typeface="楷体" pitchFamily="49" charset="-122"/>
                <a:ea typeface="楷体" pitchFamily="49" charset="-122"/>
              </a:rPr>
              <a:t>z.real</a:t>
            </a:r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 </a:t>
            </a:r>
            <a:r>
              <a:rPr lang="zh-CN" altLang="en-US" sz="2800" dirty="0" smtClean="0">
                <a:latin typeface="楷体" pitchFamily="49" charset="-122"/>
                <a:ea typeface="楷体" pitchFamily="49" charset="-122"/>
              </a:rPr>
              <a:t>和</a:t>
            </a:r>
            <a:r>
              <a:rPr lang="en-US" altLang="zh-CN" sz="2800" dirty="0" err="1" smtClean="0">
                <a:latin typeface="楷体" pitchFamily="49" charset="-122"/>
                <a:ea typeface="楷体" pitchFamily="49" charset="-122"/>
              </a:rPr>
              <a:t>z.imag</a:t>
            </a:r>
            <a:r>
              <a:rPr lang="zh-CN" altLang="en-US" sz="2800" dirty="0" smtClean="0">
                <a:latin typeface="楷体" pitchFamily="49" charset="-122"/>
                <a:ea typeface="楷体" pitchFamily="49" charset="-122"/>
              </a:rPr>
              <a:t>来获得复数的实部</a:t>
            </a:r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a</a:t>
            </a:r>
            <a:r>
              <a:rPr lang="zh-CN" altLang="en-US" sz="2800" dirty="0" smtClean="0">
                <a:latin typeface="楷体" pitchFamily="49" charset="-122"/>
                <a:ea typeface="楷体" pitchFamily="49" charset="-122"/>
              </a:rPr>
              <a:t>和虚部</a:t>
            </a:r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b</a:t>
            </a:r>
            <a:r>
              <a:rPr lang="zh-CN" altLang="en-US" sz="2800" dirty="0" smtClean="0">
                <a:latin typeface="楷体" pitchFamily="49" charset="-122"/>
                <a:ea typeface="楷体" pitchFamily="49" charset="-122"/>
              </a:rPr>
              <a:t>。</a:t>
            </a:r>
            <a:endParaRPr lang="zh-CN" altLang="en-US" sz="2800" dirty="0">
              <a:latin typeface="楷体" pitchFamily="49" charset="-122"/>
              <a:ea typeface="楷体" pitchFamily="49" charset="-122"/>
            </a:endParaRPr>
          </a:p>
        </p:txBody>
      </p:sp>
      <p:pic>
        <p:nvPicPr>
          <p:cNvPr id="4" name="图片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09836" y="1828056"/>
            <a:ext cx="3800054" cy="14569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图片 4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46340" y="1861964"/>
            <a:ext cx="5112568" cy="135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矩形 5"/>
          <p:cNvSpPr/>
          <p:nvPr/>
        </p:nvSpPr>
        <p:spPr>
          <a:xfrm>
            <a:off x="981844" y="3627021"/>
            <a:ext cx="972108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 smtClean="0">
                <a:latin typeface="楷体" pitchFamily="49" charset="-122"/>
                <a:ea typeface="楷体" pitchFamily="49" charset="-122"/>
              </a:rPr>
              <a:t>三种类型扩展关系：整型</a:t>
            </a:r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—&gt; </a:t>
            </a:r>
            <a:r>
              <a:rPr lang="zh-CN" altLang="en-US" sz="2800" dirty="0" smtClean="0">
                <a:latin typeface="楷体" pitchFamily="49" charset="-122"/>
                <a:ea typeface="楷体" pitchFamily="49" charset="-122"/>
              </a:rPr>
              <a:t>浮点型 </a:t>
            </a:r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—&gt; </a:t>
            </a:r>
            <a:r>
              <a:rPr lang="zh-CN" altLang="en-US" sz="2800" dirty="0" smtClean="0">
                <a:latin typeface="楷体" pitchFamily="49" charset="-122"/>
                <a:ea typeface="楷体" pitchFamily="49" charset="-122"/>
              </a:rPr>
              <a:t>复数型 （最宽） </a:t>
            </a:r>
          </a:p>
          <a:p>
            <a:r>
              <a:rPr lang="zh-CN" altLang="en-US" sz="2800" dirty="0" smtClean="0">
                <a:latin typeface="楷体" pitchFamily="49" charset="-122"/>
                <a:ea typeface="楷体" pitchFamily="49" charset="-122"/>
              </a:rPr>
              <a:t>注意：如果进行混合运算，运算结果以最宽的类型为结果。</a:t>
            </a:r>
            <a:endParaRPr lang="zh-CN" altLang="en-US" sz="2800" dirty="0">
              <a:latin typeface="楷体" pitchFamily="49" charset="-122"/>
              <a:ea typeface="楷体" pitchFamily="49" charset="-122"/>
            </a:endParaRPr>
          </a:p>
        </p:txBody>
      </p:sp>
      <p:pic>
        <p:nvPicPr>
          <p:cNvPr id="7" name="图片 6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53852" y="4736058"/>
            <a:ext cx="2448272" cy="997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图片 7"/>
          <p:cNvPicPr/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294212" y="4702398"/>
            <a:ext cx="2808312" cy="1750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图片 8"/>
          <p:cNvPicPr/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894612" y="4714974"/>
            <a:ext cx="2520280" cy="1306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矩形 9"/>
          <p:cNvSpPr/>
          <p:nvPr/>
        </p:nvSpPr>
        <p:spPr>
          <a:xfrm>
            <a:off x="-530324" y="1567189"/>
            <a:ext cx="1569660" cy="6376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304800">
              <a:lnSpc>
                <a:spcPct val="150000"/>
              </a:lnSpc>
            </a:pPr>
            <a:r>
              <a:rPr lang="zh-CN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【例】</a:t>
            </a:r>
            <a:endParaRPr lang="zh-CN" altLang="zh-CN" sz="2800" kern="100" dirty="0"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-458316" y="4519517"/>
            <a:ext cx="1569660" cy="6376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304800">
              <a:lnSpc>
                <a:spcPct val="150000"/>
              </a:lnSpc>
            </a:pPr>
            <a:r>
              <a:rPr lang="zh-CN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【例】</a:t>
            </a:r>
            <a:endParaRPr lang="zh-CN" altLang="zh-CN" sz="2800" kern="100" dirty="0"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05780" y="476672"/>
            <a:ext cx="1051316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2</a:t>
            </a:r>
            <a:r>
              <a:rPr lang="zh-CN" altLang="en-US" sz="2800" dirty="0" smtClean="0">
                <a:latin typeface="楷体" pitchFamily="49" charset="-122"/>
                <a:ea typeface="楷体" pitchFamily="49" charset="-122"/>
              </a:rPr>
              <a:t>、三种类型的转换</a:t>
            </a:r>
          </a:p>
          <a:p>
            <a:r>
              <a:rPr lang="zh-CN" altLang="en-US" sz="2800" dirty="0" smtClean="0">
                <a:latin typeface="楷体" pitchFamily="49" charset="-122"/>
                <a:ea typeface="楷体" pitchFamily="49" charset="-122"/>
              </a:rPr>
              <a:t>转换函数：</a:t>
            </a:r>
            <a:r>
              <a:rPr lang="en-US" altLang="zh-CN" sz="2800" dirty="0" err="1" smtClean="0">
                <a:latin typeface="楷体" pitchFamily="49" charset="-122"/>
                <a:ea typeface="楷体" pitchFamily="49" charset="-122"/>
              </a:rPr>
              <a:t>int</a:t>
            </a:r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 ( ) </a:t>
            </a:r>
            <a:r>
              <a:rPr lang="zh-CN" altLang="en-US" sz="2800" dirty="0" smtClean="0">
                <a:latin typeface="楷体" pitchFamily="49" charset="-122"/>
                <a:ea typeface="楷体" pitchFamily="49" charset="-122"/>
              </a:rPr>
              <a:t>、</a:t>
            </a:r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float( )</a:t>
            </a:r>
            <a:r>
              <a:rPr lang="zh-CN" altLang="en-US" sz="2800" dirty="0" smtClean="0">
                <a:latin typeface="楷体" pitchFamily="49" charset="-122"/>
                <a:ea typeface="楷体" pitchFamily="49" charset="-122"/>
              </a:rPr>
              <a:t>、 </a:t>
            </a:r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complex( )</a:t>
            </a:r>
            <a:endParaRPr lang="en-US" altLang="zh-CN" sz="2800" dirty="0">
              <a:latin typeface="楷体" pitchFamily="49" charset="-122"/>
              <a:ea typeface="楷体" pitchFamily="49" charset="-122"/>
            </a:endParaRPr>
          </a:p>
        </p:txBody>
      </p:sp>
      <p:pic>
        <p:nvPicPr>
          <p:cNvPr id="3" name="图片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86500" y="1412776"/>
            <a:ext cx="2880320" cy="13633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图片 3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94212" y="1484784"/>
            <a:ext cx="2088232" cy="796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图片 4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413892" y="1484784"/>
            <a:ext cx="2304256" cy="923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矩形 6"/>
          <p:cNvSpPr/>
          <p:nvPr/>
        </p:nvSpPr>
        <p:spPr>
          <a:xfrm>
            <a:off x="405780" y="2420888"/>
            <a:ext cx="323678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3</a:t>
            </a:r>
            <a:r>
              <a:rPr lang="zh-CN" altLang="en-US" sz="2800" dirty="0" smtClean="0">
                <a:latin typeface="楷体" pitchFamily="49" charset="-122"/>
                <a:ea typeface="楷体" pitchFamily="49" charset="-122"/>
              </a:rPr>
              <a:t>、数字类型的运算</a:t>
            </a:r>
            <a:endParaRPr lang="zh-CN" altLang="en-US" sz="2800" dirty="0">
              <a:latin typeface="楷体" pitchFamily="49" charset="-122"/>
              <a:ea typeface="楷体" pitchFamily="49" charset="-122"/>
            </a:endParaRPr>
          </a:p>
        </p:txBody>
      </p:sp>
      <p:pic>
        <p:nvPicPr>
          <p:cNvPr id="8" name="图片 7"/>
          <p:cNvPicPr/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05780" y="2924944"/>
            <a:ext cx="5112568" cy="3933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图片 8"/>
          <p:cNvPicPr/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598468" y="3140968"/>
            <a:ext cx="2664296" cy="3573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矩形 9"/>
          <p:cNvSpPr/>
          <p:nvPr/>
        </p:nvSpPr>
        <p:spPr>
          <a:xfrm>
            <a:off x="9308506" y="5229200"/>
            <a:ext cx="288031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 math</a:t>
            </a:r>
            <a:r>
              <a:rPr lang="zh-CN" altLang="zh-CN" sz="2800" dirty="0" smtClean="0">
                <a:latin typeface="楷体" pitchFamily="49" charset="-122"/>
                <a:ea typeface="楷体" pitchFamily="49" charset="-122"/>
              </a:rPr>
              <a:t>库将提供</a:t>
            </a:r>
            <a:endParaRPr lang="en-US" altLang="zh-CN" sz="2800" dirty="0" smtClean="0">
              <a:latin typeface="楷体" pitchFamily="49" charset="-122"/>
              <a:ea typeface="楷体" pitchFamily="49" charset="-122"/>
            </a:endParaRPr>
          </a:p>
          <a:p>
            <a:r>
              <a:rPr lang="zh-CN" altLang="zh-CN" sz="2800" dirty="0" smtClean="0">
                <a:latin typeface="楷体" pitchFamily="49" charset="-122"/>
                <a:ea typeface="楷体" pitchFamily="49" charset="-122"/>
              </a:rPr>
              <a:t>更多的数学运算</a:t>
            </a:r>
            <a:endParaRPr lang="zh-CN" altLang="en-US" sz="2800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0" y="1556792"/>
            <a:ext cx="1569660" cy="6376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304800">
              <a:lnSpc>
                <a:spcPct val="150000"/>
              </a:lnSpc>
            </a:pPr>
            <a:r>
              <a:rPr lang="zh-CN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【例】</a:t>
            </a:r>
            <a:endParaRPr lang="zh-CN" altLang="zh-CN" sz="2800" kern="100" dirty="0"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086300" y="3068960"/>
            <a:ext cx="1569660" cy="6376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304800">
              <a:lnSpc>
                <a:spcPct val="150000"/>
              </a:lnSpc>
            </a:pPr>
            <a:r>
              <a:rPr lang="zh-CN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【例】</a:t>
            </a:r>
            <a:endParaRPr lang="zh-CN" altLang="zh-CN" sz="2800" kern="100" dirty="0"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61764" y="1268760"/>
            <a:ext cx="11927061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04800">
              <a:lnSpc>
                <a:spcPct val="150000"/>
              </a:lnSpc>
            </a:pPr>
            <a:r>
              <a:rPr lang="en-US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、</a:t>
            </a:r>
            <a:r>
              <a:rPr lang="zh-CN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字符串</a:t>
            </a:r>
            <a:r>
              <a:rPr lang="zh-CN" altLang="en-US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组成</a:t>
            </a:r>
            <a:endParaRPr lang="en-US" altLang="zh-CN" sz="2800" kern="100" dirty="0" smtClean="0"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  <a:p>
            <a:pPr indent="304800">
              <a:lnSpc>
                <a:spcPct val="150000"/>
              </a:lnSpc>
            </a:pPr>
            <a:r>
              <a:rPr lang="en-US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     </a:t>
            </a:r>
            <a:r>
              <a:rPr lang="zh-CN" altLang="en-US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字符串</a:t>
            </a:r>
            <a:r>
              <a:rPr lang="zh-CN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是</a:t>
            </a:r>
            <a:r>
              <a:rPr lang="zh-CN" altLang="zh-CN" sz="28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字符的</a:t>
            </a:r>
            <a:r>
              <a:rPr lang="zh-CN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序列</a:t>
            </a:r>
            <a:r>
              <a:rPr lang="zh-CN" altLang="en-US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，</a:t>
            </a:r>
            <a:r>
              <a:rPr lang="zh-CN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需用</a:t>
            </a:r>
            <a:r>
              <a:rPr lang="zh-CN" altLang="zh-CN" sz="28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单引号</a:t>
            </a:r>
            <a:r>
              <a:rPr lang="en-US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(')</a:t>
            </a:r>
            <a:r>
              <a:rPr lang="zh-CN" altLang="zh-CN" sz="28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或双引号</a:t>
            </a:r>
            <a:r>
              <a:rPr lang="en-US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(")</a:t>
            </a:r>
            <a:r>
              <a:rPr lang="zh-CN" altLang="zh-CN" sz="28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括起来。</a:t>
            </a:r>
          </a:p>
          <a:p>
            <a:pPr indent="30607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800" b="1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使用单引号</a:t>
            </a:r>
            <a:r>
              <a:rPr lang="zh-CN" altLang="zh-CN" sz="2800" b="1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'</a:t>
            </a:r>
            <a:r>
              <a:rPr lang="zh-CN" altLang="zh-CN" sz="2800" b="1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）</a:t>
            </a:r>
            <a:r>
              <a:rPr lang="zh-CN" altLang="zh-CN" sz="28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：可以用单引号指示字符串，就</a:t>
            </a:r>
            <a:r>
              <a:rPr lang="zh-CN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如同</a:t>
            </a:r>
            <a:r>
              <a:rPr lang="en-US" altLang="zh-CN" sz="2800" b="1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'</a:t>
            </a:r>
            <a:r>
              <a:rPr lang="en-US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Let me do it.</a:t>
            </a:r>
            <a:r>
              <a:rPr lang="en-US" altLang="zh-CN" sz="2800" b="1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'</a:t>
            </a:r>
            <a:r>
              <a:rPr lang="zh-CN" altLang="en-US" sz="2800" b="1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，</a:t>
            </a:r>
            <a:r>
              <a:rPr lang="zh-CN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所有</a:t>
            </a:r>
            <a:r>
              <a:rPr lang="zh-CN" altLang="zh-CN" sz="28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的空白，即空格和制表符都照原样保留。</a:t>
            </a:r>
          </a:p>
          <a:p>
            <a:pPr indent="30607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800" b="1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使用双引号（</a:t>
            </a:r>
            <a:r>
              <a:rPr lang="en-US" altLang="zh-CN" sz="2800" b="1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"</a:t>
            </a:r>
            <a:r>
              <a:rPr lang="zh-CN" altLang="zh-CN" sz="2800" b="1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）：</a:t>
            </a:r>
            <a:r>
              <a:rPr lang="zh-CN" altLang="zh-CN" sz="28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在双引号中的字符串与单引号中的字符串的使用完全相同，例如</a:t>
            </a:r>
            <a:r>
              <a:rPr lang="en-US" altLang="zh-CN" sz="28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"What's your name?"</a:t>
            </a:r>
            <a:r>
              <a:rPr lang="zh-CN" altLang="zh-CN" sz="28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。</a:t>
            </a:r>
          </a:p>
          <a:p>
            <a:pPr indent="30607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800" b="1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使用三引号（</a:t>
            </a:r>
            <a:r>
              <a:rPr lang="en-US" altLang="zh-CN" sz="2800" b="1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'''</a:t>
            </a:r>
            <a:r>
              <a:rPr lang="zh-CN" altLang="zh-CN" sz="2800" b="1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2800" b="1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"""</a:t>
            </a:r>
            <a:r>
              <a:rPr lang="zh-CN" altLang="zh-CN" sz="2800" b="1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）：</a:t>
            </a:r>
            <a:r>
              <a:rPr lang="zh-CN" altLang="zh-CN" sz="28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利用三引号，可以指示一个多行的字符串。可以在三引号中自由的使用单引号和双引号。如注释一段文字可用三引号。</a:t>
            </a:r>
            <a:endParaRPr lang="zh-CN" altLang="zh-CN" sz="2800" kern="100" dirty="0">
              <a:effectLst/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标题 1"/>
          <p:cNvSpPr txBox="1">
            <a:spLocks/>
          </p:cNvSpPr>
          <p:nvPr/>
        </p:nvSpPr>
        <p:spPr>
          <a:xfrm>
            <a:off x="333772" y="260648"/>
            <a:ext cx="11071516" cy="782960"/>
          </a:xfrm>
          <a:prstGeom prst="rect">
            <a:avLst/>
          </a:prstGeom>
        </p:spPr>
        <p:txBody>
          <a:bodyPr>
            <a:normAutofit fontScale="900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Times New Roman" pitchFamily="18" charset="0"/>
              </a:rPr>
              <a:t>字符串</a:t>
            </a:r>
            <a:r>
              <a:rPr kumimoji="0" lang="zh-CN" altLang="en-US" sz="5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Times New Roman" pitchFamily="18" charset="0"/>
              </a:rPr>
              <a:t>类型</a:t>
            </a:r>
            <a:r>
              <a:rPr kumimoji="0" lang="en-US" altLang="zh-CN" sz="5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Times New Roman" pitchFamily="18" charset="0"/>
              </a:rPr>
              <a:t>(</a:t>
            </a:r>
            <a:r>
              <a:rPr kumimoji="0" lang="en-US" altLang="zh-CN" sz="5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Times New Roman" pitchFamily="18" charset="0"/>
              </a:rPr>
              <a:t>str</a:t>
            </a:r>
            <a:r>
              <a:rPr kumimoji="0" lang="en-US" altLang="zh-CN" sz="5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Times New Roman" pitchFamily="18" charset="0"/>
              </a:rPr>
              <a:t>)</a:t>
            </a:r>
            <a:endParaRPr kumimoji="0" lang="zh-CN" altLang="en-US" sz="5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ea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269455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88640"/>
            <a:ext cx="1156702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06070" algn="just">
              <a:spcAft>
                <a:spcPts val="0"/>
              </a:spcAft>
            </a:pPr>
            <a:r>
              <a:rPr lang="en-US" altLang="zh-CN" sz="2800" b="1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、</a:t>
            </a:r>
            <a:r>
              <a:rPr lang="zh-CN" altLang="zh-CN" sz="2800" b="1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转义</a:t>
            </a:r>
            <a:r>
              <a:rPr lang="zh-CN" altLang="zh-CN" sz="2800" b="1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符</a:t>
            </a:r>
            <a:r>
              <a:rPr lang="zh-CN" altLang="zh-CN" sz="2800" b="1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800" b="1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\</a:t>
            </a:r>
          </a:p>
          <a:p>
            <a:pPr indent="306070" algn="just">
              <a:spcAft>
                <a:spcPts val="0"/>
              </a:spcAft>
            </a:pPr>
            <a:r>
              <a:rPr lang="zh-CN" altLang="en-US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   输出的</a:t>
            </a:r>
            <a:r>
              <a:rPr lang="zh-CN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字符串</a:t>
            </a:r>
            <a:r>
              <a:rPr lang="zh-CN" altLang="zh-CN" sz="28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中包含一个</a:t>
            </a:r>
            <a:r>
              <a:rPr lang="zh-CN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单引号</a:t>
            </a:r>
            <a:r>
              <a:rPr lang="zh-CN" altLang="en-US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'</a:t>
            </a:r>
            <a:r>
              <a:rPr lang="zh-CN" altLang="en-US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）</a:t>
            </a:r>
            <a:endParaRPr lang="en-US" altLang="zh-CN" sz="2800" kern="100" dirty="0" smtClean="0"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  <a:p>
            <a:pPr indent="306070" algn="just">
              <a:spcAft>
                <a:spcPts val="0"/>
              </a:spcAft>
            </a:pPr>
            <a:r>
              <a:rPr lang="zh-CN" altLang="en-US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     法</a:t>
            </a:r>
            <a:r>
              <a:rPr lang="en-US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：可使用</a:t>
            </a:r>
            <a:r>
              <a:rPr lang="en-US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"</a:t>
            </a:r>
            <a:r>
              <a:rPr lang="zh-CN" altLang="en-US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作为定界符</a:t>
            </a:r>
            <a:endParaRPr lang="en-US" altLang="zh-CN" sz="2800" kern="100" dirty="0" smtClean="0"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  <a:p>
            <a:pPr indent="306070" algn="just">
              <a:spcAft>
                <a:spcPts val="0"/>
              </a:spcAft>
            </a:pPr>
            <a:r>
              <a:rPr lang="zh-CN" altLang="en-US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     法</a:t>
            </a:r>
            <a:r>
              <a:rPr lang="en-US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：使用转义字符</a:t>
            </a:r>
            <a:r>
              <a:rPr lang="en-US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\</a:t>
            </a:r>
          </a:p>
          <a:p>
            <a:pPr indent="306070" algn="just">
              <a:spcAft>
                <a:spcPts val="0"/>
              </a:spcAft>
            </a:pPr>
            <a:endParaRPr lang="en-US" altLang="zh-CN" sz="2800" kern="100" dirty="0" smtClean="0"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  <a:p>
            <a:pPr indent="306070" algn="just">
              <a:spcAft>
                <a:spcPts val="0"/>
              </a:spcAft>
            </a:pPr>
            <a:endParaRPr lang="en-US" altLang="zh-CN" sz="2800" kern="100" dirty="0" smtClean="0"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  <a:p>
            <a:pPr indent="306070" algn="just">
              <a:spcAft>
                <a:spcPts val="0"/>
              </a:spcAft>
            </a:pPr>
            <a:r>
              <a:rPr lang="en-US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  </a:t>
            </a:r>
          </a:p>
          <a:p>
            <a:pPr indent="306070" algn="just">
              <a:spcAft>
                <a:spcPts val="0"/>
              </a:spcAft>
            </a:pPr>
            <a:r>
              <a:rPr lang="zh-CN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类似</a:t>
            </a:r>
            <a:r>
              <a:rPr lang="zh-CN" altLang="zh-CN" sz="28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地，要在双引号字符串中使用双引号本身的时候，也可以借助于转义符。另外，你可以用转义符</a:t>
            </a:r>
            <a:r>
              <a:rPr lang="en-US" altLang="zh-CN" sz="28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\\</a:t>
            </a:r>
            <a:r>
              <a:rPr lang="zh-CN" altLang="zh-CN" sz="28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来指示反斜杠</a:t>
            </a:r>
            <a:r>
              <a:rPr lang="en-US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\</a:t>
            </a:r>
            <a:r>
              <a:rPr lang="zh-CN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。</a:t>
            </a:r>
            <a:endParaRPr lang="zh-CN" altLang="zh-CN" sz="2800" kern="100" dirty="0">
              <a:effectLst/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82044" y="2060848"/>
            <a:ext cx="6886501" cy="1080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矩形 4"/>
          <p:cNvSpPr/>
          <p:nvPr/>
        </p:nvSpPr>
        <p:spPr>
          <a:xfrm>
            <a:off x="261765" y="4851157"/>
            <a:ext cx="1166529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 smtClean="0">
                <a:latin typeface="楷体" pitchFamily="49" charset="-122"/>
                <a:ea typeface="楷体" pitchFamily="49" charset="-122"/>
              </a:rPr>
              <a:t>注意</a:t>
            </a:r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:</a:t>
            </a:r>
            <a:r>
              <a:rPr lang="zh-CN" altLang="en-US" sz="2800" dirty="0" smtClean="0">
                <a:latin typeface="楷体" pitchFamily="49" charset="-122"/>
                <a:ea typeface="楷体" pitchFamily="49" charset="-122"/>
              </a:rPr>
              <a:t>在一个字符串中，行末的单独一个反斜杠表示字符串在下一行继续输入，而不是开始一个新的字符串。</a:t>
            </a:r>
          </a:p>
        </p:txBody>
      </p:sp>
      <p:pic>
        <p:nvPicPr>
          <p:cNvPr id="8" name="图片 5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849449" y="4221088"/>
            <a:ext cx="3429539" cy="648072"/>
          </a:xfrm>
          <a:prstGeom prst="rect">
            <a:avLst/>
          </a:prstGeom>
          <a:noFill/>
        </p:spPr>
      </p:pic>
      <p:sp>
        <p:nvSpPr>
          <p:cNvPr id="9" name="矩形 8"/>
          <p:cNvSpPr/>
          <p:nvPr/>
        </p:nvSpPr>
        <p:spPr>
          <a:xfrm>
            <a:off x="621804" y="5671645"/>
            <a:ext cx="1569660" cy="6376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304800">
              <a:lnSpc>
                <a:spcPct val="150000"/>
              </a:lnSpc>
            </a:pPr>
            <a:r>
              <a:rPr lang="zh-CN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【例】</a:t>
            </a:r>
            <a:endParaRPr lang="zh-CN" altLang="zh-CN" sz="2800" kern="100" dirty="0"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-386308" y="4005064"/>
            <a:ext cx="1569660" cy="6376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304800">
              <a:lnSpc>
                <a:spcPct val="150000"/>
              </a:lnSpc>
            </a:pPr>
            <a:r>
              <a:rPr lang="zh-CN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【例】</a:t>
            </a:r>
            <a:endParaRPr lang="zh-CN" altLang="zh-CN" sz="2800" kern="100" dirty="0"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981844" y="2060848"/>
            <a:ext cx="1569660" cy="6376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304800">
              <a:lnSpc>
                <a:spcPct val="150000"/>
              </a:lnSpc>
            </a:pPr>
            <a:r>
              <a:rPr lang="zh-CN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【例】</a:t>
            </a:r>
            <a:endParaRPr lang="zh-CN" altLang="zh-CN" sz="2800" kern="100" dirty="0"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05980" y="5814023"/>
            <a:ext cx="8424936" cy="9993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981844" y="4149080"/>
            <a:ext cx="6611641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7213982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621803" y="908720"/>
            <a:ext cx="1015312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0607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800" b="1" kern="100" dirty="0" smtClean="0">
                <a:latin typeface="Calibri" panose="020F0502020204030204" pitchFamily="34" charset="0"/>
                <a:ea typeface="仿宋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800" b="1" kern="100" dirty="0" smtClean="0">
                <a:latin typeface="Calibri" panose="020F0502020204030204" pitchFamily="34" charset="0"/>
                <a:ea typeface="仿宋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zh-CN" altLang="zh-CN" sz="2800" b="1" kern="100" dirty="0" smtClean="0">
                <a:latin typeface="Calibri" panose="020F0502020204030204" pitchFamily="34" charset="0"/>
                <a:ea typeface="仿宋" panose="02010609060101010101" pitchFamily="49" charset="-122"/>
                <a:cs typeface="Times New Roman" panose="02020603050405020304" pitchFamily="18" charset="0"/>
              </a:rPr>
              <a:t>字符串</a:t>
            </a:r>
            <a:r>
              <a:rPr lang="zh-CN" altLang="en-US" sz="2800" b="1" kern="100" dirty="0" smtClean="0">
                <a:latin typeface="Calibri" panose="020F0502020204030204" pitchFamily="34" charset="0"/>
                <a:ea typeface="仿宋" panose="02010609060101010101" pitchFamily="49" charset="-122"/>
                <a:cs typeface="Times New Roman" panose="02020603050405020304" pitchFamily="18" charset="0"/>
              </a:rPr>
              <a:t>的运算</a:t>
            </a:r>
            <a:r>
              <a:rPr lang="zh-CN" altLang="zh-CN" sz="2800" b="1" kern="100" dirty="0" smtClean="0">
                <a:latin typeface="Calibri" panose="020F0502020204030204" pitchFamily="34" charset="0"/>
                <a:ea typeface="仿宋" panose="02010609060101010101" pitchFamily="49" charset="-122"/>
                <a:cs typeface="Times New Roman" panose="02020603050405020304" pitchFamily="18" charset="0"/>
              </a:rPr>
              <a:t>：</a:t>
            </a:r>
            <a:endParaRPr lang="zh-CN" altLang="zh-CN" sz="28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3048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800" kern="100" dirty="0">
                <a:solidFill>
                  <a:srgbClr val="3E3E3E"/>
                </a:solidFill>
                <a:latin typeface="Calibri" panose="020F0502020204030204" pitchFamily="34" charset="0"/>
                <a:ea typeface="仿宋" panose="02010609060101010101" pitchFamily="49" charset="-122"/>
                <a:cs typeface="Helvetica" panose="020B0604020202020204" pitchFamily="34" charset="0"/>
              </a:rPr>
              <a:t>字符串可以使用</a:t>
            </a:r>
            <a:r>
              <a:rPr lang="en-US" altLang="zh-CN" sz="2800" kern="100" dirty="0">
                <a:solidFill>
                  <a:srgbClr val="3E3E3E"/>
                </a:solidFill>
                <a:latin typeface="Calibri" panose="020F0502020204030204" pitchFamily="34" charset="0"/>
                <a:ea typeface="仿宋" panose="02010609060101010101" pitchFamily="49" charset="-122"/>
                <a:cs typeface="Helvetica" panose="020B0604020202020204" pitchFamily="34" charset="0"/>
              </a:rPr>
              <a:t> + </a:t>
            </a:r>
            <a:r>
              <a:rPr lang="zh-CN" altLang="zh-CN" sz="2800" kern="100" dirty="0">
                <a:solidFill>
                  <a:srgbClr val="3E3E3E"/>
                </a:solidFill>
                <a:latin typeface="Calibri" panose="020F0502020204030204" pitchFamily="34" charset="0"/>
                <a:ea typeface="仿宋" panose="02010609060101010101" pitchFamily="49" charset="-122"/>
                <a:cs typeface="Helvetica" panose="020B0604020202020204" pitchFamily="34" charset="0"/>
              </a:rPr>
              <a:t>运算符串连接在一起，或者用</a:t>
            </a:r>
            <a:r>
              <a:rPr lang="en-US" altLang="zh-CN" sz="2800" kern="100" dirty="0">
                <a:solidFill>
                  <a:srgbClr val="3E3E3E"/>
                </a:solidFill>
                <a:latin typeface="Calibri" panose="020F0502020204030204" pitchFamily="34" charset="0"/>
                <a:ea typeface="仿宋" panose="02010609060101010101" pitchFamily="49" charset="-122"/>
                <a:cs typeface="Helvetica" panose="020B0604020202020204" pitchFamily="34" charset="0"/>
              </a:rPr>
              <a:t> * </a:t>
            </a:r>
            <a:r>
              <a:rPr lang="zh-CN" altLang="zh-CN" sz="2800" kern="100" dirty="0">
                <a:solidFill>
                  <a:srgbClr val="3E3E3E"/>
                </a:solidFill>
                <a:latin typeface="Calibri" panose="020F0502020204030204" pitchFamily="34" charset="0"/>
                <a:ea typeface="仿宋" panose="02010609060101010101" pitchFamily="49" charset="-122"/>
                <a:cs typeface="Helvetica" panose="020B0604020202020204" pitchFamily="34" charset="0"/>
              </a:rPr>
              <a:t>运算符重复</a:t>
            </a:r>
            <a:r>
              <a:rPr lang="zh-CN" altLang="zh-CN" sz="2800" kern="100" dirty="0" smtClean="0">
                <a:solidFill>
                  <a:srgbClr val="3E3E3E"/>
                </a:solidFill>
                <a:latin typeface="Calibri" panose="020F0502020204030204" pitchFamily="34" charset="0"/>
                <a:ea typeface="仿宋" panose="02010609060101010101" pitchFamily="49" charset="-122"/>
                <a:cs typeface="Helvetica" panose="020B0604020202020204" pitchFamily="34" charset="0"/>
              </a:rPr>
              <a:t>：</a:t>
            </a:r>
            <a:endParaRPr lang="zh-CN" altLang="zh-CN" sz="28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33972" y="6095037"/>
            <a:ext cx="66479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i="1" dirty="0" smtClean="0">
                <a:latin typeface="楷体" pitchFamily="49" charset="-122"/>
                <a:ea typeface="楷体" pitchFamily="49" charset="-122"/>
              </a:rPr>
              <a:t>请同学们动手进行字符串的操作</a:t>
            </a:r>
            <a:endParaRPr lang="zh-CN" altLang="en-US" sz="3600" i="1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51856" y="2276872"/>
            <a:ext cx="751090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+</a:t>
            </a:r>
            <a:r>
              <a:rPr lang="zh-CN" altLang="zh-CN" sz="2800" dirty="0" smtClean="0">
                <a:latin typeface="楷体" pitchFamily="49" charset="-122"/>
                <a:ea typeface="楷体" pitchFamily="49" charset="-122"/>
              </a:rPr>
              <a:t>：将两个字符串连接成为一个新字符串。</a:t>
            </a:r>
          </a:p>
          <a:p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*</a:t>
            </a:r>
            <a:r>
              <a:rPr lang="zh-CN" altLang="zh-CN" sz="2800" dirty="0" smtClean="0">
                <a:latin typeface="楷体" pitchFamily="49" charset="-122"/>
                <a:ea typeface="楷体" pitchFamily="49" charset="-122"/>
              </a:rPr>
              <a:t>：将字符串本身复制多</a:t>
            </a:r>
            <a:r>
              <a:rPr lang="zh-CN" altLang="en-US" sz="2800" dirty="0" smtClean="0">
                <a:latin typeface="楷体" pitchFamily="49" charset="-122"/>
                <a:ea typeface="楷体" pitchFamily="49" charset="-122"/>
              </a:rPr>
              <a:t>次，</a:t>
            </a:r>
            <a:r>
              <a:rPr lang="zh-CN" altLang="zh-CN" sz="2800" dirty="0" smtClean="0">
                <a:latin typeface="楷体" pitchFamily="49" charset="-122"/>
                <a:ea typeface="楷体" pitchFamily="49" charset="-122"/>
              </a:rPr>
              <a:t>形成新的字符串。</a:t>
            </a:r>
            <a:endParaRPr lang="zh-CN" altLang="zh-CN" sz="2800" dirty="0">
              <a:latin typeface="楷体" pitchFamily="49" charset="-122"/>
              <a:ea typeface="楷体" pitchFamily="49" charset="-122"/>
            </a:endParaRP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66020" y="3356992"/>
            <a:ext cx="4492625" cy="174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66020" y="5301208"/>
            <a:ext cx="7486650" cy="65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矩形 6"/>
          <p:cNvSpPr/>
          <p:nvPr/>
        </p:nvSpPr>
        <p:spPr>
          <a:xfrm>
            <a:off x="765820" y="3284984"/>
            <a:ext cx="1723549" cy="7155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304800">
              <a:lnSpc>
                <a:spcPct val="150000"/>
              </a:lnSpc>
            </a:pPr>
            <a:r>
              <a:rPr lang="zh-CN" altLang="zh-CN" sz="32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【例】</a:t>
            </a:r>
            <a:endParaRPr lang="zh-CN" altLang="zh-CN" sz="3200" kern="100" dirty="0"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147269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61764" y="836714"/>
            <a:ext cx="11161240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 smtClean="0">
                <a:latin typeface="楷体" pitchFamily="49" charset="-122"/>
                <a:ea typeface="楷体" pitchFamily="49" charset="-122"/>
                <a:cs typeface="Calibri" panose="020F0502020204030204" pitchFamily="34" charset="0"/>
              </a:rPr>
              <a:t>4</a:t>
            </a:r>
            <a:r>
              <a:rPr lang="zh-CN" altLang="en-US" sz="2800" b="1" dirty="0" smtClean="0">
                <a:latin typeface="楷体" pitchFamily="49" charset="-122"/>
                <a:ea typeface="楷体" pitchFamily="49" charset="-122"/>
                <a:cs typeface="Calibri" panose="020F0502020204030204" pitchFamily="34" charset="0"/>
              </a:rPr>
              <a:t>、</a:t>
            </a:r>
            <a:r>
              <a:rPr lang="zh-CN" altLang="zh-CN" sz="2800" b="1" dirty="0" smtClean="0">
                <a:latin typeface="楷体" pitchFamily="49" charset="-122"/>
                <a:ea typeface="楷体" pitchFamily="49" charset="-122"/>
                <a:cs typeface="Calibri" panose="020F0502020204030204" pitchFamily="34" charset="0"/>
              </a:rPr>
              <a:t>字符串</a:t>
            </a:r>
            <a:r>
              <a:rPr lang="zh-CN" altLang="zh-CN" sz="2800" b="1" dirty="0">
                <a:latin typeface="楷体" pitchFamily="49" charset="-122"/>
                <a:ea typeface="楷体" pitchFamily="49" charset="-122"/>
                <a:cs typeface="Calibri" panose="020F0502020204030204" pitchFamily="34" charset="0"/>
              </a:rPr>
              <a:t>索引与分片</a:t>
            </a:r>
            <a:endParaRPr lang="zh-CN" altLang="zh-CN" sz="2800" b="1" dirty="0">
              <a:latin typeface="楷体" pitchFamily="49" charset="-122"/>
              <a:ea typeface="楷体" pitchFamily="49" charset="-122"/>
              <a:cs typeface="宋体" panose="02010600030101010101" pitchFamily="2" charset="-122"/>
            </a:endParaRPr>
          </a:p>
          <a:p>
            <a:pPr indent="304800">
              <a:lnSpc>
                <a:spcPct val="150000"/>
              </a:lnSpc>
            </a:pPr>
            <a:r>
              <a:rPr lang="en-US" altLang="zh-CN" sz="28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string</a:t>
            </a:r>
            <a:r>
              <a:rPr lang="zh-CN" altLang="zh-CN" sz="28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：字符串</a:t>
            </a:r>
            <a:r>
              <a:rPr lang="zh-CN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（</a:t>
            </a:r>
            <a:r>
              <a:rPr lang="zh-CN" altLang="en-US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字符串建立后是不可变的，除非重新输入 </a:t>
            </a:r>
            <a:r>
              <a:rPr lang="zh-CN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。</a:t>
            </a:r>
            <a:endParaRPr lang="en-US" altLang="zh-CN" sz="2800" kern="100" smtClean="0"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  <a:p>
            <a:pPr indent="304800">
              <a:lnSpc>
                <a:spcPct val="150000"/>
              </a:lnSpc>
            </a:pPr>
            <a:r>
              <a:rPr lang="zh-CN" altLang="en-US" sz="2800" kern="10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例</a:t>
            </a:r>
            <a:r>
              <a:rPr lang="zh-CN" altLang="zh-CN" sz="2800" kern="10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如</a:t>
            </a:r>
            <a:r>
              <a:rPr lang="zh-CN" altLang="zh-CN" sz="28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：</a:t>
            </a:r>
          </a:p>
          <a:p>
            <a:pPr indent="685800">
              <a:lnSpc>
                <a:spcPct val="150000"/>
              </a:lnSpc>
            </a:pPr>
            <a:r>
              <a:rPr lang="en-US" altLang="zh-CN" sz="28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&gt;&gt;&gt; </a:t>
            </a:r>
            <a:r>
              <a:rPr lang="en-US" altLang="zh-CN" sz="2800" kern="100" dirty="0" err="1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str</a:t>
            </a:r>
            <a:r>
              <a:rPr lang="en-US" altLang="zh-CN" sz="28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"Hello, my </a:t>
            </a:r>
            <a:r>
              <a:rPr lang="en-US" altLang="zh-CN" sz="28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friend"</a:t>
            </a:r>
            <a:endParaRPr lang="zh-CN" altLang="zh-CN" sz="2800" kern="100" dirty="0"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  <a:p>
            <a:pPr indent="304800">
              <a:lnSpc>
                <a:spcPct val="150000"/>
              </a:lnSpc>
            </a:pPr>
            <a:r>
              <a:rPr lang="zh-CN" altLang="zh-CN" sz="28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字符串是一个整体</a:t>
            </a:r>
            <a:r>
              <a:rPr lang="zh-CN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。</a:t>
            </a:r>
            <a:r>
              <a:rPr lang="zh-CN" altLang="en-US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通过索引和分片操作，</a:t>
            </a:r>
            <a:r>
              <a:rPr lang="zh-CN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能够读出字符串的某一部分</a:t>
            </a:r>
            <a:r>
              <a:rPr lang="zh-CN" altLang="en-US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（子串）。</a:t>
            </a:r>
            <a:endParaRPr lang="zh-CN" altLang="zh-CN" sz="2800" kern="100" dirty="0">
              <a:effectLst/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124756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21807" y="44624"/>
            <a:ext cx="1087320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04800">
              <a:lnSpc>
                <a:spcPct val="150000"/>
              </a:lnSpc>
            </a:pPr>
            <a:r>
              <a:rPr lang="en-US" altLang="zh-CN" sz="2800" b="1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5</a:t>
            </a:r>
            <a:r>
              <a:rPr lang="zh-CN" altLang="en-US" sz="2800" b="1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、</a:t>
            </a:r>
            <a:r>
              <a:rPr lang="zh-CN" altLang="zh-CN" sz="2800" b="1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字符串</a:t>
            </a:r>
            <a:r>
              <a:rPr lang="zh-CN" altLang="zh-CN" sz="2800" b="1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的索引</a:t>
            </a:r>
          </a:p>
          <a:p>
            <a:pPr indent="304800"/>
            <a:r>
              <a:rPr lang="zh-CN" altLang="zh-CN" sz="2800" dirty="0" smtClean="0">
                <a:latin typeface="楷体" pitchFamily="49" charset="-122"/>
                <a:ea typeface="楷体" pitchFamily="49" charset="-122"/>
              </a:rPr>
              <a:t>字符串中字符的编号叫索引。</a:t>
            </a:r>
            <a:r>
              <a:rPr lang="zh-CN" altLang="en-US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根据索引值</a:t>
            </a:r>
            <a:r>
              <a:rPr lang="zh-CN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，</a:t>
            </a:r>
            <a:r>
              <a:rPr lang="zh-CN" altLang="zh-CN" sz="28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可输出任意一个字符</a:t>
            </a:r>
            <a:r>
              <a:rPr lang="zh-CN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。</a:t>
            </a:r>
            <a:endParaRPr lang="en-US" altLang="zh-CN" sz="2800" kern="100" dirty="0" smtClean="0"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  <a:p>
            <a:pPr indent="304800"/>
            <a:r>
              <a:rPr lang="zh-CN" altLang="zh-CN" sz="2800" dirty="0" smtClean="0">
                <a:latin typeface="楷体" pitchFamily="49" charset="-122"/>
                <a:ea typeface="楷体" pitchFamily="49" charset="-122"/>
              </a:rPr>
              <a:t>单个字符访问方式：</a:t>
            </a:r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 </a:t>
            </a:r>
            <a:r>
              <a:rPr lang="zh-CN" altLang="zh-CN" sz="2800" dirty="0" smtClean="0">
                <a:latin typeface="楷体" pitchFamily="49" charset="-122"/>
                <a:ea typeface="楷体" pitchFamily="49" charset="-122"/>
              </a:rPr>
              <a:t>字符串变量名</a:t>
            </a:r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[ &lt; </a:t>
            </a:r>
            <a:r>
              <a:rPr lang="zh-CN" altLang="zh-CN" sz="2800" dirty="0" smtClean="0">
                <a:latin typeface="楷体" pitchFamily="49" charset="-122"/>
                <a:ea typeface="楷体" pitchFamily="49" charset="-122"/>
              </a:rPr>
              <a:t>索引值</a:t>
            </a:r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 &gt; ] </a:t>
            </a:r>
            <a:endParaRPr lang="en-US" altLang="zh-CN" sz="2800" kern="100" dirty="0" smtClean="0"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  <a:p>
            <a:pPr indent="304800"/>
            <a:r>
              <a:rPr lang="en-US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Python</a:t>
            </a:r>
            <a:r>
              <a:rPr lang="zh-CN" altLang="zh-CN" sz="28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中的字符串有两种索引</a:t>
            </a:r>
            <a:r>
              <a:rPr lang="zh-CN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方式</a:t>
            </a:r>
            <a:r>
              <a:rPr lang="zh-CN" altLang="en-US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：</a:t>
            </a:r>
            <a:r>
              <a:rPr lang="zh-CN" altLang="en-US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  <a:sym typeface="Wingdings" pitchFamily="2" charset="2"/>
              </a:rPr>
              <a:t>（</a:t>
            </a:r>
            <a:r>
              <a:rPr lang="zh-CN" altLang="zh-CN" sz="2800" dirty="0" smtClean="0">
                <a:latin typeface="楷体" pitchFamily="49" charset="-122"/>
                <a:ea typeface="楷体" pitchFamily="49" charset="-122"/>
              </a:rPr>
              <a:t>设串长为</a:t>
            </a:r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L</a:t>
            </a:r>
            <a:r>
              <a:rPr lang="zh-CN" altLang="en-US" sz="2800" dirty="0" smtClean="0">
                <a:latin typeface="楷体" pitchFamily="49" charset="-122"/>
                <a:ea typeface="楷体" pitchFamily="49" charset="-122"/>
              </a:rPr>
              <a:t>，即：</a:t>
            </a:r>
            <a:r>
              <a:rPr lang="en-US" altLang="zh-CN" sz="2800" dirty="0" err="1" smtClean="0">
                <a:latin typeface="楷体" pitchFamily="49" charset="-122"/>
                <a:ea typeface="楷体" pitchFamily="49" charset="-122"/>
              </a:rPr>
              <a:t>len</a:t>
            </a:r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()</a:t>
            </a:r>
            <a:r>
              <a:rPr lang="zh-CN" altLang="en-US" sz="2800" dirty="0" smtClean="0">
                <a:latin typeface="楷体" pitchFamily="49" charset="-122"/>
                <a:ea typeface="楷体" pitchFamily="49" charset="-122"/>
              </a:rPr>
              <a:t>）</a:t>
            </a:r>
            <a:endParaRPr lang="en-US" altLang="zh-CN" sz="2800" kern="100" dirty="0" smtClean="0"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89756" y="2132856"/>
            <a:ext cx="1159328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     </a:t>
            </a:r>
            <a:r>
              <a:rPr lang="zh-CN" altLang="zh-CN" sz="2800" b="1" dirty="0" smtClean="0">
                <a:solidFill>
                  <a:srgbClr val="0070C0"/>
                </a:solidFill>
                <a:latin typeface="楷体" pitchFamily="49" charset="-122"/>
                <a:ea typeface="楷体" pitchFamily="49" charset="-122"/>
              </a:rPr>
              <a:t>正向索引</a:t>
            </a:r>
            <a:r>
              <a:rPr lang="zh-CN" altLang="zh-CN" sz="2800" dirty="0" smtClean="0">
                <a:latin typeface="楷体" pitchFamily="49" charset="-122"/>
                <a:ea typeface="楷体" pitchFamily="49" charset="-122"/>
              </a:rPr>
              <a:t>：</a:t>
            </a:r>
            <a:r>
              <a:rPr lang="zh-CN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从左往右，从</a:t>
            </a:r>
            <a:r>
              <a:rPr lang="en-US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0</a:t>
            </a:r>
            <a:r>
              <a:rPr lang="zh-CN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开始依次增加</a:t>
            </a:r>
            <a:r>
              <a:rPr lang="zh-CN" altLang="en-US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。</a:t>
            </a:r>
            <a:endParaRPr lang="en-US" altLang="zh-CN" sz="2800" kern="100" dirty="0" smtClean="0"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  <a:p>
            <a:r>
              <a:rPr lang="en-US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               </a:t>
            </a:r>
            <a:r>
              <a:rPr lang="zh-CN" altLang="zh-CN" sz="2800" dirty="0" smtClean="0">
                <a:latin typeface="楷体" pitchFamily="49" charset="-122"/>
                <a:ea typeface="楷体" pitchFamily="49" charset="-122"/>
              </a:rPr>
              <a:t>最左端字符位置标记为</a:t>
            </a:r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0</a:t>
            </a:r>
            <a:r>
              <a:rPr lang="zh-CN" altLang="zh-CN" sz="2800" dirty="0" smtClean="0">
                <a:latin typeface="楷体" pitchFamily="49" charset="-122"/>
                <a:ea typeface="楷体" pitchFamily="49" charset="-122"/>
              </a:rPr>
              <a:t>，最右端位置字符标识为</a:t>
            </a:r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L-1</a:t>
            </a:r>
            <a:r>
              <a:rPr lang="zh-CN" altLang="zh-CN" sz="2800" dirty="0" smtClean="0">
                <a:latin typeface="楷体" pitchFamily="49" charset="-122"/>
                <a:ea typeface="楷体" pitchFamily="49" charset="-122"/>
              </a:rPr>
              <a:t>。</a:t>
            </a:r>
          </a:p>
          <a:p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     </a:t>
            </a:r>
            <a:r>
              <a:rPr lang="zh-CN" altLang="zh-CN" sz="2800" b="1" dirty="0" smtClean="0">
                <a:solidFill>
                  <a:srgbClr val="0070C0"/>
                </a:solidFill>
                <a:latin typeface="楷体" pitchFamily="49" charset="-122"/>
                <a:ea typeface="楷体" pitchFamily="49" charset="-122"/>
              </a:rPr>
              <a:t>反向索引</a:t>
            </a:r>
            <a:r>
              <a:rPr lang="zh-CN" altLang="zh-CN" sz="2800" dirty="0" smtClean="0">
                <a:latin typeface="楷体" pitchFamily="49" charset="-122"/>
                <a:ea typeface="楷体" pitchFamily="49" charset="-122"/>
              </a:rPr>
              <a:t>：</a:t>
            </a:r>
            <a:r>
              <a:rPr lang="zh-CN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从右往左，从</a:t>
            </a:r>
            <a:r>
              <a:rPr lang="en-US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-1</a:t>
            </a:r>
            <a:r>
              <a:rPr lang="zh-CN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开始依次减少</a:t>
            </a:r>
            <a:r>
              <a:rPr lang="zh-CN" altLang="en-US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。</a:t>
            </a:r>
            <a:endParaRPr lang="en-US" altLang="zh-CN" sz="2800" kern="100" dirty="0" smtClean="0"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  <a:p>
            <a:r>
              <a:rPr lang="en-US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               </a:t>
            </a:r>
            <a:r>
              <a:rPr lang="zh-CN" altLang="zh-CN" sz="2800" dirty="0" smtClean="0">
                <a:latin typeface="楷体" pitchFamily="49" charset="-122"/>
                <a:ea typeface="楷体" pitchFamily="49" charset="-122"/>
              </a:rPr>
              <a:t>最左端字符位置标记为</a:t>
            </a:r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-L</a:t>
            </a:r>
            <a:r>
              <a:rPr lang="zh-CN" altLang="zh-CN" sz="2800" dirty="0" smtClean="0">
                <a:latin typeface="楷体" pitchFamily="49" charset="-122"/>
                <a:ea typeface="楷体" pitchFamily="49" charset="-122"/>
              </a:rPr>
              <a:t>，最右端位置字符标识为</a:t>
            </a:r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-1</a:t>
            </a:r>
            <a:r>
              <a:rPr lang="zh-CN" altLang="zh-CN" sz="2800" dirty="0" smtClean="0">
                <a:latin typeface="楷体" pitchFamily="49" charset="-122"/>
                <a:ea typeface="楷体" pitchFamily="49" charset="-122"/>
              </a:rPr>
              <a:t>。</a:t>
            </a:r>
          </a:p>
          <a:p>
            <a:r>
              <a:rPr lang="zh-CN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【例】</a:t>
            </a:r>
            <a:r>
              <a:rPr lang="zh-CN" altLang="zh-CN" sz="2800" dirty="0" smtClean="0">
                <a:latin typeface="楷体" pitchFamily="49" charset="-122"/>
                <a:ea typeface="楷体" pitchFamily="49" charset="-122"/>
              </a:rPr>
              <a:t>字符串</a:t>
            </a:r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“Hello John” </a:t>
            </a:r>
            <a:r>
              <a:rPr lang="zh-CN" altLang="zh-CN" sz="2800" dirty="0" smtClean="0">
                <a:latin typeface="楷体" pitchFamily="49" charset="-122"/>
                <a:ea typeface="楷体" pitchFamily="49" charset="-122"/>
              </a:rPr>
              <a:t>的索引</a:t>
            </a:r>
            <a:r>
              <a:rPr lang="zh-CN" altLang="en-US" sz="2800" dirty="0" smtClean="0">
                <a:latin typeface="楷体" pitchFamily="49" charset="-122"/>
                <a:ea typeface="楷体" pitchFamily="49" charset="-122"/>
              </a:rPr>
              <a:t>操作</a:t>
            </a:r>
            <a:r>
              <a:rPr lang="zh-CN" altLang="zh-CN" sz="2800" dirty="0" smtClean="0">
                <a:latin typeface="楷体" pitchFamily="49" charset="-122"/>
                <a:ea typeface="楷体" pitchFamily="49" charset="-122"/>
              </a:rPr>
              <a:t>。</a:t>
            </a:r>
            <a:endParaRPr lang="en-US" altLang="zh-CN" sz="2800" dirty="0" smtClean="0">
              <a:latin typeface="楷体" pitchFamily="49" charset="-122"/>
              <a:ea typeface="楷体" pitchFamily="49" charset="-122"/>
            </a:endParaRPr>
          </a:p>
          <a:p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      </a:t>
            </a:r>
            <a:r>
              <a:rPr lang="zh-CN" altLang="en-US" sz="2800" dirty="0" smtClean="0">
                <a:latin typeface="楷体" pitchFamily="49" charset="-122"/>
                <a:ea typeface="楷体" pitchFamily="49" charset="-122"/>
              </a:rPr>
              <a:t>其</a:t>
            </a:r>
            <a:r>
              <a:rPr lang="zh-CN" altLang="zh-CN" sz="2800" dirty="0" smtClean="0">
                <a:latin typeface="楷体" pitchFamily="49" charset="-122"/>
                <a:ea typeface="楷体" pitchFamily="49" charset="-122"/>
              </a:rPr>
              <a:t>串长为</a:t>
            </a:r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10</a:t>
            </a:r>
            <a:r>
              <a:rPr lang="zh-CN" altLang="zh-CN" sz="2800" dirty="0" smtClean="0">
                <a:latin typeface="楷体" pitchFamily="49" charset="-122"/>
                <a:ea typeface="楷体" pitchFamily="49" charset="-122"/>
              </a:rPr>
              <a:t>。</a:t>
            </a:r>
            <a:endParaRPr lang="zh-CN" altLang="zh-CN" sz="2800" dirty="0">
              <a:latin typeface="楷体" pitchFamily="49" charset="-122"/>
              <a:ea typeface="楷体" pitchFamily="49" charset="-122"/>
            </a:endParaRPr>
          </a:p>
        </p:txBody>
      </p:sp>
      <p:pic>
        <p:nvPicPr>
          <p:cNvPr id="4" name="图片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29916" y="4797152"/>
            <a:ext cx="5878388" cy="1872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4625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78588" y="3993486"/>
            <a:ext cx="3184436" cy="28645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3234218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61764" y="548680"/>
            <a:ext cx="11593288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04800">
              <a:lnSpc>
                <a:spcPct val="150000"/>
              </a:lnSpc>
            </a:pPr>
            <a:r>
              <a:rPr lang="en-US" altLang="zh-CN" sz="2800" b="1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6</a:t>
            </a:r>
            <a:r>
              <a:rPr lang="zh-CN" altLang="en-US" sz="2800" b="1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、</a:t>
            </a:r>
            <a:r>
              <a:rPr lang="zh-CN" altLang="zh-CN" sz="2800" b="1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字符串</a:t>
            </a:r>
            <a:r>
              <a:rPr lang="zh-CN" altLang="zh-CN" sz="2800" b="1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的分片</a:t>
            </a:r>
          </a:p>
          <a:p>
            <a:pPr indent="304800">
              <a:lnSpc>
                <a:spcPct val="150000"/>
              </a:lnSpc>
            </a:pPr>
            <a:r>
              <a:rPr lang="zh-CN" altLang="zh-CN" sz="28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分片就是从给定的字符串中分离出部分内容</a:t>
            </a:r>
            <a:r>
              <a:rPr lang="zh-CN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。</a:t>
            </a:r>
            <a:endParaRPr lang="en-US" altLang="zh-CN" sz="2800" kern="100" dirty="0" smtClean="0"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  <a:p>
            <a:pPr indent="304800">
              <a:lnSpc>
                <a:spcPct val="150000"/>
              </a:lnSpc>
            </a:pPr>
            <a:r>
              <a:rPr lang="zh-CN" altLang="en-US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多个字符访问方式：字符串变量名</a:t>
            </a:r>
            <a:r>
              <a:rPr lang="en-US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[ &lt; </a:t>
            </a:r>
            <a:r>
              <a:rPr lang="zh-CN" altLang="en-US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索引初值 </a:t>
            </a:r>
            <a:r>
              <a:rPr lang="en-US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&gt; </a:t>
            </a:r>
            <a:r>
              <a:rPr lang="zh-CN" altLang="en-US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&lt; </a:t>
            </a:r>
            <a:r>
              <a:rPr lang="zh-CN" altLang="en-US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索引终值 </a:t>
            </a:r>
            <a:r>
              <a:rPr lang="en-US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&gt; ] </a:t>
            </a:r>
            <a:r>
              <a:rPr lang="zh-CN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用</a:t>
            </a:r>
            <a:r>
              <a:rPr lang="zh-CN" altLang="zh-CN" sz="28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冒号分隔两个索引</a:t>
            </a:r>
            <a:r>
              <a:rPr lang="zh-CN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，截取</a:t>
            </a:r>
            <a:r>
              <a:rPr lang="zh-CN" altLang="zh-CN" sz="28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的范围</a:t>
            </a:r>
            <a:r>
              <a:rPr lang="zh-CN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是</a:t>
            </a:r>
            <a:r>
              <a:rPr lang="zh-CN" altLang="en-US" sz="2800" b="1" kern="100" dirty="0" smtClean="0">
                <a:solidFill>
                  <a:srgbClr val="FF0000"/>
                </a:solidFill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左</a:t>
            </a:r>
            <a:r>
              <a:rPr lang="zh-CN" altLang="zh-CN" sz="2800" b="1" kern="100" dirty="0" smtClean="0">
                <a:solidFill>
                  <a:srgbClr val="FF0000"/>
                </a:solidFill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闭</a:t>
            </a:r>
            <a:r>
              <a:rPr lang="zh-CN" altLang="en-US" sz="2800" b="1" kern="100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右</a:t>
            </a:r>
            <a:r>
              <a:rPr lang="zh-CN" altLang="zh-CN" sz="2800" b="1" kern="100" dirty="0" smtClean="0">
                <a:solidFill>
                  <a:srgbClr val="FF0000"/>
                </a:solidFill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开</a:t>
            </a:r>
            <a:r>
              <a:rPr lang="zh-CN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，</a:t>
            </a:r>
            <a:r>
              <a:rPr lang="zh-CN" altLang="en-US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不包括索引终值对应的字符。</a:t>
            </a:r>
            <a:r>
              <a:rPr lang="zh-CN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并且两</a:t>
            </a:r>
            <a:r>
              <a:rPr lang="zh-CN" altLang="zh-CN" sz="28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个</a:t>
            </a:r>
            <a:r>
              <a:rPr lang="zh-CN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索引</a:t>
            </a:r>
            <a:r>
              <a:rPr lang="zh-CN" altLang="en-US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值</a:t>
            </a:r>
            <a:r>
              <a:rPr lang="zh-CN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都</a:t>
            </a:r>
            <a:r>
              <a:rPr lang="zh-CN" altLang="zh-CN" sz="28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可以省略</a:t>
            </a:r>
            <a:r>
              <a:rPr lang="zh-CN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。</a:t>
            </a:r>
            <a:endParaRPr lang="zh-CN" altLang="zh-CN" sz="2800" kern="100" dirty="0"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53601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14492" y="3356992"/>
            <a:ext cx="4608512" cy="33246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矩形 3"/>
          <p:cNvSpPr/>
          <p:nvPr/>
        </p:nvSpPr>
        <p:spPr>
          <a:xfrm>
            <a:off x="5086300" y="3645024"/>
            <a:ext cx="1497652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04800">
              <a:lnSpc>
                <a:spcPct val="150000"/>
              </a:lnSpc>
            </a:pPr>
            <a:r>
              <a:rPr lang="zh-CN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【例】</a:t>
            </a:r>
            <a:endParaRPr lang="zh-CN" altLang="zh-CN" sz="2800" kern="100" dirty="0"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610236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33772" y="548680"/>
            <a:ext cx="1166529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04800">
              <a:lnSpc>
                <a:spcPct val="150000"/>
              </a:lnSpc>
            </a:pPr>
            <a:r>
              <a:rPr lang="en-US" altLang="zh-CN" sz="2800" b="1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7</a:t>
            </a:r>
            <a:r>
              <a:rPr lang="zh-CN" altLang="en-US" sz="2800" b="1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、</a:t>
            </a:r>
            <a:r>
              <a:rPr lang="zh-CN" altLang="zh-CN" sz="2800" b="1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分片</a:t>
            </a:r>
            <a:r>
              <a:rPr lang="zh-CN" altLang="zh-CN" sz="2800" b="1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的扩展</a:t>
            </a:r>
            <a:r>
              <a:rPr lang="zh-CN" altLang="zh-CN" sz="2800" b="1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形式</a:t>
            </a:r>
            <a:r>
              <a:rPr lang="en-US" altLang="zh-CN" sz="2800" b="1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   </a:t>
            </a:r>
            <a:r>
              <a:rPr lang="en-US" altLang="zh-CN" sz="2800" kern="100" dirty="0" err="1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str</a:t>
            </a:r>
            <a:r>
              <a:rPr lang="en-US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[I</a:t>
            </a:r>
            <a:r>
              <a:rPr lang="zh-CN" altLang="en-US" sz="28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8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J</a:t>
            </a:r>
            <a:r>
              <a:rPr lang="zh-CN" altLang="en-US" sz="28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8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K]  </a:t>
            </a:r>
            <a:endParaRPr lang="en-US" altLang="zh-CN" sz="2800" kern="100" dirty="0" smtClean="0"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  <a:p>
            <a:pPr indent="304800">
              <a:lnSpc>
                <a:spcPct val="150000"/>
              </a:lnSpc>
            </a:pPr>
            <a:r>
              <a:rPr lang="en-US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K</a:t>
            </a:r>
            <a:r>
              <a:rPr lang="zh-CN" altLang="en-US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为正数：</a:t>
            </a:r>
            <a:r>
              <a:rPr lang="zh-CN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从</a:t>
            </a:r>
            <a:r>
              <a:rPr lang="en-US" altLang="zh-CN" sz="28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I</a:t>
            </a:r>
            <a:r>
              <a:rPr lang="zh-CN" altLang="zh-CN" sz="28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到</a:t>
            </a:r>
            <a:r>
              <a:rPr lang="en-US" altLang="zh-CN" sz="28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J-1</a:t>
            </a:r>
            <a:r>
              <a:rPr lang="zh-CN" altLang="zh-CN" sz="28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，每隔</a:t>
            </a:r>
            <a:r>
              <a:rPr lang="en-US" altLang="zh-CN" sz="28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K</a:t>
            </a:r>
            <a:r>
              <a:rPr lang="zh-CN" altLang="zh-CN" sz="28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个元素索引一次</a:t>
            </a:r>
            <a:r>
              <a:rPr lang="zh-CN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，</a:t>
            </a:r>
            <a:r>
              <a:rPr lang="zh-CN" altLang="en-US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从左向右索引；</a:t>
            </a:r>
            <a:endParaRPr lang="en-US" altLang="zh-CN" sz="2800" kern="100" dirty="0" smtClean="0"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  <a:p>
            <a:pPr indent="304800">
              <a:lnSpc>
                <a:spcPct val="150000"/>
              </a:lnSpc>
            </a:pPr>
            <a:r>
              <a:rPr lang="en-US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K</a:t>
            </a:r>
            <a:r>
              <a:rPr lang="zh-CN" altLang="zh-CN" sz="28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为</a:t>
            </a:r>
            <a:r>
              <a:rPr lang="zh-CN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负数</a:t>
            </a:r>
            <a:r>
              <a:rPr lang="zh-CN" altLang="en-US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：</a:t>
            </a:r>
            <a:r>
              <a:rPr lang="zh-CN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从</a:t>
            </a:r>
            <a:r>
              <a:rPr lang="en-US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J</a:t>
            </a:r>
            <a:r>
              <a:rPr lang="zh-CN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往</a:t>
            </a:r>
            <a:r>
              <a:rPr lang="en-US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I+1</a:t>
            </a:r>
            <a:r>
              <a:rPr lang="zh-CN" altLang="en-US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，</a:t>
            </a:r>
            <a:r>
              <a:rPr lang="zh-CN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每隔</a:t>
            </a:r>
            <a:r>
              <a:rPr lang="en-US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K</a:t>
            </a:r>
            <a:r>
              <a:rPr lang="zh-CN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个元素索引一次，</a:t>
            </a:r>
            <a:r>
              <a:rPr lang="zh-CN" altLang="en-US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从右向</a:t>
            </a:r>
            <a:r>
              <a:rPr lang="zh-CN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左</a:t>
            </a:r>
            <a:r>
              <a:rPr lang="zh-CN" altLang="zh-CN" sz="28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索引</a:t>
            </a:r>
            <a:r>
              <a:rPr lang="zh-CN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。</a:t>
            </a:r>
            <a:endParaRPr lang="zh-CN" altLang="zh-CN" sz="2800" kern="100" dirty="0"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525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02124" y="2624864"/>
            <a:ext cx="5400600" cy="4233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矩形 3"/>
          <p:cNvSpPr/>
          <p:nvPr/>
        </p:nvSpPr>
        <p:spPr>
          <a:xfrm>
            <a:off x="1341884" y="2564904"/>
            <a:ext cx="1497652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04800">
              <a:lnSpc>
                <a:spcPct val="150000"/>
              </a:lnSpc>
            </a:pPr>
            <a:r>
              <a:rPr lang="zh-CN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【例】</a:t>
            </a:r>
            <a:endParaRPr lang="zh-CN" altLang="zh-CN" sz="2800" kern="100" dirty="0"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82713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77788" y="391884"/>
            <a:ext cx="9145013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04800">
              <a:lnSpc>
                <a:spcPct val="150000"/>
              </a:lnSpc>
            </a:pPr>
            <a:r>
              <a:rPr lang="en-US" altLang="zh-CN" sz="2800" b="1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8</a:t>
            </a:r>
            <a:r>
              <a:rPr lang="zh-CN" altLang="en-US" sz="2800" b="1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、</a:t>
            </a:r>
            <a:r>
              <a:rPr lang="zh-CN" altLang="zh-CN" sz="2800" b="1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字符串</a:t>
            </a:r>
            <a:r>
              <a:rPr lang="zh-CN" altLang="zh-CN" sz="2800" b="1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包含判断操作符：</a:t>
            </a:r>
            <a:r>
              <a:rPr lang="en-US" altLang="zh-CN" sz="2800" b="1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in</a:t>
            </a:r>
            <a:r>
              <a:rPr lang="zh-CN" altLang="zh-CN" sz="2800" b="1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800" b="1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not  </a:t>
            </a:r>
            <a:r>
              <a:rPr lang="en-US" altLang="zh-CN" sz="2800" b="1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in</a:t>
            </a:r>
            <a:endParaRPr lang="zh-CN" altLang="zh-CN" sz="2800" b="1" kern="100" dirty="0"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  <a:p>
            <a:pPr marL="628650" indent="452438"/>
            <a:r>
              <a:rPr lang="en-US" altLang="zh-CN" sz="2000" kern="0" dirty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&gt;&gt;&gt; </a:t>
            </a:r>
            <a:r>
              <a:rPr lang="en-US" altLang="zh-CN" sz="2000" kern="0" dirty="0" err="1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str</a:t>
            </a:r>
            <a:r>
              <a:rPr lang="en-US" altLang="zh-CN" sz="2000" kern="0" dirty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 = "Hello My friend"</a:t>
            </a:r>
            <a:endParaRPr lang="zh-CN" altLang="zh-CN" sz="2000" kern="100" dirty="0"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  <a:p>
            <a:pPr marL="628650" indent="452438"/>
            <a:r>
              <a:rPr lang="en-US" altLang="zh-CN" sz="2000" kern="0" dirty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&gt;&gt;&gt; "He" </a:t>
            </a:r>
            <a:r>
              <a:rPr lang="en-US" altLang="zh-CN" sz="2000" kern="0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in</a:t>
            </a:r>
            <a:r>
              <a:rPr lang="en-US" altLang="zh-CN" sz="2000" kern="0" dirty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 </a:t>
            </a:r>
            <a:r>
              <a:rPr lang="en-US" altLang="zh-CN" sz="2000" kern="0" dirty="0" err="1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str</a:t>
            </a:r>
            <a:endParaRPr lang="zh-CN" altLang="zh-CN" sz="2000" kern="100" dirty="0"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  <a:p>
            <a:pPr marL="628650" indent="452438"/>
            <a:r>
              <a:rPr lang="en-US" altLang="zh-CN" sz="2000" kern="0" dirty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True</a:t>
            </a:r>
            <a:endParaRPr lang="zh-CN" altLang="zh-CN" sz="2000" kern="100" dirty="0"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  <a:p>
            <a:pPr marL="628650" indent="452438"/>
            <a:r>
              <a:rPr lang="en-US" altLang="zh-CN" sz="2000" kern="0" dirty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&gt;&gt;&gt; "she" </a:t>
            </a:r>
            <a:r>
              <a:rPr lang="en-US" altLang="zh-CN" sz="2000" kern="0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not in </a:t>
            </a:r>
            <a:r>
              <a:rPr lang="en-US" altLang="zh-CN" sz="2000" kern="0" dirty="0" err="1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str</a:t>
            </a:r>
            <a:endParaRPr lang="zh-CN" altLang="zh-CN" sz="2000" kern="100" dirty="0"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  <a:p>
            <a:pPr marL="628650" indent="452438"/>
            <a:r>
              <a:rPr lang="en-US" altLang="zh-CN" sz="2000" kern="0" dirty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True</a:t>
            </a:r>
            <a:endParaRPr lang="zh-CN" altLang="zh-CN" sz="2000" kern="100" dirty="0"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  <a:p>
            <a:pPr marL="628650" indent="452438"/>
            <a:r>
              <a:rPr lang="en-US" altLang="zh-CN" sz="2000" kern="0" dirty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&gt;&gt;&gt; </a:t>
            </a:r>
            <a:r>
              <a:rPr lang="en-US" altLang="zh-CN" sz="2000" kern="0" dirty="0" err="1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str.find</a:t>
            </a:r>
            <a:r>
              <a:rPr lang="en-US" altLang="zh-CN" sz="2000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(‘o’)  </a:t>
            </a:r>
            <a:r>
              <a:rPr lang="en-US" altLang="zh-CN" sz="2000" kern="0" dirty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#</a:t>
            </a:r>
            <a:r>
              <a:rPr lang="zh-CN" altLang="zh-CN" sz="2000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字符串查找方法</a:t>
            </a:r>
            <a:r>
              <a:rPr lang="en-US" altLang="zh-CN" sz="2000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find</a:t>
            </a:r>
            <a:endParaRPr lang="zh-CN" altLang="zh-CN" sz="2000" kern="100" dirty="0"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  <a:p>
            <a:pPr marL="628650" indent="452438"/>
            <a:r>
              <a:rPr lang="en-US" altLang="zh-CN" sz="2000" kern="0" dirty="0" smtClean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4</a:t>
            </a:r>
            <a:r>
              <a:rPr lang="en-US" altLang="zh-CN" sz="2000" kern="0" dirty="0">
                <a:solidFill>
                  <a:srgbClr val="3E3E3E"/>
                </a:solidFill>
                <a:latin typeface="楷体" pitchFamily="49" charset="-122"/>
                <a:ea typeface="楷体" pitchFamily="49" charset="-122"/>
                <a:cs typeface="Helvetica" panose="020B0604020202020204" pitchFamily="34" charset="0"/>
              </a:rPr>
              <a:t> </a:t>
            </a:r>
            <a:endParaRPr lang="zh-CN" altLang="zh-CN" sz="2000" kern="100" dirty="0">
              <a:effectLst/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77788" y="3212976"/>
            <a:ext cx="1058517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 smtClean="0">
                <a:latin typeface="楷体" pitchFamily="49" charset="-122"/>
                <a:ea typeface="楷体" pitchFamily="49" charset="-122"/>
              </a:rPr>
              <a:t> 实现</a:t>
            </a:r>
            <a:r>
              <a:rPr lang="zh-CN" altLang="zh-CN" sz="2400" dirty="0" smtClean="0">
                <a:latin typeface="楷体" pitchFamily="49" charset="-122"/>
                <a:ea typeface="楷体" pitchFamily="49" charset="-122"/>
              </a:rPr>
              <a:t>字符串的遍历（这种方法也适合后面</a:t>
            </a:r>
            <a:r>
              <a:rPr lang="zh-CN" altLang="en-US" sz="2400" dirty="0" smtClean="0">
                <a:latin typeface="楷体" pitchFamily="49" charset="-122"/>
                <a:ea typeface="楷体" pitchFamily="49" charset="-122"/>
              </a:rPr>
              <a:t>要</a:t>
            </a:r>
            <a:r>
              <a:rPr lang="zh-CN" altLang="zh-CN" sz="2400" dirty="0" smtClean="0">
                <a:latin typeface="楷体" pitchFamily="49" charset="-122"/>
                <a:ea typeface="楷体" pitchFamily="49" charset="-122"/>
              </a:rPr>
              <a:t>学的列表、元组的遍历）</a:t>
            </a:r>
          </a:p>
          <a:p>
            <a:r>
              <a:rPr lang="en-US" altLang="zh-CN" sz="2400" dirty="0" smtClean="0">
                <a:latin typeface="楷体" pitchFamily="49" charset="-122"/>
                <a:ea typeface="楷体" pitchFamily="49" charset="-122"/>
              </a:rPr>
              <a:t>    for  &lt;</a:t>
            </a:r>
            <a:r>
              <a:rPr lang="zh-CN" altLang="zh-CN" sz="2400" dirty="0" smtClean="0">
                <a:latin typeface="楷体" pitchFamily="49" charset="-122"/>
                <a:ea typeface="楷体" pitchFamily="49" charset="-122"/>
              </a:rPr>
              <a:t>变量名</a:t>
            </a:r>
            <a:r>
              <a:rPr lang="en-US" altLang="zh-CN" sz="2400" dirty="0" smtClean="0">
                <a:latin typeface="楷体" pitchFamily="49" charset="-122"/>
                <a:ea typeface="楷体" pitchFamily="49" charset="-122"/>
              </a:rPr>
              <a:t>&gt; in  &lt;</a:t>
            </a:r>
            <a:r>
              <a:rPr lang="zh-CN" altLang="zh-CN" sz="2400" dirty="0" smtClean="0">
                <a:latin typeface="楷体" pitchFamily="49" charset="-122"/>
                <a:ea typeface="楷体" pitchFamily="49" charset="-122"/>
              </a:rPr>
              <a:t>字符串变量名</a:t>
            </a:r>
            <a:r>
              <a:rPr lang="en-US" altLang="zh-CN" sz="2400" dirty="0" smtClean="0">
                <a:latin typeface="楷体" pitchFamily="49" charset="-122"/>
                <a:ea typeface="楷体" pitchFamily="49" charset="-122"/>
              </a:rPr>
              <a:t>&gt;:</a:t>
            </a:r>
            <a:endParaRPr lang="zh-CN" altLang="zh-CN" sz="2400" dirty="0">
              <a:latin typeface="楷体" pitchFamily="49" charset="-122"/>
              <a:ea typeface="楷体" pitchFamily="49" charset="-122"/>
            </a:endParaRPr>
          </a:p>
        </p:txBody>
      </p:sp>
      <p:pic>
        <p:nvPicPr>
          <p:cNvPr id="151553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05980" y="4062838"/>
            <a:ext cx="6840760" cy="27442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矩形 4"/>
          <p:cNvSpPr/>
          <p:nvPr/>
        </p:nvSpPr>
        <p:spPr>
          <a:xfrm>
            <a:off x="333772" y="4005064"/>
            <a:ext cx="1497652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04800">
              <a:lnSpc>
                <a:spcPct val="150000"/>
              </a:lnSpc>
            </a:pPr>
            <a:r>
              <a:rPr lang="zh-CN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【例】</a:t>
            </a:r>
            <a:endParaRPr lang="zh-CN" altLang="zh-CN" sz="2800" kern="100" dirty="0"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908720"/>
            <a:ext cx="1497652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04800">
              <a:lnSpc>
                <a:spcPct val="150000"/>
              </a:lnSpc>
            </a:pPr>
            <a:r>
              <a:rPr lang="zh-CN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【例】</a:t>
            </a:r>
            <a:endParaRPr lang="zh-CN" altLang="zh-CN" sz="2800" kern="100" dirty="0"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133227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5" name="Rectangle 5"/>
          <p:cNvSpPr>
            <a:spLocks noChangeArrowheads="1"/>
          </p:cNvSpPr>
          <p:nvPr/>
        </p:nvSpPr>
        <p:spPr bwMode="auto">
          <a:xfrm>
            <a:off x="693812" y="764704"/>
            <a:ext cx="4392488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" pitchFamily="49" charset="-122"/>
                <a:ea typeface="楷体" pitchFamily="49" charset="-122"/>
                <a:cs typeface="Times New Roman" pitchFamily="18" charset="0"/>
              </a:rPr>
              <a:t>9</a:t>
            </a:r>
            <a:r>
              <a:rPr kumimoji="0" lang="zh-CN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" pitchFamily="49" charset="-122"/>
                <a:ea typeface="楷体" pitchFamily="49" charset="-122"/>
                <a:cs typeface="Times New Roman" pitchFamily="18" charset="0"/>
              </a:rPr>
              <a:t>、字符串的操作</a:t>
            </a:r>
            <a:endParaRPr kumimoji="0" lang="zh-CN" altLang="en-US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楷体" pitchFamily="49" charset="-122"/>
              <a:ea typeface="楷体" pitchFamily="49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楷体" pitchFamily="49" charset="-122"/>
              <a:ea typeface="楷体" pitchFamily="49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楷体" pitchFamily="49" charset="-122"/>
              <a:ea typeface="楷体" pitchFamily="49" charset="-122"/>
              <a:cs typeface="宋体" pitchFamily="2" charset="-122"/>
            </a:endParaRPr>
          </a:p>
        </p:txBody>
      </p:sp>
      <p:pic>
        <p:nvPicPr>
          <p:cNvPr id="168964" name="图片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09836" y="1944216"/>
            <a:ext cx="9673373" cy="4581128"/>
          </a:xfrm>
          <a:prstGeom prst="rect">
            <a:avLst/>
          </a:prstGeom>
          <a:noFill/>
        </p:spPr>
      </p:pic>
      <p:sp>
        <p:nvSpPr>
          <p:cNvPr id="168966" name="Rectangle 6"/>
          <p:cNvSpPr>
            <a:spLocks noChangeArrowheads="1"/>
          </p:cNvSpPr>
          <p:nvPr/>
        </p:nvSpPr>
        <p:spPr bwMode="auto">
          <a:xfrm>
            <a:off x="1917948" y="1268760"/>
            <a:ext cx="55707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" pitchFamily="49" charset="-122"/>
                <a:ea typeface="楷体" pitchFamily="49" charset="-122"/>
                <a:cs typeface="Times New Roman" pitchFamily="18" charset="0"/>
              </a:rPr>
              <a:t>格式：</a:t>
            </a:r>
            <a:r>
              <a:rPr kumimoji="0" lang="en-US" altLang="zh-CN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" pitchFamily="49" charset="-122"/>
                <a:ea typeface="楷体" pitchFamily="49" charset="-122"/>
                <a:cs typeface="Times New Roman" pitchFamily="18" charset="0"/>
              </a:rPr>
              <a:t>&lt;</a:t>
            </a:r>
            <a:r>
              <a:rPr kumimoji="0" lang="zh-CN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" pitchFamily="49" charset="-122"/>
                <a:ea typeface="楷体" pitchFamily="49" charset="-122"/>
                <a:cs typeface="Times New Roman" pitchFamily="18" charset="0"/>
              </a:rPr>
              <a:t>字符串变量名</a:t>
            </a:r>
            <a:r>
              <a:rPr kumimoji="0" lang="en-US" altLang="zh-CN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" pitchFamily="49" charset="-122"/>
                <a:ea typeface="楷体" pitchFamily="49" charset="-122"/>
                <a:cs typeface="Times New Roman" pitchFamily="18" charset="0"/>
              </a:rPr>
              <a:t>&gt;.</a:t>
            </a:r>
            <a:r>
              <a:rPr kumimoji="0" lang="zh-CN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" pitchFamily="49" charset="-122"/>
                <a:ea typeface="楷体" pitchFamily="49" charset="-122"/>
                <a:cs typeface="Times New Roman" pitchFamily="18" charset="0"/>
              </a:rPr>
              <a:t>函数名</a:t>
            </a:r>
            <a:r>
              <a:rPr kumimoji="0" lang="en-US" altLang="zh-CN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" pitchFamily="49" charset="-122"/>
                <a:ea typeface="楷体" pitchFamily="49" charset="-122"/>
                <a:cs typeface="Times New Roman" pitchFamily="18" charset="0"/>
              </a:rPr>
              <a:t>( )</a:t>
            </a:r>
            <a:endParaRPr kumimoji="0" lang="en-US" altLang="zh-CN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楷体" pitchFamily="49" charset="-122"/>
              <a:ea typeface="楷体" pitchFamily="49" charset="-122"/>
              <a:cs typeface="宋体" pitchFamily="2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81844" y="620688"/>
            <a:ext cx="10873208" cy="6237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矩形 3"/>
          <p:cNvSpPr/>
          <p:nvPr/>
        </p:nvSpPr>
        <p:spPr>
          <a:xfrm>
            <a:off x="-314300" y="-99392"/>
            <a:ext cx="734481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04800">
              <a:lnSpc>
                <a:spcPct val="150000"/>
              </a:lnSpc>
            </a:pPr>
            <a:r>
              <a:rPr lang="zh-CN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【例】</a:t>
            </a:r>
            <a:r>
              <a:rPr lang="zh-CN" altLang="en-US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创建文件形式来验证函数的功能。</a:t>
            </a:r>
            <a:endParaRPr lang="zh-CN" altLang="zh-CN" sz="2800" kern="100" dirty="0"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470277"/>
            <a:ext cx="7416824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04800"/>
            <a:r>
              <a:rPr lang="en-US" altLang="zh-CN" sz="24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string</a:t>
            </a:r>
            <a:r>
              <a:rPr lang="zh-CN" altLang="zh-CN" sz="24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模块还提供了很多</a:t>
            </a:r>
            <a:r>
              <a:rPr lang="zh-CN" altLang="zh-CN" sz="24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方法</a:t>
            </a:r>
            <a:r>
              <a:rPr lang="zh-CN" altLang="en-US" sz="24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。如下：</a:t>
            </a:r>
            <a:endParaRPr lang="zh-CN" altLang="zh-CN" sz="2400" kern="100" dirty="0"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  <a:p>
            <a:pPr indent="304800"/>
            <a:r>
              <a:rPr lang="en-US" altLang="zh-CN" sz="2400" kern="100" dirty="0" err="1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S.find</a:t>
            </a:r>
            <a:r>
              <a:rPr lang="en-US" altLang="zh-CN" sz="24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(substring, [start [,end]]) </a:t>
            </a:r>
          </a:p>
          <a:p>
            <a:pPr indent="304800"/>
            <a:r>
              <a:rPr lang="en-US" altLang="zh-CN" sz="24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  #</a:t>
            </a:r>
            <a:r>
              <a:rPr lang="zh-CN" altLang="zh-CN" sz="24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可指范围查找子串，返回索引值，否则返回</a:t>
            </a:r>
            <a:r>
              <a:rPr lang="en-US" altLang="zh-CN" sz="24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-1  </a:t>
            </a:r>
            <a:endParaRPr lang="zh-CN" altLang="zh-CN" sz="2400" kern="100" dirty="0"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  <a:p>
            <a:pPr indent="304800"/>
            <a:r>
              <a:rPr lang="en-US" altLang="zh-CN" sz="2400" kern="100" dirty="0" err="1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S.rfind</a:t>
            </a:r>
            <a:r>
              <a:rPr lang="en-US" altLang="zh-CN" sz="24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(substring,[start [,end]]) #</a:t>
            </a:r>
            <a:r>
              <a:rPr lang="zh-CN" altLang="zh-CN" sz="24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反向查找</a:t>
            </a:r>
          </a:p>
          <a:p>
            <a:pPr indent="304800"/>
            <a:r>
              <a:rPr lang="en-US" altLang="zh-CN" sz="2400" kern="100" dirty="0" err="1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S.index</a:t>
            </a:r>
            <a:r>
              <a:rPr lang="en-US" altLang="zh-CN" sz="24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(substring,[start [,end]]) </a:t>
            </a:r>
          </a:p>
          <a:p>
            <a:pPr indent="304800"/>
            <a:r>
              <a:rPr lang="en-US" altLang="zh-CN" sz="24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  #</a:t>
            </a:r>
            <a:r>
              <a:rPr lang="zh-CN" altLang="zh-CN" sz="24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同</a:t>
            </a:r>
            <a:r>
              <a:rPr lang="en-US" altLang="zh-CN" sz="24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find</a:t>
            </a:r>
            <a:r>
              <a:rPr lang="zh-CN" altLang="zh-CN" sz="24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，</a:t>
            </a:r>
            <a:r>
              <a:rPr lang="zh-CN" altLang="en-US" sz="24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若</a:t>
            </a:r>
            <a:r>
              <a:rPr lang="zh-CN" altLang="zh-CN" sz="24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找不到</a:t>
            </a:r>
            <a:r>
              <a:rPr lang="zh-CN" altLang="en-US" sz="24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，则</a:t>
            </a:r>
            <a:r>
              <a:rPr lang="zh-CN" altLang="zh-CN" sz="24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产生</a:t>
            </a:r>
            <a:r>
              <a:rPr lang="en-US" altLang="zh-CN" sz="2400" kern="100" dirty="0" err="1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ValueError</a:t>
            </a:r>
            <a:r>
              <a:rPr lang="zh-CN" altLang="zh-CN" sz="24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异常</a:t>
            </a:r>
          </a:p>
          <a:p>
            <a:pPr indent="304800"/>
            <a:r>
              <a:rPr lang="en-US" altLang="zh-CN" sz="2400" kern="100" dirty="0" err="1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S.rindex</a:t>
            </a:r>
            <a:r>
              <a:rPr lang="en-US" altLang="zh-CN" sz="24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(substring</a:t>
            </a:r>
            <a:r>
              <a:rPr lang="en-US" altLang="zh-CN" sz="24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,[start </a:t>
            </a:r>
            <a:r>
              <a:rPr lang="en-US" altLang="zh-CN" sz="24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[,end]])</a:t>
            </a:r>
          </a:p>
          <a:p>
            <a:pPr indent="304800"/>
            <a:r>
              <a:rPr lang="en-US" altLang="zh-CN" sz="24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  #</a:t>
            </a:r>
            <a:r>
              <a:rPr lang="zh-CN" altLang="zh-CN" sz="24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同上反向查找</a:t>
            </a:r>
          </a:p>
          <a:p>
            <a:pPr indent="304800"/>
            <a:r>
              <a:rPr lang="en-US" altLang="zh-CN" sz="2400" kern="100" dirty="0" err="1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S.count</a:t>
            </a:r>
            <a:r>
              <a:rPr lang="en-US" altLang="zh-CN" sz="24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(substring,[start [,end]]) </a:t>
            </a:r>
          </a:p>
          <a:p>
            <a:pPr indent="304800"/>
            <a:r>
              <a:rPr lang="en-US" altLang="zh-CN" sz="24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  #</a:t>
            </a:r>
            <a:r>
              <a:rPr lang="zh-CN" altLang="zh-CN" sz="24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返回找到子串的个数</a:t>
            </a:r>
          </a:p>
          <a:p>
            <a:pPr indent="304800"/>
            <a:r>
              <a:rPr lang="en-US" altLang="zh-CN" sz="2400" kern="100" dirty="0" err="1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S.swapcase</a:t>
            </a:r>
            <a:r>
              <a:rPr lang="en-US" altLang="zh-CN" sz="24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()</a:t>
            </a:r>
            <a:r>
              <a:rPr lang="en-US" altLang="zh-CN" sz="2400" kern="100" dirty="0">
                <a:latin typeface="楷体" pitchFamily="49" charset="-122"/>
                <a:ea typeface="楷体" pitchFamily="49" charset="-122"/>
                <a:cs typeface="Calibri" panose="020F0502020204030204" pitchFamily="34" charset="0"/>
              </a:rPr>
              <a:t>       </a:t>
            </a:r>
            <a:r>
              <a:rPr lang="en-US" altLang="zh-CN" sz="24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 #</a:t>
            </a:r>
            <a:r>
              <a:rPr lang="zh-CN" altLang="zh-CN" sz="24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大小写互换</a:t>
            </a:r>
          </a:p>
          <a:p>
            <a:pPr indent="304800"/>
            <a:r>
              <a:rPr lang="en-US" altLang="zh-CN" sz="2400" kern="100" dirty="0" err="1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S.split</a:t>
            </a:r>
            <a:r>
              <a:rPr lang="en-US" altLang="zh-CN" sz="24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()</a:t>
            </a:r>
            <a:r>
              <a:rPr lang="en-US" altLang="zh-CN" sz="2400" kern="100" dirty="0">
                <a:latin typeface="楷体" pitchFamily="49" charset="-122"/>
                <a:ea typeface="楷体" pitchFamily="49" charset="-122"/>
                <a:cs typeface="Calibri" panose="020F0502020204030204" pitchFamily="34" charset="0"/>
              </a:rPr>
              <a:t>  </a:t>
            </a:r>
            <a:r>
              <a:rPr lang="en-US" altLang="zh-CN" sz="24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 </a:t>
            </a:r>
          </a:p>
          <a:p>
            <a:pPr indent="304800"/>
            <a:r>
              <a:rPr lang="en-US" altLang="zh-CN" sz="24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#</a:t>
            </a:r>
            <a:r>
              <a:rPr lang="zh-CN" altLang="zh-CN" sz="24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将</a:t>
            </a:r>
            <a:r>
              <a:rPr lang="en-US" altLang="zh-CN" sz="24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string</a:t>
            </a:r>
            <a:r>
              <a:rPr lang="zh-CN" altLang="zh-CN" sz="24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转</a:t>
            </a:r>
            <a:r>
              <a:rPr lang="en-US" altLang="zh-CN" sz="24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list</a:t>
            </a:r>
            <a:r>
              <a:rPr lang="zh-CN" altLang="zh-CN" sz="24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，默认以空格切分</a:t>
            </a:r>
            <a:r>
              <a:rPr lang="zh-CN" altLang="zh-CN" sz="24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，</a:t>
            </a:r>
            <a:endParaRPr lang="en-US" altLang="zh-CN" sz="2400" kern="100" dirty="0" smtClean="0"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  <a:p>
            <a:pPr indent="304800"/>
            <a:r>
              <a:rPr lang="en-US" altLang="zh-CN" sz="24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   </a:t>
            </a:r>
            <a:r>
              <a:rPr lang="zh-CN" altLang="zh-CN" sz="24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也</a:t>
            </a:r>
            <a:r>
              <a:rPr lang="zh-CN" altLang="zh-CN" sz="24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可以指定字符切分</a:t>
            </a:r>
            <a:endParaRPr lang="zh-CN" altLang="zh-CN" sz="2400" kern="100" dirty="0">
              <a:effectLst/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652968" y="3501008"/>
            <a:ext cx="6535858" cy="3356992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5158308" y="2996952"/>
            <a:ext cx="1584176" cy="559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04800">
              <a:lnSpc>
                <a:spcPct val="150000"/>
              </a:lnSpc>
            </a:pPr>
            <a:r>
              <a:rPr lang="zh-CN" altLang="zh-CN" sz="24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【例】</a:t>
            </a:r>
            <a:endParaRPr lang="zh-CN" altLang="zh-CN" sz="2400" kern="100" dirty="0"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846370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61766" y="548684"/>
            <a:ext cx="1000911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04800">
              <a:lnSpc>
                <a:spcPct val="150000"/>
              </a:lnSpc>
            </a:pPr>
            <a:r>
              <a:rPr lang="zh-CN" altLang="zh-CN" sz="28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处理字符串的内置函数</a:t>
            </a:r>
          </a:p>
          <a:p>
            <a:pPr indent="304800">
              <a:lnSpc>
                <a:spcPct val="150000"/>
              </a:lnSpc>
            </a:pPr>
            <a:r>
              <a:rPr lang="en-US" altLang="zh-CN" sz="2800" kern="100" dirty="0" err="1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len</a:t>
            </a:r>
            <a:r>
              <a:rPr lang="en-US" altLang="zh-CN" sz="28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kern="100" dirty="0" err="1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str</a:t>
            </a:r>
            <a:r>
              <a:rPr lang="en-US" altLang="zh-CN" sz="28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 sz="2800" kern="100" dirty="0">
                <a:latin typeface="楷体" pitchFamily="49" charset="-122"/>
                <a:ea typeface="楷体" pitchFamily="49" charset="-122"/>
                <a:cs typeface="Calibri" panose="020F0502020204030204" pitchFamily="34" charset="0"/>
              </a:rPr>
              <a:t>               </a:t>
            </a:r>
            <a:r>
              <a:rPr lang="en-US" altLang="zh-CN" sz="28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    #</a:t>
            </a:r>
            <a:r>
              <a:rPr lang="zh-CN" altLang="zh-CN" sz="28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串长度</a:t>
            </a:r>
          </a:p>
          <a:p>
            <a:pPr indent="304800">
              <a:lnSpc>
                <a:spcPct val="150000"/>
              </a:lnSpc>
            </a:pPr>
            <a:r>
              <a:rPr lang="en-US" altLang="zh-CN" sz="28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max('</a:t>
            </a:r>
            <a:r>
              <a:rPr lang="en-US" altLang="zh-CN" sz="2800" kern="100" dirty="0" err="1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abcxyz</a:t>
            </a:r>
            <a:r>
              <a:rPr lang="en-US" altLang="zh-CN" sz="28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')</a:t>
            </a:r>
            <a:r>
              <a:rPr lang="en-US" altLang="zh-CN" sz="2800" kern="100" dirty="0">
                <a:latin typeface="楷体" pitchFamily="49" charset="-122"/>
                <a:ea typeface="楷体" pitchFamily="49" charset="-122"/>
                <a:cs typeface="Calibri" panose="020F0502020204030204" pitchFamily="34" charset="0"/>
              </a:rPr>
              <a:t>          </a:t>
            </a:r>
            <a:r>
              <a:rPr lang="en-US" altLang="zh-CN" sz="28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 #</a:t>
            </a:r>
            <a:r>
              <a:rPr lang="zh-CN" altLang="zh-CN" sz="28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寻找字符串中最大的字符</a:t>
            </a:r>
          </a:p>
          <a:p>
            <a:pPr indent="304800">
              <a:lnSpc>
                <a:spcPct val="150000"/>
              </a:lnSpc>
            </a:pPr>
            <a:r>
              <a:rPr lang="en-US" altLang="zh-CN" sz="28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min('</a:t>
            </a:r>
            <a:r>
              <a:rPr lang="en-US" altLang="zh-CN" sz="2800" kern="100" dirty="0" err="1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abcxyz</a:t>
            </a:r>
            <a:r>
              <a:rPr lang="en-US" altLang="zh-CN" sz="28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')</a:t>
            </a:r>
            <a:r>
              <a:rPr lang="en-US" altLang="zh-CN" sz="2800" kern="100" dirty="0">
                <a:latin typeface="楷体" pitchFamily="49" charset="-122"/>
                <a:ea typeface="楷体" pitchFamily="49" charset="-122"/>
                <a:cs typeface="Calibri" panose="020F0502020204030204" pitchFamily="34" charset="0"/>
              </a:rPr>
              <a:t>          </a:t>
            </a:r>
            <a:r>
              <a:rPr lang="en-US" altLang="zh-CN" sz="28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 #</a:t>
            </a:r>
            <a:r>
              <a:rPr lang="zh-CN" altLang="zh-CN" sz="28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寻找字符串中最小的字符</a:t>
            </a:r>
          </a:p>
          <a:p>
            <a:pPr indent="304800">
              <a:lnSpc>
                <a:spcPct val="150000"/>
              </a:lnSpc>
            </a:pPr>
            <a:r>
              <a:rPr lang="en-US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string</a:t>
            </a:r>
            <a:r>
              <a:rPr lang="zh-CN" altLang="zh-CN" sz="28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的转换</a:t>
            </a:r>
          </a:p>
          <a:p>
            <a:pPr indent="304800">
              <a:lnSpc>
                <a:spcPct val="150000"/>
              </a:lnSpc>
            </a:pPr>
            <a:r>
              <a:rPr lang="en-US" altLang="zh-CN" sz="2800" kern="100" dirty="0" err="1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sz="28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kern="100" dirty="0" err="1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str</a:t>
            </a:r>
            <a:r>
              <a:rPr lang="en-US" altLang="zh-CN" sz="28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 sz="2800" kern="100" dirty="0">
                <a:latin typeface="楷体" pitchFamily="49" charset="-122"/>
                <a:ea typeface="楷体" pitchFamily="49" charset="-122"/>
                <a:cs typeface="Calibri" panose="020F0502020204030204" pitchFamily="34" charset="0"/>
              </a:rPr>
              <a:t>       </a:t>
            </a:r>
            <a:r>
              <a:rPr lang="en-US" altLang="zh-CN" sz="28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#</a:t>
            </a:r>
            <a:r>
              <a:rPr lang="zh-CN" altLang="en-US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将数字字符串转换</a:t>
            </a:r>
            <a:r>
              <a:rPr lang="zh-CN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变成整型</a:t>
            </a:r>
            <a:r>
              <a:rPr lang="zh-CN" altLang="en-US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数</a:t>
            </a:r>
            <a:endParaRPr lang="zh-CN" altLang="zh-CN" sz="2800" kern="100" dirty="0">
              <a:effectLst/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948465" y="3943593"/>
            <a:ext cx="3240360" cy="2914407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8413184" y="3356992"/>
            <a:ext cx="1497652" cy="559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04800">
              <a:lnSpc>
                <a:spcPct val="150000"/>
              </a:lnSpc>
            </a:pPr>
            <a:r>
              <a:rPr lang="zh-CN" altLang="zh-CN" sz="24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【例】</a:t>
            </a:r>
            <a:endParaRPr lang="zh-CN" altLang="zh-CN" sz="2400" kern="100" dirty="0"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3514373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09836" y="1268760"/>
            <a:ext cx="10238700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 smtClean="0">
                <a:latin typeface="楷体" pitchFamily="49" charset="-122"/>
                <a:ea typeface="楷体" pitchFamily="49" charset="-122"/>
              </a:rPr>
              <a:t>大多数数据类型可以通过</a:t>
            </a:r>
            <a:r>
              <a:rPr lang="en-US" altLang="zh-CN" sz="3200" dirty="0" err="1" smtClean="0">
                <a:latin typeface="楷体" pitchFamily="49" charset="-122"/>
                <a:ea typeface="楷体" pitchFamily="49" charset="-122"/>
              </a:rPr>
              <a:t>str</a:t>
            </a:r>
            <a:r>
              <a:rPr lang="en-US" altLang="zh-CN" sz="3200" dirty="0" smtClean="0">
                <a:latin typeface="楷体" pitchFamily="49" charset="-122"/>
                <a:ea typeface="楷体" pitchFamily="49" charset="-122"/>
              </a:rPr>
              <a:t>()</a:t>
            </a:r>
            <a:r>
              <a:rPr lang="zh-CN" altLang="en-US" sz="3200" dirty="0" smtClean="0">
                <a:latin typeface="楷体" pitchFamily="49" charset="-122"/>
                <a:ea typeface="楷体" pitchFamily="49" charset="-122"/>
              </a:rPr>
              <a:t>函数转换成字符串；</a:t>
            </a:r>
            <a:endParaRPr lang="en-US" altLang="zh-CN" sz="3200" dirty="0" smtClean="0">
              <a:latin typeface="楷体" pitchFamily="49" charset="-122"/>
              <a:ea typeface="楷体" pitchFamily="49" charset="-122"/>
            </a:endParaRPr>
          </a:p>
          <a:p>
            <a:r>
              <a:rPr lang="zh-CN" altLang="en-US" sz="3200" dirty="0" smtClean="0">
                <a:latin typeface="楷体" pitchFamily="49" charset="-122"/>
                <a:ea typeface="楷体" pitchFamily="49" charset="-122"/>
              </a:rPr>
              <a:t>用字符串连接符“</a:t>
            </a:r>
            <a:r>
              <a:rPr lang="en-US" altLang="zh-CN" sz="3200" dirty="0" smtClean="0">
                <a:latin typeface="楷体" pitchFamily="49" charset="-122"/>
                <a:ea typeface="楷体" pitchFamily="49" charset="-122"/>
              </a:rPr>
              <a:t>+</a:t>
            </a:r>
            <a:r>
              <a:rPr lang="zh-CN" altLang="en-US" sz="3200" dirty="0" smtClean="0">
                <a:latin typeface="楷体" pitchFamily="49" charset="-122"/>
                <a:ea typeface="楷体" pitchFamily="49" charset="-122"/>
              </a:rPr>
              <a:t>”时，连接的数据都应是字符串型。</a:t>
            </a:r>
            <a:endParaRPr lang="zh-CN" altLang="en-US" sz="3200" dirty="0">
              <a:latin typeface="楷体" pitchFamily="49" charset="-122"/>
              <a:ea typeface="楷体" pitchFamily="49" charset="-122"/>
            </a:endParaRPr>
          </a:p>
        </p:txBody>
      </p:sp>
      <p:pic>
        <p:nvPicPr>
          <p:cNvPr id="3" name="图片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05980" y="2924944"/>
            <a:ext cx="2794605" cy="16654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图片 3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90356" y="2924944"/>
            <a:ext cx="5998021" cy="1850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矩形 4"/>
          <p:cNvSpPr/>
          <p:nvPr/>
        </p:nvSpPr>
        <p:spPr>
          <a:xfrm>
            <a:off x="477788" y="2276872"/>
            <a:ext cx="1497652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04800">
              <a:lnSpc>
                <a:spcPct val="150000"/>
              </a:lnSpc>
            </a:pPr>
            <a:r>
              <a:rPr lang="zh-CN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【例】</a:t>
            </a:r>
            <a:endParaRPr lang="zh-CN" altLang="zh-CN" sz="2800" kern="100" dirty="0"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7828" y="1628800"/>
            <a:ext cx="10513168" cy="4159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矩形 2"/>
          <p:cNvSpPr/>
          <p:nvPr/>
        </p:nvSpPr>
        <p:spPr>
          <a:xfrm>
            <a:off x="1701924" y="836712"/>
            <a:ext cx="97930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 smtClean="0">
                <a:latin typeface="楷体" pitchFamily="49" charset="-122"/>
                <a:ea typeface="楷体" pitchFamily="49" charset="-122"/>
              </a:rPr>
              <a:t>输入一个月份数字，返回对应月份的英文名称缩写。</a:t>
            </a:r>
          </a:p>
        </p:txBody>
      </p:sp>
      <p:sp>
        <p:nvSpPr>
          <p:cNvPr id="4" name="矩形 3"/>
          <p:cNvSpPr/>
          <p:nvPr/>
        </p:nvSpPr>
        <p:spPr>
          <a:xfrm>
            <a:off x="621804" y="6021288"/>
            <a:ext cx="1094521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 smtClean="0">
                <a:latin typeface="楷体" pitchFamily="49" charset="-122"/>
                <a:ea typeface="楷体" pitchFamily="49" charset="-122"/>
              </a:rPr>
              <a:t>课堂</a:t>
            </a:r>
            <a:r>
              <a:rPr lang="zh-CN" altLang="zh-CN" sz="2400" dirty="0" smtClean="0">
                <a:latin typeface="楷体" pitchFamily="49" charset="-122"/>
                <a:ea typeface="楷体" pitchFamily="49" charset="-122"/>
              </a:rPr>
              <a:t>作业：输入字符“</a:t>
            </a:r>
            <a:r>
              <a:rPr lang="en-US" altLang="zh-CN" sz="2400" dirty="0" smtClean="0">
                <a:latin typeface="楷体" pitchFamily="49" charset="-122"/>
                <a:ea typeface="楷体" pitchFamily="49" charset="-122"/>
              </a:rPr>
              <a:t>1</a:t>
            </a:r>
            <a:r>
              <a:rPr lang="zh-CN" altLang="zh-CN" sz="2400" dirty="0" smtClean="0">
                <a:latin typeface="楷体" pitchFamily="49" charset="-122"/>
                <a:ea typeface="楷体" pitchFamily="49" charset="-122"/>
              </a:rPr>
              <a:t>”到“</a:t>
            </a:r>
            <a:r>
              <a:rPr lang="en-US" altLang="zh-CN" sz="2400" dirty="0" smtClean="0">
                <a:latin typeface="楷体" pitchFamily="49" charset="-122"/>
                <a:ea typeface="楷体" pitchFamily="49" charset="-122"/>
              </a:rPr>
              <a:t>7</a:t>
            </a:r>
            <a:r>
              <a:rPr lang="zh-CN" altLang="zh-CN" sz="2400" dirty="0" smtClean="0">
                <a:latin typeface="楷体" pitchFamily="49" charset="-122"/>
                <a:ea typeface="楷体" pitchFamily="49" charset="-122"/>
              </a:rPr>
              <a:t>”，返回对应的中文“星期一”到“星期天”。</a:t>
            </a:r>
            <a:endParaRPr lang="zh-CN" altLang="en-US" sz="2400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04272" y="692696"/>
            <a:ext cx="1497652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04800">
              <a:lnSpc>
                <a:spcPct val="150000"/>
              </a:lnSpc>
            </a:pPr>
            <a:r>
              <a:rPr lang="zh-CN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【例】</a:t>
            </a:r>
            <a:endParaRPr lang="zh-CN" altLang="zh-CN" sz="2800" kern="100" dirty="0"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21802" y="893038"/>
            <a:ext cx="1108923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kern="100" dirty="0" smtClean="0">
                <a:latin typeface="楷体" pitchFamily="49" charset="-122"/>
                <a:ea typeface="楷体" pitchFamily="49" charset="-122"/>
              </a:rPr>
              <a:t>1</a:t>
            </a:r>
            <a:r>
              <a:rPr lang="zh-CN" altLang="en-US" sz="2800" b="1" kern="100" dirty="0" smtClean="0">
                <a:latin typeface="楷体" pitchFamily="49" charset="-122"/>
                <a:ea typeface="楷体" pitchFamily="49" charset="-122"/>
              </a:rPr>
              <a:t>、输出 </a:t>
            </a:r>
            <a:r>
              <a:rPr lang="en-US" altLang="zh-CN" sz="2800" b="1" kern="100" dirty="0" smtClean="0">
                <a:latin typeface="楷体" pitchFamily="49" charset="-122"/>
                <a:ea typeface="楷体" pitchFamily="49" charset="-122"/>
              </a:rPr>
              <a:t>print()</a:t>
            </a:r>
            <a:endParaRPr lang="zh-CN" altLang="zh-CN" sz="2800" b="1" kern="100" dirty="0">
              <a:latin typeface="楷体" pitchFamily="49" charset="-122"/>
              <a:ea typeface="楷体" pitchFamily="49" charset="-122"/>
            </a:endParaRPr>
          </a:p>
          <a:p>
            <a:pPr indent="623888" algn="just">
              <a:spcAft>
                <a:spcPts val="0"/>
              </a:spcAft>
            </a:pPr>
            <a:r>
              <a:rPr lang="en-US" altLang="zh-CN" sz="28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print</a:t>
            </a:r>
            <a:r>
              <a:rPr lang="zh-CN" altLang="zh-CN" sz="28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是一个常用函数，其</a:t>
            </a:r>
            <a:r>
              <a:rPr lang="zh-CN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功能</a:t>
            </a:r>
            <a:r>
              <a:rPr lang="zh-CN" altLang="en-US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用来输出字符信息或以字符形式输出变量的值。也可通过</a:t>
            </a:r>
            <a:r>
              <a:rPr lang="en-US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%</a:t>
            </a:r>
            <a:r>
              <a:rPr lang="zh-CN" altLang="en-US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确定格式来输出的变量或表达式。</a:t>
            </a:r>
            <a:r>
              <a:rPr lang="en-US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  </a:t>
            </a:r>
            <a:endParaRPr lang="zh-CN" altLang="zh-CN" sz="2800" kern="100" dirty="0"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  <a:p>
            <a:pPr indent="623888" algn="just">
              <a:spcAft>
                <a:spcPts val="0"/>
              </a:spcAft>
            </a:pPr>
            <a:r>
              <a:rPr lang="zh-CN" altLang="en-US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print</a:t>
            </a:r>
            <a:r>
              <a:rPr lang="zh-CN" altLang="en-US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有</a:t>
            </a:r>
            <a:r>
              <a:rPr lang="zh-CN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多</a:t>
            </a:r>
            <a:r>
              <a:rPr lang="zh-CN" altLang="zh-CN" sz="28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个输出</a:t>
            </a:r>
            <a:r>
              <a:rPr lang="zh-CN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，</a:t>
            </a:r>
            <a:r>
              <a:rPr lang="zh-CN" altLang="en-US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各部分间</a:t>
            </a:r>
            <a:r>
              <a:rPr lang="zh-CN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以</a:t>
            </a:r>
            <a:r>
              <a:rPr lang="zh-CN" altLang="zh-CN" sz="28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逗号分隔</a:t>
            </a:r>
            <a:r>
              <a:rPr lang="zh-CN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。</a:t>
            </a:r>
            <a:r>
              <a:rPr lang="zh-CN" altLang="en-US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“</a:t>
            </a:r>
            <a:r>
              <a:rPr lang="en-US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\n</a:t>
            </a:r>
            <a:r>
              <a:rPr lang="zh-CN" altLang="en-US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”表示换行。</a:t>
            </a:r>
            <a:endParaRPr lang="zh-CN" altLang="zh-CN" sz="2800" kern="100" dirty="0"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4052" y="2708920"/>
            <a:ext cx="5832648" cy="2384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矩形 5"/>
          <p:cNvSpPr/>
          <p:nvPr/>
        </p:nvSpPr>
        <p:spPr>
          <a:xfrm>
            <a:off x="1341884" y="2996952"/>
            <a:ext cx="132736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04800">
              <a:lnSpc>
                <a:spcPct val="150000"/>
              </a:lnSpc>
            </a:pPr>
            <a:r>
              <a:rPr lang="zh-CN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【例】</a:t>
            </a:r>
            <a:endParaRPr lang="zh-CN" altLang="zh-CN" sz="2800" kern="100" dirty="0"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269876" y="5373216"/>
            <a:ext cx="132736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04800">
              <a:lnSpc>
                <a:spcPct val="150000"/>
              </a:lnSpc>
            </a:pPr>
            <a:r>
              <a:rPr lang="zh-CN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【例】</a:t>
            </a:r>
            <a:endParaRPr lang="zh-CN" altLang="zh-CN" sz="2800" kern="100" dirty="0"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65759" y="5203651"/>
            <a:ext cx="7477125" cy="160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标题 1"/>
          <p:cNvSpPr txBox="1">
            <a:spLocks/>
          </p:cNvSpPr>
          <p:nvPr/>
        </p:nvSpPr>
        <p:spPr>
          <a:xfrm>
            <a:off x="117748" y="125760"/>
            <a:ext cx="11071516" cy="782960"/>
          </a:xfrm>
          <a:prstGeom prst="rect">
            <a:avLst/>
          </a:prstGeom>
        </p:spPr>
        <p:txBody>
          <a:bodyPr>
            <a:normAutofit fontScale="90000" lnSpcReduction="10000"/>
          </a:bodyPr>
          <a:lstStyle/>
          <a:p>
            <a:pPr lvl="0">
              <a:spcBef>
                <a:spcPct val="0"/>
              </a:spcBef>
            </a:pPr>
            <a:r>
              <a:rPr lang="zh-CN" altLang="en-US" sz="5400" dirty="0" smtClean="0">
                <a:latin typeface="+mj-ea"/>
                <a:ea typeface="+mj-ea"/>
                <a:cs typeface="Times New Roman" pitchFamily="18" charset="0"/>
              </a:rPr>
              <a:t>输入输出</a:t>
            </a:r>
            <a:endParaRPr kumimoji="0" lang="zh-CN" altLang="en-US" sz="5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ea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827510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05780" y="692700"/>
            <a:ext cx="986509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048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8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若要将多个结果打印在一行，可以在</a:t>
            </a:r>
            <a:r>
              <a:rPr lang="en-US" altLang="zh-CN" sz="2800" kern="100" dirty="0" smtClean="0">
                <a:latin typeface="Calibri" panose="020F0502020204030204" pitchFamily="34" charset="0"/>
                <a:ea typeface="仿宋" panose="02010609060101010101" pitchFamily="49" charset="-122"/>
                <a:cs typeface="Times New Roman" panose="02020603050405020304" pitchFamily="18" charset="0"/>
              </a:rPr>
              <a:t>print()</a:t>
            </a:r>
            <a:r>
              <a:rPr lang="zh-CN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中</a:t>
            </a:r>
            <a:r>
              <a:rPr lang="zh-CN" altLang="zh-CN" sz="28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添加</a:t>
            </a:r>
            <a:r>
              <a:rPr lang="en-US" altLang="zh-CN" sz="2800" kern="100" dirty="0">
                <a:latin typeface="Calibri" panose="020F0502020204030204" pitchFamily="34" charset="0"/>
                <a:ea typeface="仿宋" panose="02010609060101010101" pitchFamily="49" charset="-122"/>
                <a:cs typeface="Times New Roman" panose="02020603050405020304" pitchFamily="18" charset="0"/>
              </a:rPr>
              <a:t>end</a:t>
            </a:r>
            <a:r>
              <a:rPr lang="en-US" altLang="zh-CN" sz="2800" kern="100" dirty="0" smtClean="0">
                <a:latin typeface="Calibri" panose="020F0502020204030204" pitchFamily="34" charset="0"/>
                <a:ea typeface="仿宋" panose="02010609060101010101" pitchFamily="49" charset="-122"/>
                <a:cs typeface="Times New Roman" panose="02020603050405020304" pitchFamily="18" charset="0"/>
              </a:rPr>
              <a:t>=‘,‘</a:t>
            </a:r>
            <a:r>
              <a:rPr lang="zh-CN" altLang="en-US" sz="2800" kern="100" dirty="0" smtClean="0">
                <a:latin typeface="Calibri" panose="020F0502020204030204" pitchFamily="34" charset="0"/>
                <a:ea typeface="仿宋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sz="2800" kern="100" dirty="0" smtClean="0">
              <a:latin typeface="Calibri" panose="020F0502020204030204" pitchFamily="34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indent="3048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如</a:t>
            </a:r>
            <a:r>
              <a:rPr lang="zh-CN" altLang="zh-CN" sz="28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800" kern="100" dirty="0">
                <a:latin typeface="Calibri" panose="020F0502020204030204" pitchFamily="34" charset="0"/>
                <a:ea typeface="仿宋" panose="02010609060101010101" pitchFamily="49" charset="-122"/>
                <a:cs typeface="Times New Roman" panose="02020603050405020304" pitchFamily="18" charset="0"/>
              </a:rPr>
              <a:t>print(</a:t>
            </a:r>
            <a:r>
              <a:rPr lang="en-US" altLang="zh-CN" sz="2800" kern="100" dirty="0" err="1">
                <a:latin typeface="Calibri" panose="020F0502020204030204" pitchFamily="34" charset="0"/>
                <a:ea typeface="仿宋" panose="02010609060101010101" pitchFamily="49" charset="-122"/>
                <a:cs typeface="Times New Roman" panose="02020603050405020304" pitchFamily="18" charset="0"/>
              </a:rPr>
              <a:t>test_list</a:t>
            </a:r>
            <a:r>
              <a:rPr lang="en-US" altLang="zh-CN" sz="2800" kern="100" dirty="0">
                <a:latin typeface="Calibri" panose="020F0502020204030204" pitchFamily="34" charset="0"/>
                <a:ea typeface="仿宋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lang="en-US" altLang="zh-CN" sz="2800" kern="100" dirty="0" err="1">
                <a:latin typeface="Calibri" panose="020F0502020204030204" pitchFamily="34" charset="0"/>
                <a:ea typeface="仿宋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800" kern="100" dirty="0">
                <a:latin typeface="Calibri" panose="020F0502020204030204" pitchFamily="34" charset="0"/>
                <a:ea typeface="仿宋" panose="02010609060101010101" pitchFamily="49" charset="-122"/>
                <a:cs typeface="Times New Roman" panose="02020603050405020304" pitchFamily="18" charset="0"/>
              </a:rPr>
              <a:t>],end=',') </a:t>
            </a:r>
            <a:endParaRPr lang="zh-CN" altLang="zh-CN" sz="28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85900" y="2060848"/>
            <a:ext cx="3960440" cy="4443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98468" y="2060848"/>
            <a:ext cx="3847876" cy="21294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圆角矩形标注 7"/>
          <p:cNvSpPr/>
          <p:nvPr/>
        </p:nvSpPr>
        <p:spPr>
          <a:xfrm>
            <a:off x="7102524" y="5013176"/>
            <a:ext cx="3816424" cy="1584176"/>
          </a:xfrm>
          <a:prstGeom prst="wedgeRoundRectCallout">
            <a:avLst>
              <a:gd name="adj1" fmla="val -85098"/>
              <a:gd name="adj2" fmla="val -9267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 smtClean="0"/>
              <a:t>课堂提问：比较上面三个输出语句结果的不同之处。</a:t>
            </a:r>
            <a:endParaRPr lang="zh-CN" altLang="en-US" sz="2800" b="1" dirty="0"/>
          </a:p>
        </p:txBody>
      </p:sp>
      <p:sp>
        <p:nvSpPr>
          <p:cNvPr id="9" name="矩形 8"/>
          <p:cNvSpPr/>
          <p:nvPr/>
        </p:nvSpPr>
        <p:spPr>
          <a:xfrm>
            <a:off x="0" y="1988840"/>
            <a:ext cx="132736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04800">
              <a:lnSpc>
                <a:spcPct val="150000"/>
              </a:lnSpc>
            </a:pPr>
            <a:r>
              <a:rPr lang="zh-CN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【例】</a:t>
            </a:r>
            <a:endParaRPr lang="zh-CN" altLang="zh-CN" sz="2800" kern="100" dirty="0"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292219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21804" y="260648"/>
            <a:ext cx="11161240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b="1" kern="100" dirty="0" smtClean="0">
                <a:latin typeface="楷体" pitchFamily="49" charset="-122"/>
                <a:ea typeface="楷体" pitchFamily="49" charset="-122"/>
              </a:rPr>
              <a:t>2</a:t>
            </a:r>
            <a:r>
              <a:rPr lang="zh-CN" altLang="en-US" sz="2800" b="1" kern="100" dirty="0" smtClean="0">
                <a:latin typeface="楷体" pitchFamily="49" charset="-122"/>
                <a:ea typeface="楷体" pitchFamily="49" charset="-122"/>
              </a:rPr>
              <a:t>、</a:t>
            </a:r>
            <a:r>
              <a:rPr lang="en-US" altLang="zh-CN" sz="2800" b="1" kern="100" dirty="0" smtClean="0">
                <a:latin typeface="楷体" pitchFamily="49" charset="-122"/>
                <a:ea typeface="楷体" pitchFamily="49" charset="-122"/>
              </a:rPr>
              <a:t>input</a:t>
            </a:r>
            <a:endParaRPr lang="en-US" altLang="zh-CN" sz="2800" b="1" kern="100" dirty="0">
              <a:latin typeface="楷体" pitchFamily="49" charset="-122"/>
              <a:ea typeface="楷体" pitchFamily="49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Input()</a:t>
            </a:r>
            <a:r>
              <a:rPr lang="zh-CN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函数</a:t>
            </a:r>
            <a:r>
              <a:rPr lang="zh-CN" altLang="zh-CN" sz="28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将用户输入的</a:t>
            </a:r>
            <a:r>
              <a:rPr lang="zh-CN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内容</a:t>
            </a:r>
            <a:r>
              <a:rPr lang="zh-CN" altLang="en-US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以</a:t>
            </a:r>
            <a:r>
              <a:rPr lang="zh-CN" altLang="zh-CN" sz="2800" b="1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字符串</a:t>
            </a:r>
            <a:r>
              <a:rPr lang="zh-CN" altLang="zh-CN" sz="28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形式</a:t>
            </a:r>
            <a:r>
              <a:rPr lang="zh-CN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返回</a:t>
            </a:r>
            <a:r>
              <a:rPr lang="zh-CN" altLang="en-US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。</a:t>
            </a:r>
            <a:endParaRPr lang="en-US" altLang="zh-CN" sz="2800" kern="100" dirty="0" smtClean="0"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  <a:p>
            <a:pPr indent="985838"/>
            <a:r>
              <a:rPr lang="zh-CN" altLang="zh-CN" sz="2800" dirty="0" smtClean="0">
                <a:latin typeface="楷体" pitchFamily="49" charset="-122"/>
                <a:ea typeface="楷体" pitchFamily="49" charset="-122"/>
              </a:rPr>
              <a:t>格式：</a:t>
            </a:r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&lt;</a:t>
            </a:r>
            <a:r>
              <a:rPr lang="zh-CN" altLang="zh-CN" sz="2800" dirty="0" smtClean="0">
                <a:latin typeface="楷体" pitchFamily="49" charset="-122"/>
                <a:ea typeface="楷体" pitchFamily="49" charset="-122"/>
              </a:rPr>
              <a:t>变量</a:t>
            </a:r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&gt; = input ( &lt;</a:t>
            </a:r>
            <a:r>
              <a:rPr lang="zh-CN" altLang="zh-CN" sz="2800" dirty="0" smtClean="0">
                <a:latin typeface="楷体" pitchFamily="49" charset="-122"/>
                <a:ea typeface="楷体" pitchFamily="49" charset="-122"/>
              </a:rPr>
              <a:t>提示性文字</a:t>
            </a:r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&gt; )</a:t>
            </a:r>
            <a:endParaRPr lang="zh-CN" altLang="zh-CN" sz="2800" dirty="0" smtClean="0">
              <a:latin typeface="楷体" pitchFamily="49" charset="-122"/>
              <a:ea typeface="楷体" pitchFamily="49" charset="-122"/>
            </a:endParaRPr>
          </a:p>
          <a:p>
            <a:pPr indent="985838"/>
            <a:r>
              <a:rPr lang="zh-CN" altLang="zh-CN" sz="2800" dirty="0" smtClean="0">
                <a:latin typeface="楷体" pitchFamily="49" charset="-122"/>
                <a:ea typeface="楷体" pitchFamily="49" charset="-122"/>
              </a:rPr>
              <a:t>注意：变量得到的值是一个</a:t>
            </a:r>
            <a:r>
              <a:rPr lang="zh-CN" altLang="zh-CN" sz="2800" b="1" dirty="0" smtClean="0">
                <a:latin typeface="楷体" pitchFamily="49" charset="-122"/>
                <a:ea typeface="楷体" pitchFamily="49" charset="-122"/>
              </a:rPr>
              <a:t>字符串</a:t>
            </a:r>
            <a:r>
              <a:rPr lang="zh-CN" altLang="zh-CN" sz="2800" dirty="0" smtClean="0">
                <a:latin typeface="楷体" pitchFamily="49" charset="-122"/>
                <a:ea typeface="楷体" pitchFamily="49" charset="-122"/>
              </a:rPr>
              <a:t>。</a:t>
            </a:r>
            <a:r>
              <a:rPr lang="zh-CN" altLang="en-US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即使</a:t>
            </a:r>
            <a:r>
              <a:rPr lang="zh-CN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输入的是数字，但这个返回的“数字”的类型</a:t>
            </a:r>
            <a:r>
              <a:rPr lang="zh-CN" altLang="en-US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还</a:t>
            </a:r>
            <a:r>
              <a:rPr lang="zh-CN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是字符型。</a:t>
            </a:r>
          </a:p>
          <a:p>
            <a:pPr indent="304800">
              <a:lnSpc>
                <a:spcPct val="150000"/>
              </a:lnSpc>
            </a:pPr>
            <a:r>
              <a:rPr lang="zh-CN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【例】</a:t>
            </a:r>
            <a:endParaRPr lang="zh-CN" altLang="zh-CN" sz="2000" kern="100" dirty="0">
              <a:effectLst/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05980" y="4149080"/>
            <a:ext cx="8424936" cy="21000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05980" y="2996952"/>
            <a:ext cx="8424936" cy="10621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矩形 5"/>
          <p:cNvSpPr/>
          <p:nvPr/>
        </p:nvSpPr>
        <p:spPr>
          <a:xfrm>
            <a:off x="621804" y="3933056"/>
            <a:ext cx="1497652" cy="6376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04800">
              <a:lnSpc>
                <a:spcPct val="150000"/>
              </a:lnSpc>
            </a:pPr>
            <a:r>
              <a:rPr lang="zh-CN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【例】</a:t>
            </a:r>
            <a:endParaRPr lang="zh-CN" altLang="zh-CN" sz="2800" kern="100" dirty="0"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圆角矩形标注 7"/>
          <p:cNvSpPr/>
          <p:nvPr/>
        </p:nvSpPr>
        <p:spPr>
          <a:xfrm>
            <a:off x="7390556" y="6093296"/>
            <a:ext cx="4798269" cy="764704"/>
          </a:xfrm>
          <a:prstGeom prst="wedgeRoundRectCallout">
            <a:avLst>
              <a:gd name="adj1" fmla="val -58699"/>
              <a:gd name="adj2" fmla="val -184149"/>
              <a:gd name="adj3" fmla="val 16667"/>
            </a:avLst>
          </a:prstGeom>
          <a:solidFill>
            <a:schemeClr val="accent1">
              <a:alpha val="3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kern="100" dirty="0" smtClean="0">
                <a:solidFill>
                  <a:schemeClr val="accent6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此例中，若</a:t>
            </a:r>
            <a:r>
              <a:rPr lang="zh-CN" altLang="zh-CN" sz="2400" kern="100" dirty="0" smtClean="0">
                <a:solidFill>
                  <a:schemeClr val="accent6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如输入字母</a:t>
            </a:r>
            <a:r>
              <a:rPr lang="zh-CN" altLang="en-US" sz="2400" kern="100" dirty="0" smtClean="0">
                <a:solidFill>
                  <a:schemeClr val="accent6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，</a:t>
            </a:r>
            <a:r>
              <a:rPr lang="zh-CN" altLang="zh-CN" sz="2400" kern="100" dirty="0" smtClean="0">
                <a:solidFill>
                  <a:schemeClr val="accent6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则报错</a:t>
            </a:r>
            <a:r>
              <a:rPr lang="zh-CN" altLang="en-US" sz="2400" kern="100" dirty="0" smtClean="0">
                <a:solidFill>
                  <a:schemeClr val="accent6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。例</a:t>
            </a:r>
            <a:r>
              <a:rPr lang="zh-CN" altLang="zh-CN" sz="2400" kern="100" dirty="0" smtClean="0">
                <a:solidFill>
                  <a:schemeClr val="accent6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如</a:t>
            </a:r>
            <a:r>
              <a:rPr lang="zh-CN" altLang="en-US" sz="2400" kern="100" dirty="0" smtClean="0">
                <a:solidFill>
                  <a:schemeClr val="accent6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，</a:t>
            </a:r>
            <a:r>
              <a:rPr lang="zh-CN" altLang="zh-CN" sz="2400" kern="100" dirty="0" smtClean="0">
                <a:solidFill>
                  <a:schemeClr val="accent6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输入</a:t>
            </a:r>
            <a:r>
              <a:rPr lang="en-US" altLang="zh-CN" sz="2400" kern="100" dirty="0" err="1" smtClean="0">
                <a:solidFill>
                  <a:schemeClr val="accent6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acd</a:t>
            </a:r>
            <a:r>
              <a:rPr lang="zh-CN" altLang="zh-CN" sz="2400" kern="100" dirty="0" smtClean="0">
                <a:solidFill>
                  <a:schemeClr val="accent6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xmlns="" val="42279776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33772" y="188640"/>
            <a:ext cx="11305256" cy="25237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 smtClean="0">
                <a:latin typeface="Calibri" panose="020F0502020204030204" pitchFamily="34" charset="0"/>
                <a:ea typeface="黑体" panose="02010609060101010101" pitchFamily="49" charset="-122"/>
                <a:cs typeface="宋体" panose="02010600030101010101" pitchFamily="2" charset="-122"/>
              </a:rPr>
              <a:t>3</a:t>
            </a:r>
            <a:r>
              <a:rPr lang="zh-CN" altLang="en-US" sz="3200" b="1" dirty="0" smtClean="0">
                <a:latin typeface="Calibri" panose="020F0502020204030204" pitchFamily="34" charset="0"/>
                <a:ea typeface="黑体" panose="02010609060101010101" pitchFamily="49" charset="-122"/>
                <a:cs typeface="宋体" panose="02010600030101010101" pitchFamily="2" charset="-122"/>
              </a:rPr>
              <a:t>、</a:t>
            </a:r>
            <a:r>
              <a:rPr lang="en-US" altLang="zh-CN" sz="3200" b="1" dirty="0" smtClean="0">
                <a:latin typeface="Calibri" panose="020F0502020204030204" pitchFamily="34" charset="0"/>
                <a:ea typeface="黑体" panose="02010609060101010101" pitchFamily="49" charset="-122"/>
                <a:cs typeface="宋体" panose="02010600030101010101" pitchFamily="2" charset="-122"/>
              </a:rPr>
              <a:t>range()</a:t>
            </a:r>
            <a:r>
              <a:rPr lang="zh-CN" altLang="en-US" sz="3200" b="1" dirty="0" smtClean="0">
                <a:latin typeface="Calibri" panose="020F0502020204030204" pitchFamily="34" charset="0"/>
                <a:ea typeface="黑体" panose="02010609060101010101" pitchFamily="49" charset="-122"/>
                <a:cs typeface="宋体" panose="02010600030101010101" pitchFamily="2" charset="-122"/>
              </a:rPr>
              <a:t>函数</a:t>
            </a:r>
            <a:endParaRPr lang="zh-CN" altLang="zh-CN" sz="3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3048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8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python</a:t>
            </a:r>
            <a:r>
              <a:rPr lang="zh-CN" altLang="zh-CN" sz="28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中的内置函数</a:t>
            </a:r>
            <a:r>
              <a:rPr lang="en-US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range(n),</a:t>
            </a:r>
            <a:r>
              <a:rPr lang="zh-CN" altLang="zh-CN" sz="28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其中参数</a:t>
            </a:r>
            <a:r>
              <a:rPr lang="en-US" altLang="zh-CN" sz="28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n</a:t>
            </a:r>
            <a:r>
              <a:rPr lang="zh-CN" altLang="zh-CN" sz="28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代表：从</a:t>
            </a:r>
            <a:r>
              <a:rPr lang="en-US" altLang="zh-CN" sz="28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0</a:t>
            </a:r>
            <a:r>
              <a:rPr lang="zh-CN" altLang="zh-CN" sz="28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到</a:t>
            </a:r>
            <a:r>
              <a:rPr lang="en-US" altLang="zh-CN" sz="28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n-1</a:t>
            </a:r>
            <a:r>
              <a:rPr lang="zh-CN" altLang="zh-CN" sz="28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的一个序列</a:t>
            </a:r>
            <a:r>
              <a:rPr lang="en-US" altLang="zh-CN" sz="28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,</a:t>
            </a:r>
            <a:r>
              <a:rPr lang="zh-CN" altLang="zh-CN" sz="28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即长度为</a:t>
            </a:r>
            <a:r>
              <a:rPr lang="en-US" altLang="zh-CN" sz="28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n</a:t>
            </a:r>
            <a:r>
              <a:rPr lang="zh-CN" altLang="zh-CN" sz="28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的一个</a:t>
            </a:r>
            <a:r>
              <a:rPr lang="zh-CN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序列</a:t>
            </a:r>
            <a:r>
              <a:rPr lang="zh-CN" altLang="en-US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，但不包含</a:t>
            </a:r>
            <a:r>
              <a:rPr lang="en-US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n</a:t>
            </a:r>
            <a:r>
              <a:rPr lang="zh-CN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。</a:t>
            </a:r>
            <a:endParaRPr lang="en-US" altLang="zh-CN" sz="2800" kern="100" dirty="0" smtClean="0"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  <a:p>
            <a:pPr indent="304800"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也</a:t>
            </a:r>
            <a:r>
              <a:rPr lang="zh-CN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可以自定义</a:t>
            </a:r>
            <a:r>
              <a:rPr lang="zh-CN" altLang="en-US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所</a:t>
            </a:r>
            <a:r>
              <a:rPr lang="zh-CN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需要</a:t>
            </a:r>
            <a:r>
              <a:rPr lang="zh-CN" altLang="zh-CN" sz="28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的起始点和结束</a:t>
            </a:r>
            <a:r>
              <a:rPr lang="zh-CN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点</a:t>
            </a:r>
            <a:r>
              <a:rPr lang="zh-CN" altLang="en-US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。</a:t>
            </a:r>
            <a:endParaRPr lang="zh-CN" altLang="zh-CN" sz="2800" kern="100" dirty="0"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61764" y="2564904"/>
            <a:ext cx="1137726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048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800" kern="100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还</a:t>
            </a:r>
            <a:r>
              <a:rPr lang="zh-CN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可以定义步长</a:t>
            </a:r>
            <a:r>
              <a:rPr lang="zh-CN" altLang="en-US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值，即，</a:t>
            </a:r>
            <a:r>
              <a:rPr lang="en-US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range(</a:t>
            </a:r>
            <a:r>
              <a:rPr lang="zh-CN" altLang="en-US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初始，终值，步长值）。</a:t>
            </a:r>
            <a:endParaRPr lang="zh-CN" altLang="zh-CN" sz="2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-530324" y="3284984"/>
            <a:ext cx="1497652" cy="6376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04800">
              <a:lnSpc>
                <a:spcPct val="150000"/>
              </a:lnSpc>
            </a:pPr>
            <a:r>
              <a:rPr lang="zh-CN" altLang="zh-CN" sz="2800" kern="100" dirty="0" smtClean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【例】</a:t>
            </a:r>
            <a:endParaRPr lang="zh-CN" altLang="zh-CN" sz="2800" kern="100" dirty="0">
              <a:latin typeface="楷体" pitchFamily="49" charset="-122"/>
              <a:ea typeface="楷体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81844" y="3573016"/>
            <a:ext cx="9851334" cy="2576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圆角矩形标注 6"/>
          <p:cNvSpPr/>
          <p:nvPr/>
        </p:nvSpPr>
        <p:spPr>
          <a:xfrm>
            <a:off x="9622804" y="5229200"/>
            <a:ext cx="2304256" cy="1368152"/>
          </a:xfrm>
          <a:prstGeom prst="wedgeRoundRectCallout">
            <a:avLst>
              <a:gd name="adj1" fmla="val -127513"/>
              <a:gd name="adj2" fmla="val -2690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 smtClean="0"/>
              <a:t>list</a:t>
            </a:r>
            <a:r>
              <a:rPr lang="zh-CN" altLang="en-US" sz="2400" b="1" dirty="0" smtClean="0"/>
              <a:t>（）表示将序列转换为列表类型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xmlns="" val="120084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916832"/>
            <a:ext cx="11071516" cy="1143000"/>
          </a:xfrm>
        </p:spPr>
        <p:txBody>
          <a:bodyPr>
            <a:normAutofit fontScale="90000"/>
          </a:bodyPr>
          <a:lstStyle/>
          <a:p>
            <a:r>
              <a:rPr lang="zh-CN" altLang="en-US" sz="5400" dirty="0" smtClean="0">
                <a:solidFill>
                  <a:schemeClr val="tx1"/>
                </a:solidFill>
              </a:rPr>
              <a:t>趣味程序二：</a:t>
            </a:r>
            <a:r>
              <a:rPr lang="en-US" altLang="zh-CN" sz="5400" dirty="0" smtClean="0">
                <a:solidFill>
                  <a:schemeClr val="tx1"/>
                </a:solidFill>
              </a:rPr>
              <a:t/>
            </a:r>
            <a:br>
              <a:rPr lang="en-US" altLang="zh-CN" sz="5400" dirty="0" smtClean="0">
                <a:solidFill>
                  <a:schemeClr val="tx1"/>
                </a:solidFill>
              </a:rPr>
            </a:br>
            <a:r>
              <a:rPr lang="zh-CN" altLang="en-US" sz="5400" dirty="0" smtClean="0">
                <a:solidFill>
                  <a:schemeClr val="tx1"/>
                </a:solidFill>
              </a:rPr>
              <a:t>聊天小程序</a:t>
            </a:r>
            <a:r>
              <a:rPr lang="zh-CN" altLang="en-US" sz="5400" dirty="0" smtClean="0"/>
              <a:t/>
            </a:r>
            <a:br>
              <a:rPr lang="zh-CN" altLang="en-US" sz="5400" dirty="0" smtClean="0"/>
            </a:br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62164" y="720850"/>
            <a:ext cx="7974284" cy="6137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0" y="4725144"/>
            <a:ext cx="387798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同学们可以根据的喜好</a:t>
            </a:r>
            <a:endParaRPr lang="en-US" altLang="zh-CN" sz="2400" dirty="0" smtClean="0"/>
          </a:p>
          <a:p>
            <a:r>
              <a:rPr lang="zh-CN" altLang="en-US" sz="2400" dirty="0" smtClean="0"/>
              <a:t>继续扩展程序的聊天内容。</a:t>
            </a:r>
            <a:endParaRPr lang="zh-CN" altLang="en-US" sz="2400" dirty="0"/>
          </a:p>
        </p:txBody>
      </p:sp>
    </p:spTree>
  </p:cSld>
  <p:clrMapOvr>
    <a:masterClrMapping/>
  </p:clrMapOvr>
  <p:transition spd="med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93591" y="404664"/>
            <a:ext cx="9305477" cy="62198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216024" y="1628800"/>
            <a:ext cx="234999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/>
              <a:t>同学们可以根据的喜好</a:t>
            </a:r>
            <a:endParaRPr lang="en-US" altLang="zh-CN" sz="3200" dirty="0" smtClean="0"/>
          </a:p>
          <a:p>
            <a:r>
              <a:rPr lang="zh-CN" altLang="en-US" sz="3200" dirty="0" smtClean="0"/>
              <a:t>继续扩展程序的聊天内容。例如：</a:t>
            </a:r>
            <a:endParaRPr lang="zh-CN" altLang="en-US" sz="3200" dirty="0"/>
          </a:p>
        </p:txBody>
      </p:sp>
    </p:spTree>
  </p:cSld>
  <p:clrMapOvr>
    <a:masterClrMapping/>
  </p:clrMapOvr>
  <p:transition spd="med">
    <p:fad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流畅">
  <a:themeElements>
    <a:clrScheme name="活力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流畅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流畅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Continental_16x9">
      <a:dk1>
        <a:srgbClr val="545454"/>
      </a:dk1>
      <a:lt1>
        <a:sysClr val="window" lastClr="FFFFFF"/>
      </a:lt1>
      <a:dk2>
        <a:srgbClr val="000000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Continental_16x9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ontinental_16x9">
      <a:dk1>
        <a:srgbClr val="545454"/>
      </a:dk1>
      <a:lt1>
        <a:sysClr val="window" lastClr="FFFFFF"/>
      </a:lt1>
      <a:dk2>
        <a:srgbClr val="000000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Continental_16x9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DC0AAE90-47C3-40A1-8017-32A7017B6AB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0</TotalTime>
  <Words>3251</Words>
  <Application>Microsoft Office PowerPoint</Application>
  <PresentationFormat>自定义</PresentationFormat>
  <Paragraphs>311</Paragraphs>
  <Slides>47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47</vt:i4>
      </vt:variant>
    </vt:vector>
  </HeadingPairs>
  <TitlesOfParts>
    <vt:vector size="48" baseType="lpstr">
      <vt:lpstr>流畅</vt:lpstr>
      <vt:lpstr>一、Python基础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实例演示：</vt:lpstr>
      <vt:lpstr>幻灯片 12</vt:lpstr>
      <vt:lpstr>幻灯片 13</vt:lpstr>
      <vt:lpstr>幻灯片 14</vt:lpstr>
      <vt:lpstr>幻灯片 15</vt:lpstr>
      <vt:lpstr>幻灯片 16</vt:lpstr>
      <vt:lpstr>幻灯片 17</vt:lpstr>
      <vt:lpstr>幻灯片 18</vt:lpstr>
      <vt:lpstr>幻灯片 19</vt:lpstr>
      <vt:lpstr>幻灯片 20</vt:lpstr>
      <vt:lpstr>幻灯片 21</vt:lpstr>
      <vt:lpstr>幻灯片 22</vt:lpstr>
      <vt:lpstr>幻灯片 23</vt:lpstr>
      <vt:lpstr>数字类型</vt:lpstr>
      <vt:lpstr>幻灯片 25</vt:lpstr>
      <vt:lpstr>幻灯片 26</vt:lpstr>
      <vt:lpstr>幻灯片 27</vt:lpstr>
      <vt:lpstr>幻灯片 28</vt:lpstr>
      <vt:lpstr>幻灯片 29</vt:lpstr>
      <vt:lpstr>幻灯片 30</vt:lpstr>
      <vt:lpstr>幻灯片 31</vt:lpstr>
      <vt:lpstr>幻灯片 32</vt:lpstr>
      <vt:lpstr>幻灯片 33</vt:lpstr>
      <vt:lpstr>幻灯片 34</vt:lpstr>
      <vt:lpstr>幻灯片 35</vt:lpstr>
      <vt:lpstr>幻灯片 36</vt:lpstr>
      <vt:lpstr>幻灯片 37</vt:lpstr>
      <vt:lpstr>幻灯片 38</vt:lpstr>
      <vt:lpstr>幻灯片 39</vt:lpstr>
      <vt:lpstr>幻灯片 40</vt:lpstr>
      <vt:lpstr>幻灯片 41</vt:lpstr>
      <vt:lpstr>幻灯片 42</vt:lpstr>
      <vt:lpstr>幻灯片 43</vt:lpstr>
      <vt:lpstr>幻灯片 44</vt:lpstr>
      <vt:lpstr>幻灯片 45</vt:lpstr>
      <vt:lpstr>趣味程序二： 聊天小程序 </vt:lpstr>
      <vt:lpstr>幻灯片 47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2016-10-10T01:09:49Z</dcterms:created>
  <dcterms:modified xsi:type="dcterms:W3CDTF">2020-09-18T01:48:50Z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TC028048919991</vt:lpwstr>
  </property>
</Properties>
</file>